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28"/>
  </p:handoutMasterIdLst>
  <p:sldIdLst>
    <p:sldId id="501" r:id="rId5"/>
    <p:sldId id="259" r:id="rId7"/>
    <p:sldId id="394" r:id="rId8"/>
    <p:sldId id="1460" r:id="rId9"/>
    <p:sldId id="1760" r:id="rId10"/>
    <p:sldId id="1761" r:id="rId11"/>
    <p:sldId id="1762" r:id="rId12"/>
    <p:sldId id="1459" r:id="rId13"/>
    <p:sldId id="1763" r:id="rId14"/>
    <p:sldId id="1765" r:id="rId15"/>
    <p:sldId id="1766" r:id="rId16"/>
    <p:sldId id="1764" r:id="rId17"/>
    <p:sldId id="1461" r:id="rId18"/>
    <p:sldId id="1793" r:id="rId19"/>
    <p:sldId id="1794" r:id="rId20"/>
    <p:sldId id="1795" r:id="rId21"/>
    <p:sldId id="1796" r:id="rId22"/>
    <p:sldId id="1797" r:id="rId23"/>
    <p:sldId id="1800" r:id="rId24"/>
    <p:sldId id="1798" r:id="rId25"/>
    <p:sldId id="1799" r:id="rId26"/>
    <p:sldId id="1423" r:id="rId27"/>
  </p:sldIdLst>
  <p:sldSz cx="9144000" cy="6858000" type="screen4x3"/>
  <p:notesSz cx="6800850" cy="9872345"/>
  <p:custDataLst>
    <p:tags r:id="rId3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CC9900"/>
    <a:srgbClr val="FF99CC"/>
    <a:srgbClr val="16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08" autoAdjust="0"/>
  </p:normalViewPr>
  <p:slideViewPr>
    <p:cSldViewPr showGuides="1">
      <p:cViewPr varScale="1">
        <p:scale>
          <a:sx n="130" d="100"/>
          <a:sy n="130" d="100"/>
        </p:scale>
        <p:origin x="474" y="126"/>
      </p:cViewPr>
      <p:guideLst>
        <p:guide orient="horz" pos="2159"/>
        <p:guide pos="291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23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2241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r">
              <a:defRPr sz="1200" smtClean="0"/>
            </a:lvl1pPr>
          </a:lstStyle>
          <a:p>
            <a:pPr>
              <a:defRPr/>
            </a:pPr>
            <a:fld id="{EF111691-F249-49BF-AD13-77AC163C2E7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2241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D217722-F9DE-4589-BAF8-332D113C647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815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80" y="4688963"/>
            <a:ext cx="4987290" cy="44431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815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37847A5-3418-4168-BB03-40E320A0CA1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C12FDF-207D-4315-99CC-760ECF297C16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E933F3D-3132-4E55-B67E-D84038DB376F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5275" y="688975"/>
            <a:ext cx="6234113" cy="3508375"/>
          </a:xfrm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现在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已经达到物理极限，被</a:t>
            </a:r>
            <a:r>
              <a:rPr lang="en-US" altLang="zh-CN" dirty="0" err="1" smtClean="0"/>
              <a:t>4GHz</a:t>
            </a:r>
            <a:r>
              <a:rPr lang="zh-CN" altLang="en-US" dirty="0" smtClean="0"/>
              <a:t>所限制，于是开始通过增加</a:t>
            </a:r>
            <a:r>
              <a:rPr lang="en-US" altLang="zh-CN" dirty="0" smtClean="0"/>
              <a:t>CPU</a:t>
            </a:r>
            <a:r>
              <a:rPr lang="zh-CN" altLang="en-US" dirty="0" smtClean="0"/>
              <a:t>数量来提高计算机速度。</a:t>
            </a:r>
            <a:br>
              <a:rPr lang="zh-CN" altLang="en-US" dirty="0" smtClean="0"/>
            </a:br>
            <a:r>
              <a:rPr lang="zh-CN" altLang="en-US" dirty="0" smtClean="0"/>
              <a:t>对称多处理器（</a:t>
            </a:r>
            <a:r>
              <a:rPr lang="en-US" altLang="zh-CN" dirty="0" err="1" smtClean="0"/>
              <a:t>SMP</a:t>
            </a:r>
            <a:r>
              <a:rPr lang="zh-CN" altLang="en-US" dirty="0" smtClean="0"/>
              <a:t>）：</a:t>
            </a:r>
            <a:br>
              <a:rPr lang="zh-CN" altLang="en-US" dirty="0" smtClean="0"/>
            </a:br>
            <a:r>
              <a:rPr lang="zh-CN" altLang="en-US" dirty="0" smtClean="0"/>
              <a:t>每个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在系统中所处的地位和所发挥的功能是一样，是相互对称的。但在处理程序时，我们并不能把他们分成若干个不相干的子问题，所以，使得多处理器速度实际提高得并没有理论上那么高。当对于相互独立的问题，多处理器就能最大效能的发挥威力了（比如：大型数据库</a:t>
            </a:r>
            <a:r>
              <a:rPr lang="en-US" altLang="zh-CN" dirty="0" smtClean="0"/>
              <a:t>,</a:t>
            </a:r>
            <a:r>
              <a:rPr lang="zh-CN" altLang="en-US" dirty="0" smtClean="0"/>
              <a:t>网络服务等）。</a:t>
            </a:r>
            <a:endParaRPr lang="zh-CN" altLang="en-US" dirty="0" smtClean="0"/>
          </a:p>
          <a:p>
            <a:r>
              <a:rPr lang="zh-CN" altLang="en-US" dirty="0" smtClean="0"/>
              <a:t>多核处理器：</a:t>
            </a:r>
            <a:br>
              <a:rPr lang="zh-CN" altLang="en-US" dirty="0" smtClean="0"/>
            </a:br>
            <a:r>
              <a:rPr lang="zh-CN" altLang="en-US" dirty="0" smtClean="0"/>
              <a:t>其实际上是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SMP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的简化版，思想是将多个处理器合并在一起打包出售，它们之间共享比较昂贵的缓存部件，只保留了多个核心。在逻辑上看，它们和</a:t>
            </a:r>
            <a:r>
              <a:rPr lang="en-US" altLang="zh-CN" dirty="0" err="1" smtClean="0"/>
              <a:t>SMP</a:t>
            </a:r>
            <a:r>
              <a:rPr lang="zh-CN" altLang="en-US" dirty="0" smtClean="0"/>
              <a:t>完全相同。</a:t>
            </a:r>
            <a:endParaRPr lang="zh-CN" altLang="en-US" dirty="0" smtClean="0"/>
          </a:p>
          <a:p>
            <a:r>
              <a:rPr lang="zh-CN" altLang="en-US" dirty="0" smtClean="0"/>
              <a:t>对称处理器由于造价比较高昂，主要用在商用电脑上，对于个人电脑，主要是多核处理器。</a:t>
            </a:r>
            <a:endParaRPr lang="zh-CN" altLang="en-US" dirty="0" smtClean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41D5B-C7CF-41E9-8BFC-B81285AC3D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9342B-1D0C-4C87-A696-AE5BD3D6C0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71257-F651-4830-91FE-B8FD3A2DF0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1B0DD-5CA8-413B-9D98-C20793B9E8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EC62F-676E-4536-9A52-2309C69F88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6F8B4-B054-4685-9B5D-BD1CE4E33E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38BD6-CD08-4B18-A00E-213EF5559B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BF579-F828-4DD0-9748-1571BF19EE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C05E3-AD46-4E9C-B21F-7DEECDF53CB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C2D64-1FDD-46B2-AA0E-566EBA5F56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15900"/>
            <a:ext cx="2084387" cy="5803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15900"/>
            <a:ext cx="6102350" cy="5803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47193-5223-410B-8004-74950257FF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>
    <p:sndAc>
      <p:endSnd/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FD1BE-9A24-4ABB-8E66-560EA6A1DF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2C963-E0A7-42F7-8FAD-B21C46696F2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37D3D-CAAF-4017-B871-F905C63F368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A83EA-F16A-41B4-A35C-7CA23289B57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843DB-975B-4589-AE69-FB160CC0C24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C28B7-A46D-492B-B924-04F8242A502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2E4ED-E153-4BBF-9C40-4C1BA4B76FE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E5126-C2C7-4B90-8322-5292A2A408B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46550-8C4D-4F6D-A434-8579F080076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E6D23-AE9F-4212-9947-F857A2BFEF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0B9D0-2EDD-4D8B-9176-4274A3030CE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06450" y="1233488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12" y="277813"/>
            <a:ext cx="8579074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032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7775 w 4917"/>
                <a:gd name="T3" fmla="*/ 0 h 1000"/>
                <a:gd name="T4" fmla="*/ 8657 w 4917"/>
                <a:gd name="T5" fmla="*/ 881 h 1000"/>
                <a:gd name="T6" fmla="*/ 7777 w 4917"/>
                <a:gd name="T7" fmla="*/ 1761 h 1000"/>
                <a:gd name="T8" fmla="*/ 0 w 4917"/>
                <a:gd name="T9" fmla="*/ 1761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159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5316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8AE5B700-EE1E-4D63-B1C2-C88A146C7A2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115888"/>
            <a:ext cx="8686800" cy="6096000"/>
            <a:chOff x="0" y="96"/>
            <a:chExt cx="5472" cy="3840"/>
          </a:xfrm>
        </p:grpSpPr>
        <p:sp>
          <p:nvSpPr>
            <p:cNvPr id="2054" name="AutoShape 3"/>
            <p:cNvSpPr>
              <a:spLocks noChangeArrowheads="1"/>
            </p:cNvSpPr>
            <p:nvPr userDrawn="1"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055" name="AutoShape 4"/>
            <p:cNvSpPr>
              <a:spLocks noChangeArrowheads="1"/>
            </p:cNvSpPr>
            <p:nvPr userDrawn="1"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2261 w 7000"/>
                <a:gd name="T3" fmla="*/ 0 h 1000"/>
                <a:gd name="T4" fmla="*/ 2435 w 7000"/>
                <a:gd name="T5" fmla="*/ 174 h 1000"/>
                <a:gd name="T6" fmla="*/ 2262 w 7000"/>
                <a:gd name="T7" fmla="*/ 348 h 1000"/>
                <a:gd name="T8" fmla="*/ 0 w 7000"/>
                <a:gd name="T9" fmla="*/ 348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Line 5"/>
            <p:cNvSpPr>
              <a:spLocks noChangeShapeType="1"/>
            </p:cNvSpPr>
            <p:nvPr userDrawn="1"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2053" name="Picture 11" descr="index2008_0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6245225"/>
            <a:ext cx="18319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B08F23A-9504-4358-88BF-208BD38AFAE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tags" Target="../tags/tag3.xml"/><Relationship Id="rId4" Type="http://schemas.openxmlformats.org/officeDocument/2006/relationships/image" Target="../media/image4.png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6.png"/><Relationship Id="rId3" Type="http://schemas.openxmlformats.org/officeDocument/2006/relationships/tags" Target="../tags/tag5.xml"/><Relationship Id="rId2" Type="http://schemas.openxmlformats.org/officeDocument/2006/relationships/image" Target="../media/image5.png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4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9.png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image" Target="../media/image11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18.xml"/><Relationship Id="rId2" Type="http://schemas.openxmlformats.org/officeDocument/2006/relationships/image" Target="../media/image12.png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29.xml"/><Relationship Id="rId7" Type="http://schemas.openxmlformats.org/officeDocument/2006/relationships/image" Target="../media/image19.png"/><Relationship Id="rId6" Type="http://schemas.openxmlformats.org/officeDocument/2006/relationships/tags" Target="../tags/tag22.xml"/><Relationship Id="rId5" Type="http://schemas.openxmlformats.org/officeDocument/2006/relationships/image" Target="../media/image18.png"/><Relationship Id="rId4" Type="http://schemas.openxmlformats.org/officeDocument/2006/relationships/tags" Target="../tags/tag21.xml"/><Relationship Id="rId3" Type="http://schemas.openxmlformats.org/officeDocument/2006/relationships/image" Target="../media/image17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190" y="1557655"/>
            <a:ext cx="8912860" cy="791845"/>
          </a:xfrm>
        </p:spPr>
        <p:txBody>
          <a:bodyPr/>
          <a:lstStyle/>
          <a:p>
            <a:pPr eaLnBrk="1" hangingPunct="1"/>
            <a:r>
              <a:rPr lang="zh-CN" altLang="en-US"/>
              <a:t>内存</a:t>
            </a:r>
            <a:r>
              <a:rPr lang="zh-CN" altLang="en-US"/>
              <a:t>管理</a:t>
            </a:r>
            <a:br>
              <a:rPr lang="zh-CN" altLang="en-US"/>
            </a:br>
            <a:r>
              <a:rPr lang="zh-CN" altLang="en-US"/>
              <a:t> 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Memory Management</a:t>
            </a:r>
            <a:endParaRPr lang="zh-CN" altLang="en-US" sz="3600" b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5" name="图片 6" descr="HIT-Logo-AL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6165850"/>
            <a:ext cx="21605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授课</a:t>
            </a:r>
            <a:r>
              <a:rPr lang="zh-CN" altLang="en-US" dirty="0">
                <a:solidFill>
                  <a:schemeClr val="tx2"/>
                </a:solidFill>
              </a:rPr>
              <a:t>教师</a:t>
            </a:r>
            <a:r>
              <a:rPr lang="zh-CN" altLang="en-US">
                <a:solidFill>
                  <a:schemeClr val="tx2"/>
                </a:solidFill>
              </a:rPr>
              <a:t>：        </a:t>
            </a:r>
            <a:r>
              <a:rPr lang="zh-CN" altLang="en-US" dirty="0">
                <a:solidFill>
                  <a:schemeClr val="tx2"/>
                </a:solidFill>
              </a:rPr>
              <a:t>郑铁然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办公室地址： 哈工大综合楼6</a:t>
            </a:r>
            <a:r>
              <a:rPr lang="en-US" altLang="zh-CN" dirty="0">
                <a:solidFill>
                  <a:schemeClr val="tx2"/>
                </a:solidFill>
              </a:rPr>
              <a:t>03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办公室电话： </a:t>
            </a:r>
            <a:r>
              <a:rPr lang="en-US" altLang="zh-CN" dirty="0">
                <a:solidFill>
                  <a:schemeClr val="tx2"/>
                </a:solidFill>
              </a:rPr>
              <a:t>86417981-11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手机：            </a:t>
            </a:r>
            <a:r>
              <a:rPr lang="en-US" altLang="zh-CN" dirty="0">
                <a:solidFill>
                  <a:schemeClr val="tx2"/>
                </a:solidFill>
              </a:rPr>
              <a:t>13313655979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QQ</a:t>
            </a:r>
            <a:r>
              <a:rPr lang="zh-CN" altLang="en-US" dirty="0">
                <a:solidFill>
                  <a:schemeClr val="tx2"/>
                </a:solidFill>
              </a:rPr>
              <a:t>：              </a:t>
            </a:r>
            <a:r>
              <a:rPr lang="en-US" altLang="zh-CN" dirty="0">
                <a:solidFill>
                  <a:schemeClr val="tx2"/>
                </a:solidFill>
              </a:rPr>
              <a:t>2350562164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Email</a:t>
            </a:r>
            <a:r>
              <a:rPr lang="zh-CN" altLang="en-US" dirty="0">
                <a:solidFill>
                  <a:schemeClr val="tx2"/>
                </a:solidFill>
              </a:rPr>
              <a:t>：           </a:t>
            </a:r>
            <a:r>
              <a:rPr lang="en-US" altLang="zh-CN" dirty="0">
                <a:solidFill>
                  <a:schemeClr val="tx2"/>
                </a:solidFill>
              </a:rPr>
              <a:t>zhengtieran@hit.edu.cn</a:t>
            </a:r>
            <a:r>
              <a:rPr lang="zh-CN" altLang="en-US" dirty="0">
                <a:solidFill>
                  <a:schemeClr val="tx2"/>
                </a:solidFill>
              </a:rPr>
              <a:t>   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                          </a:t>
            </a:r>
            <a:r>
              <a:rPr lang="en-US" altLang="zh-CN" dirty="0">
                <a:solidFill>
                  <a:schemeClr val="tx2"/>
                </a:solidFill>
              </a:rPr>
              <a:t>                          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</a:rPr>
              <a:t>内存管理的需求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分区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分页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分段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内存管理的</a:t>
            </a:r>
            <a:r>
              <a:rPr lang="zh-CN" altLang="en-US" dirty="0">
                <a:latin typeface="+mn-ea"/>
                <a:ea typeface="+mn-ea"/>
                <a:sym typeface="+mn-ea"/>
              </a:rPr>
              <a:t>需求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需要将内存划分成不同部分进行管理：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操作系统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用户程序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需要分隔开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不同进程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需要分隔开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一个进程的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不同模块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需要分隔开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内存分区也是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内存保护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的必要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条件：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给不同分区（模块）提供不同的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保护级别</a:t>
            </a: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---- </a:t>
            </a:r>
            <a:r>
              <a:rPr lang="zh-CN" altLang="en-US" sz="21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如代码段不能写</a:t>
            </a: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不同分区具有不同的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访问授权</a:t>
            </a: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----- </a:t>
            </a:r>
            <a:r>
              <a:rPr lang="zh-CN" altLang="en-US" sz="21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如内核态和用户态</a:t>
            </a: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特定分区有其特定的限长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内存管理的</a:t>
            </a:r>
            <a:r>
              <a:rPr lang="zh-CN" altLang="en-US" dirty="0">
                <a:latin typeface="+mn-ea"/>
                <a:ea typeface="+mn-ea"/>
                <a:sym typeface="+mn-ea"/>
              </a:rPr>
              <a:t>需求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需要将进程换入或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换出内存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 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----------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重定位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待解决的问题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如何分区？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如何分配内存空间？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如何实现逻辑地址到物理地址的映射？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内存管理的需求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分区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分页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分段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分区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固定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分区：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大小相等的固定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分区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大小不等的固定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分区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存在的问题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:</a:t>
            </a:r>
            <a:endParaRPr lang="en-US" altLang="zh-CN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程序太大而无法装载到一个分区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中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1" dirty="0" smtClean="0">
                <a:solidFill>
                  <a:srgbClr val="0070C0"/>
                </a:solidFill>
                <a:sym typeface="+mn-ea"/>
              </a:rPr>
              <a:t>               -</a:t>
            </a:r>
            <a:r>
              <a:rPr lang="en-US" altLang="zh-CN" sz="2000" b="1" dirty="0" smtClean="0">
                <a:solidFill>
                  <a:srgbClr val="C00000"/>
                </a:solidFill>
                <a:sym typeface="+mn-ea"/>
              </a:rPr>
              <a:t>-</a:t>
            </a:r>
            <a:r>
              <a:rPr lang="zh-CN" altLang="en-US" sz="2000" b="1" dirty="0" smtClean="0">
                <a:solidFill>
                  <a:srgbClr val="C00000"/>
                </a:solidFill>
                <a:sym typeface="+mn-ea"/>
              </a:rPr>
              <a:t>部分装载</a:t>
            </a:r>
            <a:r>
              <a:rPr lang="en-US" altLang="zh-CN" sz="2000" b="1" dirty="0" smtClean="0">
                <a:solidFill>
                  <a:srgbClr val="C00000"/>
                </a:solidFill>
                <a:sym typeface="+mn-ea"/>
              </a:rPr>
              <a:t>+</a:t>
            </a:r>
            <a:r>
              <a:rPr lang="zh-CN" altLang="en-US" sz="2000" b="1" dirty="0" smtClean="0">
                <a:solidFill>
                  <a:srgbClr val="C00000"/>
                </a:solidFill>
                <a:sym typeface="+mn-ea"/>
              </a:rPr>
              <a:t>覆盖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cs typeface="+mn-ea"/>
                <a:sym typeface="+mn-ea"/>
              </a:rPr>
              <a:t>内部碎片（</a:t>
            </a:r>
            <a:r>
              <a:rPr lang="en-US" altLang="zh-CN" sz="2000" b="1">
                <a:solidFill>
                  <a:schemeClr val="folHlink"/>
                </a:solidFill>
                <a:latin typeface="Times New Roman" panose="02020603050405020304" pitchFamily="18" charset="0"/>
                <a:ea typeface="+mj-ea"/>
                <a:cs typeface="+mj-cs"/>
                <a:sym typeface="+mn-ea"/>
              </a:rPr>
              <a:t>Interal fragmentation</a:t>
            </a:r>
            <a:r>
              <a:rPr lang="zh-CN" altLang="en-US" sz="2000" b="1" dirty="0" smtClean="0">
                <a:solidFill>
                  <a:srgbClr val="0070C0"/>
                </a:solidFill>
                <a:cs typeface="+mn-ea"/>
                <a:sym typeface="+mn-ea"/>
              </a:rPr>
              <a:t>）</a:t>
            </a: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  <a:p>
            <a:pPr lvl="0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sz="2285" b="1" dirty="0" smtClean="0">
                <a:sym typeface="+mn-ea"/>
              </a:rPr>
              <a:t>放置算法</a:t>
            </a:r>
            <a:r>
              <a:rPr lang="en-US" altLang="zh-CN" sz="2285" b="1" dirty="0" smtClean="0">
                <a:sym typeface="+mn-ea"/>
              </a:rPr>
              <a:t>:</a:t>
            </a:r>
            <a:endParaRPr lang="en-US" altLang="zh-CN" sz="2285" b="1" dirty="0" smtClean="0">
              <a:sym typeface="+mn-ea"/>
            </a:endParaRPr>
          </a:p>
          <a:p>
            <a:pPr marL="0" lvl="0" indent="0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把进程放置在能够容纳它的最小分区中</a:t>
            </a:r>
            <a:endParaRPr lang="en-US" altLang="zh-CN" sz="2285" b="1" dirty="0" smtClean="0">
              <a:solidFill>
                <a:schemeClr val="tx1"/>
              </a:solidFill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defRPr/>
            </a:pP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508625" y="547370"/>
            <a:ext cx="1653540" cy="6201410"/>
            <a:chOff x="8675" y="297"/>
            <a:chExt cx="2604" cy="9766"/>
          </a:xfrm>
        </p:grpSpPr>
        <p:pic>
          <p:nvPicPr>
            <p:cNvPr id="2" name="图片 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8675" y="297"/>
              <a:ext cx="2605" cy="9153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9014" y="9483"/>
              <a:ext cx="1871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ctr"/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大小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相等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331075" y="558800"/>
            <a:ext cx="1619250" cy="6173470"/>
            <a:chOff x="11545" y="315"/>
            <a:chExt cx="2550" cy="9722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1545" y="315"/>
              <a:ext cx="2551" cy="9153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>
              <p:custDataLst>
                <p:tags r:id="rId5"/>
              </p:custDataLst>
            </p:nvPr>
          </p:nvSpPr>
          <p:spPr>
            <a:xfrm>
              <a:off x="11813" y="9457"/>
              <a:ext cx="1871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ctr"/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大小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不等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971550" y="5933440"/>
            <a:ext cx="386778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早期的</a:t>
            </a:r>
            <a:r>
              <a:rPr lang="en-US" altLang="zh-CN" sz="180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IBM</a:t>
            </a:r>
            <a:r>
              <a:rPr lang="zh-CN" altLang="en-US" sz="180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主机操作系统</a:t>
            </a:r>
            <a:r>
              <a:rPr lang="en-US" altLang="zh-CN" sz="180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OS/MFT</a:t>
            </a:r>
            <a:endParaRPr lang="en-US" altLang="zh-CN" sz="180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分区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052830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cs typeface="+mn-ea"/>
                <a:sym typeface="+mn-ea"/>
              </a:rPr>
              <a:t>动态分区</a:t>
            </a:r>
            <a:r>
              <a:rPr lang="zh-CN" altLang="en-US" sz="2400" b="1" dirty="0" smtClean="0">
                <a:solidFill>
                  <a:srgbClr val="0070C0"/>
                </a:solidFill>
                <a:cs typeface="+mn-ea"/>
                <a:sym typeface="+mn-ea"/>
              </a:rPr>
              <a:t>：分区的长度和数量可变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4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03350" y="1628775"/>
            <a:ext cx="6212205" cy="24688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95425" y="4193540"/>
            <a:ext cx="6189345" cy="244030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分区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存在的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问题：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solidFill>
                  <a:schemeClr val="tx1"/>
                </a:solidFill>
                <a:sym typeface="+mn-ea"/>
              </a:rPr>
              <a:t>外碎片</a:t>
            </a:r>
            <a:r>
              <a:rPr lang="zh-CN" altLang="en-US" sz="2000" b="1" dirty="0" smtClean="0">
                <a:solidFill>
                  <a:srgbClr val="0070C0"/>
                </a:solidFill>
                <a:cs typeface="+mn-ea"/>
                <a:sym typeface="+mn-ea"/>
              </a:rPr>
              <a:t>（</a:t>
            </a:r>
            <a:r>
              <a:rPr lang="en-US" altLang="zh-CN" sz="2000" b="1">
                <a:solidFill>
                  <a:schemeClr val="folHlink"/>
                </a:solidFill>
                <a:latin typeface="Times New Roman" panose="02020603050405020304" pitchFamily="18" charset="0"/>
                <a:ea typeface="+mj-ea"/>
                <a:cs typeface="+mj-cs"/>
                <a:sym typeface="+mn-ea"/>
              </a:rPr>
              <a:t>external fragmentation</a:t>
            </a:r>
            <a:r>
              <a:rPr lang="zh-CN" altLang="en-US" sz="2000" b="1" dirty="0" smtClean="0">
                <a:solidFill>
                  <a:srgbClr val="0070C0"/>
                </a:solidFill>
                <a:cs typeface="+mn-ea"/>
                <a:sym typeface="+mn-ea"/>
              </a:rPr>
              <a:t>）</a:t>
            </a: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000" b="1" dirty="0" smtClean="0">
                <a:solidFill>
                  <a:srgbClr val="0070C0"/>
                </a:solidFill>
                <a:sym typeface="+mn-ea"/>
              </a:rPr>
              <a:t>           ---需要不时的移动进程来使空闲空间连成一片</a:t>
            </a:r>
            <a:r>
              <a:rPr lang="en-US" altLang="zh-CN" sz="2000" b="1" dirty="0" smtClean="0">
                <a:solidFill>
                  <a:srgbClr val="C00000"/>
                </a:solidFill>
                <a:sym typeface="+mn-ea"/>
              </a:rPr>
              <a:t>（压缩）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放置算法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:</a:t>
            </a:r>
            <a:endParaRPr lang="en-US" altLang="zh-CN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solidFill>
                  <a:schemeClr val="tx1"/>
                </a:solidFill>
                <a:sym typeface="+mn-ea"/>
              </a:rPr>
              <a:t>最佳适配</a:t>
            </a:r>
            <a:endParaRPr lang="zh-CN" altLang="en-US" sz="2000" b="1" dirty="0" smtClean="0">
              <a:solidFill>
                <a:schemeClr val="tx1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000" b="1" dirty="0" smtClean="0">
                <a:solidFill>
                  <a:srgbClr val="0070C0"/>
                </a:solidFill>
                <a:sym typeface="+mn-ea"/>
              </a:rPr>
              <a:t>     --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选择与要求大小最接近的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块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solidFill>
                  <a:schemeClr val="tx1"/>
                </a:solidFill>
                <a:sym typeface="+mn-ea"/>
              </a:rPr>
              <a:t>首次适配</a:t>
            </a:r>
            <a:endParaRPr lang="zh-CN" altLang="en-US" sz="2000" b="1" dirty="0" smtClean="0">
              <a:solidFill>
                <a:schemeClr val="tx1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000" b="1" dirty="0" smtClean="0">
                <a:solidFill>
                  <a:srgbClr val="0070C0"/>
                </a:solidFill>
                <a:sym typeface="+mn-ea"/>
              </a:rPr>
              <a:t>    --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选择大小足够的第一个可用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块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solidFill>
                  <a:schemeClr val="tx1"/>
                </a:solidFill>
                <a:sym typeface="+mn-ea"/>
              </a:rPr>
              <a:t>下次适配</a:t>
            </a:r>
            <a:endParaRPr lang="zh-CN" altLang="en-US" sz="2000" b="1" dirty="0" smtClean="0">
              <a:solidFill>
                <a:schemeClr val="tx1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000" b="1" dirty="0" smtClean="0">
                <a:solidFill>
                  <a:schemeClr val="tx1"/>
                </a:solidFill>
                <a:sym typeface="+mn-ea"/>
              </a:rPr>
              <a:t>       </a:t>
            </a:r>
            <a:r>
              <a:rPr lang="en-US" altLang="zh-CN" sz="2000" b="1" dirty="0" smtClean="0">
                <a:solidFill>
                  <a:srgbClr val="0070C0"/>
                </a:solidFill>
                <a:sym typeface="+mn-ea"/>
              </a:rPr>
              <a:t>--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在上次放置位置后，选择大小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b="1" dirty="0" smtClean="0">
                <a:solidFill>
                  <a:srgbClr val="0070C0"/>
                </a:solidFill>
                <a:sym typeface="+mn-ea"/>
              </a:rPr>
              <a:t>        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足够的第一个可用块</a:t>
            </a:r>
            <a:endParaRPr lang="zh-CN" altLang="en-US" sz="2000" b="1" dirty="0" smtClean="0">
              <a:solidFill>
                <a:schemeClr val="tx1"/>
              </a:solidFill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defRPr/>
            </a:pP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860290" y="2780665"/>
            <a:ext cx="4033457" cy="3914784"/>
            <a:chOff x="7654" y="4379"/>
            <a:chExt cx="6352" cy="6165"/>
          </a:xfrm>
        </p:grpSpPr>
        <p:graphicFrame>
          <p:nvGraphicFramePr>
            <p:cNvPr id="9" name="对象 8"/>
            <p:cNvGraphicFramePr/>
            <p:nvPr>
              <p:custDataLst>
                <p:tags r:id="rId1"/>
              </p:custDataLst>
            </p:nvPr>
          </p:nvGraphicFramePr>
          <p:xfrm>
            <a:off x="8561" y="4379"/>
            <a:ext cx="5445" cy="6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2" imgW="5762625" imgH="6524625" progId="Paint.Picture">
                    <p:embed/>
                  </p:oleObj>
                </mc:Choice>
                <mc:Fallback>
                  <p:oleObj name="" r:id="rId2" imgW="5762625" imgH="6524625" progId="Paint.Picture">
                    <p:embed/>
                    <p:pic>
                      <p:nvPicPr>
                        <p:cNvPr id="0" name="图片 9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561" y="4379"/>
                          <a:ext cx="5445" cy="61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/>
            <p:cNvSpPr txBox="1"/>
            <p:nvPr/>
          </p:nvSpPr>
          <p:spPr>
            <a:xfrm>
              <a:off x="7654" y="5968"/>
              <a:ext cx="1782" cy="72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2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上次分配</a:t>
              </a:r>
              <a:r>
                <a:rPr lang="en-US" altLang="zh-CN" sz="12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14M</a:t>
              </a:r>
              <a:endParaRPr lang="en-US" altLang="zh-CN" sz="1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algn="l"/>
              <a:r>
                <a:rPr lang="zh-CN" altLang="en-US" sz="12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本次分配</a:t>
              </a:r>
              <a:r>
                <a:rPr lang="en-US" altLang="zh-CN" sz="12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16</a:t>
              </a:r>
              <a:r>
                <a:rPr lang="en-US" altLang="zh-CN" sz="12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M</a:t>
              </a:r>
              <a:endParaRPr lang="en-US" altLang="zh-CN" sz="1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11395" y="4925"/>
              <a:ext cx="1288" cy="434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2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首次</a:t>
              </a:r>
              <a:r>
                <a:rPr lang="zh-CN" altLang="en-US" sz="12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适配</a:t>
              </a:r>
              <a:endParaRPr lang="zh-CN" altLang="en-US" sz="1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11395" y="5803"/>
              <a:ext cx="1288" cy="434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2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最佳适配</a:t>
              </a:r>
              <a:endParaRPr lang="zh-CN" altLang="en-US" sz="1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6"/>
              </p:custDataLst>
            </p:nvPr>
          </p:nvSpPr>
          <p:spPr>
            <a:xfrm>
              <a:off x="11395" y="9167"/>
              <a:ext cx="1288" cy="434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2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下次适配</a:t>
              </a:r>
              <a:endParaRPr lang="zh-CN" altLang="en-US" sz="1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11055" y="7903"/>
              <a:ext cx="1288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0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已分配</a:t>
              </a:r>
              <a:endParaRPr lang="zh-CN" altLang="en-US" sz="1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8"/>
              </p:custDataLst>
            </p:nvPr>
          </p:nvSpPr>
          <p:spPr>
            <a:xfrm>
              <a:off x="11055" y="8306"/>
              <a:ext cx="1288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0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空闲</a:t>
              </a:r>
              <a:endParaRPr lang="zh-CN" altLang="en-US" sz="1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9"/>
              </p:custDataLst>
            </p:nvPr>
          </p:nvSpPr>
          <p:spPr>
            <a:xfrm>
              <a:off x="11055" y="8732"/>
              <a:ext cx="1288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0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新分配</a:t>
              </a:r>
              <a:endParaRPr lang="zh-CN" altLang="en-US" sz="1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分区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伙伴系统（</a:t>
            </a:r>
            <a:r>
              <a:rPr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  <a:ea typeface="+mj-ea"/>
                <a:cs typeface="+mj-cs"/>
                <a:sym typeface="+mn-ea"/>
              </a:rPr>
              <a:t>Buddy System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）：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chemeClr val="tx1"/>
                </a:solidFill>
                <a:sym typeface="+mn-ea"/>
              </a:rPr>
              <a:t>可用内存块大小为</a:t>
            </a: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100" b="1" i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2100" b="1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2100" b="1" i="1" spc="15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zh-CN" altLang="en-US" sz="2100" b="1" spc="15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sz="2100" b="1" i="1" spc="15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100" b="1" spc="15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sz="2100" b="1" i="1" spc="15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</a:t>
            </a:r>
            <a:endParaRPr lang="en-US" altLang="zh-CN" sz="2100" b="1" i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每个大小为</a:t>
            </a:r>
            <a:r>
              <a:rPr lang="en-US" altLang="zh-CN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100" b="1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的内存块记录在一个</a:t>
            </a:r>
            <a:r>
              <a:rPr lang="en-US" altLang="zh-CN" sz="21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列表</a:t>
            </a:r>
            <a:r>
              <a:rPr lang="zh-CN" alt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</a:t>
            </a:r>
            <a:endParaRPr lang="zh-CN" altLang="en-US" sz="2100" b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请求大小为</a:t>
            </a:r>
            <a:r>
              <a:rPr lang="en-US" altLang="zh-CN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的内存块，确定一个</a:t>
            </a:r>
            <a:r>
              <a:rPr lang="en-US" altLang="zh-CN" sz="2100" b="1" i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，有</a:t>
            </a:r>
            <a:r>
              <a:rPr lang="en-US" altLang="zh-CN" sz="2100" b="1" spc="15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100" b="1" i="1" spc="150" baseline="300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i-1</a:t>
            </a:r>
            <a:r>
              <a:rPr lang="zh-CN" altLang="en-US" sz="2100" b="1" spc="15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sz="2100" b="1" i="1" spc="15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zh-CN" sz="2100" b="1" spc="15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≤2</a:t>
            </a:r>
            <a:r>
              <a:rPr lang="en-US" altLang="zh-CN" sz="2100" b="1" i="1" spc="150" baseline="300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endParaRPr lang="en-US" altLang="zh-CN" sz="2100" b="1" i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采用递归的放置算法，</a:t>
            </a:r>
            <a:r>
              <a:rPr lang="zh-CN" altLang="en-US" sz="2100" b="1" spc="100" dirty="0" smtClean="0">
                <a:solidFill>
                  <a:srgbClr val="0070C0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找到内存块</a:t>
            </a:r>
            <a:endParaRPr lang="zh-CN" altLang="en-US" sz="2100" b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spc="100" dirty="0" smtClean="0">
                <a:solidFill>
                  <a:srgbClr val="0070C0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释放内存块</a:t>
            </a:r>
            <a:r>
              <a:rPr lang="zh-CN" altLang="en-US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时，合并</a:t>
            </a:r>
            <a:r>
              <a:rPr lang="en-US" altLang="zh-CN" sz="2100" b="1" i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列表中的伙伴，将其移入到</a:t>
            </a:r>
            <a:r>
              <a:rPr lang="en-US" altLang="zh-CN" sz="2100" b="1" i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+1</a:t>
            </a:r>
            <a:r>
              <a:rPr lang="zh-CN" altLang="en-US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列表</a:t>
            </a:r>
            <a:endParaRPr lang="en-US" altLang="zh-CN" sz="2100" b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100" b="1" i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defRPr/>
            </a:pP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3789045"/>
            <a:ext cx="4066540" cy="245173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分区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伙伴系统内存分配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过程：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defRPr/>
            </a:pP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8040" y="2060575"/>
            <a:ext cx="7594282" cy="429910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分区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释放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B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后的伙伴系统分配情况的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二叉树：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defRPr/>
            </a:pP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59840" y="2204085"/>
            <a:ext cx="7048500" cy="40157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分区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59205" y="1339215"/>
            <a:ext cx="6598920" cy="544068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内存管理的需求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分区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分页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分段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</a:t>
            </a:r>
            <a:r>
              <a:rPr lang="zh-CN" altLang="en-US" dirty="0">
                <a:latin typeface="+mn-ea"/>
                <a:ea typeface="+mn-ea"/>
                <a:sym typeface="+mn-ea"/>
              </a:rPr>
              <a:t>页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955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将内存划分成</a:t>
            </a: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大小固定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相等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且</a:t>
            </a: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较小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的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块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将进程划分成</a:t>
            </a: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同样大小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的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块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进程的块称为</a:t>
            </a: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页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page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内存中的块成为</a:t>
            </a: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页框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frame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ym typeface="+mn-ea"/>
              </a:rPr>
              <a:t>通过将进程的各页放置在可用的页框中，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一个进程可以占据</a:t>
            </a: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多个不连续的页框</a:t>
            </a:r>
            <a:endParaRPr lang="zh-CN" altLang="en-US" sz="2400" b="1" dirty="0" smtClean="0">
              <a:solidFill>
                <a:srgbClr val="0070C0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仅最后一页中存在</a:t>
            </a: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很小的内碎片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，</a:t>
            </a:r>
            <a:r>
              <a:rPr lang="zh-CN" altLang="en-US" sz="2400" b="1" dirty="0" smtClean="0">
                <a:solidFill>
                  <a:srgbClr val="0070C0"/>
                </a:solidFill>
                <a:sym typeface="+mn-ea"/>
              </a:rPr>
              <a:t>没有外碎片</a:t>
            </a:r>
            <a:endParaRPr lang="zh-CN" altLang="en-US" sz="2400" b="1" dirty="0" smtClean="0">
              <a:solidFill>
                <a:srgbClr val="0070C0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defRPr/>
            </a:pP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</a:t>
            </a:r>
            <a:r>
              <a:rPr lang="zh-CN" altLang="en-US" dirty="0">
                <a:latin typeface="+mn-ea"/>
                <a:ea typeface="+mn-ea"/>
                <a:sym typeface="+mn-ea"/>
              </a:rPr>
              <a:t>页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41400" y="434975"/>
            <a:ext cx="5837873" cy="6163628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7451725" y="2491105"/>
            <a:ext cx="1593850" cy="721360"/>
            <a:chOff x="11735" y="3923"/>
            <a:chExt cx="2510" cy="1136"/>
          </a:xfrm>
        </p:grpSpPr>
        <p:sp>
          <p:nvSpPr>
            <p:cNvPr id="4" name="圆角矩形标注 3"/>
            <p:cNvSpPr/>
            <p:nvPr/>
          </p:nvSpPr>
          <p:spPr>
            <a:xfrm>
              <a:off x="11737" y="3925"/>
              <a:ext cx="2508" cy="1134"/>
            </a:xfrm>
            <a:prstGeom prst="wedgeRoundRectCallout">
              <a:avLst>
                <a:gd name="adj1" fmla="val -88596"/>
                <a:gd name="adj2" fmla="val 235273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圆角矩形标注 4"/>
            <p:cNvSpPr/>
            <p:nvPr>
              <p:custDataLst>
                <p:tags r:id="rId3"/>
              </p:custDataLst>
            </p:nvPr>
          </p:nvSpPr>
          <p:spPr>
            <a:xfrm>
              <a:off x="11735" y="3923"/>
              <a:ext cx="2508" cy="1134"/>
            </a:xfrm>
            <a:prstGeom prst="wedgeRoundRectCallout">
              <a:avLst>
                <a:gd name="adj1" fmla="val -96331"/>
                <a:gd name="adj2" fmla="val 409347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0" lang="zh-CN" altLang="en-US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被放置在不</a:t>
              </a: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连续的页框中</a:t>
              </a: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圆角矩形 6"/>
          <p:cNvSpPr/>
          <p:nvPr/>
        </p:nvSpPr>
        <p:spPr>
          <a:xfrm>
            <a:off x="7319010" y="5300980"/>
            <a:ext cx="1573530" cy="93662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进程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的地址应该如何访问？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</a:t>
            </a:r>
            <a:r>
              <a:rPr lang="zh-CN" altLang="en-US" dirty="0">
                <a:latin typeface="+mn-ea"/>
                <a:ea typeface="+mn-ea"/>
                <a:sym typeface="+mn-ea"/>
              </a:rPr>
              <a:t>页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955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操作系统需要为每个进程维持一个页表（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page table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页表描述了该进程每页所对应的页框的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位置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defRPr/>
            </a:pP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2708275"/>
            <a:ext cx="1789271" cy="393477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375" y="2637155"/>
            <a:ext cx="4452938" cy="405622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</a:t>
            </a:r>
            <a:r>
              <a:rPr lang="zh-CN" altLang="en-US" dirty="0">
                <a:latin typeface="+mn-ea"/>
                <a:ea typeface="+mn-ea"/>
                <a:sym typeface="+mn-ea"/>
              </a:rPr>
              <a:t>页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65860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页和页框的大小必须是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的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幂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逻辑地址到物理地址的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映射：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defRPr/>
            </a:pP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" y="2633345"/>
            <a:ext cx="3446145" cy="3829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3282950"/>
            <a:ext cx="4443413" cy="25812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地址概念的</a:t>
            </a:r>
            <a:r>
              <a:rPr lang="zh-CN" altLang="en-US" dirty="0">
                <a:latin typeface="+mn-ea"/>
                <a:ea typeface="+mn-ea"/>
                <a:sym typeface="+mn-ea"/>
              </a:rPr>
              <a:t>讨论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地址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种类：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逻辑地址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100" b="1" dirty="0" smtClean="0">
                <a:solidFill>
                  <a:schemeClr val="tx1"/>
                </a:solidFill>
                <a:sym typeface="+mn-ea"/>
              </a:rPr>
              <a:t>      --- 每个</a:t>
            </a:r>
            <a:r>
              <a:rPr lang="en-US" altLang="zh-CN" sz="2100" b="1" dirty="0" smtClean="0">
                <a:solidFill>
                  <a:srgbClr val="0070C0"/>
                </a:solidFill>
                <a:sym typeface="+mn-ea"/>
              </a:rPr>
              <a:t>用户进程</a:t>
            </a:r>
            <a:r>
              <a:rPr lang="en-US" altLang="zh-CN" sz="2100" b="1" dirty="0" smtClean="0">
                <a:solidFill>
                  <a:schemeClr val="tx1"/>
                </a:solidFill>
                <a:sym typeface="+mn-ea"/>
              </a:rPr>
              <a:t>所看到的独立的地址空间，就是</a:t>
            </a:r>
            <a:r>
              <a:rPr lang="en-US" altLang="zh-CN" sz="2100" b="1" dirty="0" smtClean="0">
                <a:solidFill>
                  <a:srgbClr val="0070C0"/>
                </a:solidFill>
                <a:sym typeface="+mn-ea"/>
              </a:rPr>
              <a:t>逻辑地址空间</a:t>
            </a:r>
            <a:r>
              <a:rPr lang="en-US" altLang="zh-CN" sz="2100" b="1" dirty="0" smtClean="0">
                <a:solidFill>
                  <a:schemeClr val="tx1"/>
                </a:solidFill>
                <a:sym typeface="+mn-ea"/>
              </a:rPr>
              <a:t>。逻辑地址空间里的地址，就是</a:t>
            </a:r>
            <a:r>
              <a:rPr lang="en-US" altLang="zh-CN" sz="2100" b="1" dirty="0" smtClean="0">
                <a:solidFill>
                  <a:srgbClr val="0070C0"/>
                </a:solidFill>
                <a:sym typeface="+mn-ea"/>
              </a:rPr>
              <a:t>逻辑地址  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（段基址</a:t>
            </a:r>
            <a:r>
              <a:rPr lang="en-US" altLang="zh-CN" sz="2100" b="1" dirty="0" smtClean="0">
                <a:solidFill>
                  <a:srgbClr val="0070C0"/>
                </a:solidFill>
                <a:sym typeface="+mn-ea"/>
              </a:rPr>
              <a:t>+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段偏移量）</a:t>
            </a:r>
            <a:endParaRPr lang="en-US" altLang="zh-CN" sz="2100" b="1" dirty="0" smtClean="0">
              <a:solidFill>
                <a:srgbClr val="0070C0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100" b="1" dirty="0" smtClean="0">
                <a:solidFill>
                  <a:srgbClr val="0070C0"/>
                </a:solidFill>
                <a:sym typeface="+mn-ea"/>
              </a:rPr>
              <a:t>      </a:t>
            </a:r>
            <a:r>
              <a:rPr lang="en-US" altLang="zh-CN" sz="2100" b="1" dirty="0" smtClean="0">
                <a:solidFill>
                  <a:schemeClr val="tx1"/>
                </a:solidFill>
                <a:sym typeface="+mn-ea"/>
              </a:rPr>
              <a:t>--- </a:t>
            </a:r>
            <a:r>
              <a:rPr lang="zh-CN" altLang="en-US" sz="2100" b="1" dirty="0" smtClean="0">
                <a:solidFill>
                  <a:schemeClr val="tx1"/>
                </a:solidFill>
                <a:sym typeface="+mn-ea"/>
              </a:rPr>
              <a:t>对应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物理地址</a:t>
            </a:r>
            <a:endParaRPr lang="en-US" altLang="zh-CN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相对地址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 smtClean="0">
                <a:solidFill>
                  <a:schemeClr val="tx1"/>
                </a:solidFill>
                <a:sym typeface="+mn-ea"/>
              </a:rPr>
              <a:t>      ---相对地址是相对于进程当前部分(比如</a:t>
            </a:r>
            <a:r>
              <a:rPr lang="zh-CN" altLang="en-US" sz="2100" b="1" dirty="0" smtClean="0">
                <a:solidFill>
                  <a:schemeClr val="tx1"/>
                </a:solidFill>
                <a:sym typeface="+mn-ea"/>
              </a:rPr>
              <a:t>程序起始位置</a:t>
            </a:r>
            <a:r>
              <a:rPr lang="en-US" altLang="zh-CN" sz="2100" b="1" dirty="0" smtClean="0">
                <a:solidFill>
                  <a:schemeClr val="tx1"/>
                </a:solidFill>
                <a:sym typeface="+mn-ea"/>
              </a:rPr>
              <a:t>)的地址</a:t>
            </a:r>
            <a:endParaRPr lang="en-US" altLang="zh-CN" sz="2100" b="1" dirty="0" smtClean="0">
              <a:solidFill>
                <a:schemeClr val="tx1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 smtClean="0">
                <a:solidFill>
                  <a:schemeClr val="tx1"/>
                </a:solidFill>
                <a:sym typeface="+mn-ea"/>
              </a:rPr>
              <a:t>      ---</a:t>
            </a:r>
            <a:r>
              <a:rPr lang="zh-CN" altLang="en-US" sz="2100" b="1" dirty="0" smtClean="0">
                <a:solidFill>
                  <a:schemeClr val="tx1"/>
                </a:solidFill>
                <a:sym typeface="+mn-ea"/>
              </a:rPr>
              <a:t>对应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绝对地址</a:t>
            </a:r>
            <a:endParaRPr lang="en-US" altLang="zh-CN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spc="100" dirty="0" smtClean="0">
                <a:solidFill>
                  <a:srgbClr val="0070C0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虚拟</a:t>
            </a:r>
            <a:r>
              <a:rPr lang="en-US" altLang="zh-CN" sz="2100" b="1" spc="100" dirty="0" smtClean="0">
                <a:solidFill>
                  <a:srgbClr val="0070C0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地址</a:t>
            </a:r>
            <a:endParaRPr lang="zh-CN" altLang="en-US" sz="2100" b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100" b="1" spc="100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</a:t>
            </a:r>
            <a:r>
              <a:rPr lang="en-US" altLang="zh-CN" sz="2100" b="1" dirty="0" smtClean="0">
                <a:sym typeface="+mn-ea"/>
              </a:rPr>
              <a:t>---</a:t>
            </a:r>
            <a:r>
              <a:rPr lang="zh-CN" altLang="en-US" sz="2100" b="1" dirty="0" smtClean="0">
                <a:sym typeface="+mn-ea"/>
              </a:rPr>
              <a:t>操作系统为进程分配的连续地址空间（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线性地址</a:t>
            </a:r>
            <a:r>
              <a:rPr lang="zh-CN" altLang="en-US" sz="2100" b="1" dirty="0" smtClean="0">
                <a:sym typeface="+mn-ea"/>
              </a:rPr>
              <a:t>），通过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分页机制</a:t>
            </a:r>
            <a:r>
              <a:rPr lang="zh-CN" altLang="en-US" sz="2100" b="1" dirty="0" smtClean="0">
                <a:sym typeface="+mn-ea"/>
              </a:rPr>
              <a:t>直接映射到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物理地址</a:t>
            </a:r>
            <a:r>
              <a:rPr lang="zh-CN" altLang="en-US" sz="2100" b="1" dirty="0" smtClean="0">
                <a:sym typeface="+mn-ea"/>
              </a:rPr>
              <a:t>（可能是非线性</a:t>
            </a:r>
            <a:r>
              <a:rPr lang="zh-CN" altLang="en-US" sz="2100" b="1" dirty="0" smtClean="0">
                <a:sym typeface="+mn-ea"/>
              </a:rPr>
              <a:t>的）</a:t>
            </a:r>
            <a:endParaRPr lang="en-US" altLang="zh-CN" sz="2100" b="1" i="1" spc="100" dirty="0" smtClean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defRPr/>
            </a:pP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内存管理的需求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分区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分页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分段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</a:t>
            </a:r>
            <a:r>
              <a:rPr lang="zh-CN" altLang="en-US" dirty="0">
                <a:latin typeface="+mn-ea"/>
                <a:ea typeface="+mn-ea"/>
                <a:sym typeface="+mn-ea"/>
              </a:rPr>
              <a:t>段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955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类似于动态分区，一个程序可以占据多个段，且不要求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连续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没有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内碎片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由于进程可以被分成多个小块，外碎片也会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较小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分页对程序员是透明的，但分段通常是可见的，是组织程序和数据的一种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手段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需要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段表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defRPr/>
            </a:pPr>
            <a:endParaRPr lang="zh-CN" altLang="en-US" sz="20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分段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00245" y="2420620"/>
            <a:ext cx="4510284" cy="2524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3850" y="1769110"/>
            <a:ext cx="1760220" cy="33375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979930" y="1624965"/>
            <a:ext cx="1743075" cy="3486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PP_MARK_KEY" val="5825ba92-c481-4c68-9cac-59e3dc06af8c"/>
  <p:tag name="COMMONDATA" val="eyJoZGlkIjoiMDhlNTM2MTA4NWNjODIxZmM5YzM4ZTZhYzBmZTk2ZjQifQ=="/>
</p:tagLst>
</file>

<file path=ppt/theme/theme1.xml><?xml version="1.0" encoding="utf-8"?>
<a:theme xmlns:a="http://schemas.openxmlformats.org/drawingml/2006/main" name="1_Radial">
  <a:themeElements>
    <a:clrScheme name="1_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1_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1623</Words>
  <Application>WPS 演示</Application>
  <PresentationFormat>全屏显示(4:3)</PresentationFormat>
  <Paragraphs>202</Paragraphs>
  <Slides>22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宋体</vt:lpstr>
      <vt:lpstr>Wingdings</vt:lpstr>
      <vt:lpstr>Times New Roman</vt:lpstr>
      <vt:lpstr>Arial Black</vt:lpstr>
      <vt:lpstr>Arial Narrow</vt:lpstr>
      <vt:lpstr>Wingdings</vt:lpstr>
      <vt:lpstr>微软雅黑</vt:lpstr>
      <vt:lpstr>Arial Unicode MS</vt:lpstr>
      <vt:lpstr>MS PGothic</vt:lpstr>
      <vt:lpstr>1_Radial</vt:lpstr>
      <vt:lpstr>Radial</vt:lpstr>
      <vt:lpstr>默认设计模板</vt:lpstr>
      <vt:lpstr>Paint.Picture</vt:lpstr>
      <vt:lpstr>内存管理  Memory Management</vt:lpstr>
      <vt:lpstr>PowerPoint 演示文稿</vt:lpstr>
      <vt:lpstr>内容</vt:lpstr>
      <vt:lpstr>内存管理的需求</vt:lpstr>
      <vt:lpstr>内存管理的需求</vt:lpstr>
      <vt:lpstr>内容</vt:lpstr>
      <vt:lpstr>分区</vt:lpstr>
      <vt:lpstr>分区</vt:lpstr>
      <vt:lpstr>分区</vt:lpstr>
      <vt:lpstr>分区</vt:lpstr>
      <vt:lpstr>分区</vt:lpstr>
      <vt:lpstr>分区</vt:lpstr>
      <vt:lpstr>分区</vt:lpstr>
      <vt:lpstr>内容</vt:lpstr>
      <vt:lpstr>分页</vt:lpstr>
      <vt:lpstr>分页</vt:lpstr>
      <vt:lpstr>分页</vt:lpstr>
      <vt:lpstr>分页</vt:lpstr>
      <vt:lpstr>重定位</vt:lpstr>
      <vt:lpstr>内容</vt:lpstr>
      <vt:lpstr>分段</vt:lpstr>
      <vt:lpstr>PowerPoint 演示文稿</vt:lpstr>
    </vt:vector>
  </TitlesOfParts>
  <Company>雨薇在线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语音信号处理</dc:title>
  <dc:creator>雨薇</dc:creator>
  <cp:lastModifiedBy>郑铁然</cp:lastModifiedBy>
  <cp:revision>232</cp:revision>
  <cp:lastPrinted>2019-07-15T08:06:00Z</cp:lastPrinted>
  <dcterms:created xsi:type="dcterms:W3CDTF">2004-08-18T11:10:00Z</dcterms:created>
  <dcterms:modified xsi:type="dcterms:W3CDTF">2025-12-02T02:04:26Z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A97F2B31A6224D3D9C7C0DF865028163_13</vt:lpwstr>
  </property>
  <property fmtid="{D5CDD505-2E9C-101B-9397-08002B2CF9AE}" pid="3" name="KSOProductBuildVer">
    <vt:lpwstr>2052-12.1.0.23542</vt:lpwstr>
  </property>
</Properties>
</file>