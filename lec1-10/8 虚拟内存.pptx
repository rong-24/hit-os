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6"/>
  </p:notesMasterIdLst>
  <p:handoutMasterIdLst>
    <p:handoutMasterId r:id="rId43"/>
  </p:handoutMasterIdLst>
  <p:sldIdLst>
    <p:sldId id="501" r:id="rId5"/>
    <p:sldId id="259" r:id="rId7"/>
    <p:sldId id="394" r:id="rId8"/>
    <p:sldId id="1460" r:id="rId9"/>
    <p:sldId id="1871" r:id="rId10"/>
    <p:sldId id="1801" r:id="rId11"/>
    <p:sldId id="1802" r:id="rId12"/>
    <p:sldId id="1760" r:id="rId13"/>
    <p:sldId id="1803" r:id="rId14"/>
    <p:sldId id="1804" r:id="rId15"/>
    <p:sldId id="1805" r:id="rId16"/>
    <p:sldId id="1807" r:id="rId17"/>
    <p:sldId id="1825" r:id="rId18"/>
    <p:sldId id="1826" r:id="rId19"/>
    <p:sldId id="1829" r:id="rId20"/>
    <p:sldId id="1761" r:id="rId21"/>
    <p:sldId id="1827" r:id="rId22"/>
    <p:sldId id="1828" r:id="rId23"/>
    <p:sldId id="1852" r:id="rId24"/>
    <p:sldId id="1831" r:id="rId25"/>
    <p:sldId id="1853" r:id="rId26"/>
    <p:sldId id="1866" r:id="rId27"/>
    <p:sldId id="1867" r:id="rId28"/>
    <p:sldId id="1879" r:id="rId29"/>
    <p:sldId id="1832" r:id="rId30"/>
    <p:sldId id="1762" r:id="rId31"/>
    <p:sldId id="1861" r:id="rId32"/>
    <p:sldId id="1854" r:id="rId33"/>
    <p:sldId id="1880" r:id="rId34"/>
    <p:sldId id="1862" r:id="rId35"/>
    <p:sldId id="1865" r:id="rId36"/>
    <p:sldId id="1863" r:id="rId37"/>
    <p:sldId id="1874" r:id="rId38"/>
    <p:sldId id="1869" r:id="rId39"/>
    <p:sldId id="1875" r:id="rId40"/>
    <p:sldId id="1878" r:id="rId41"/>
    <p:sldId id="1876" r:id="rId42"/>
  </p:sldIdLst>
  <p:sldSz cx="9144000" cy="6858000" type="screen4x3"/>
  <p:notesSz cx="6800850" cy="9872345"/>
  <p:custDataLst>
    <p:tags r:id="rId47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36"/>
    <a:srgbClr val="E3EAEF"/>
    <a:srgbClr val="006C30"/>
    <a:srgbClr val="996633"/>
    <a:srgbClr val="CC9900"/>
    <a:srgbClr val="FF99CC"/>
    <a:srgbClr val="161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4608" autoAdjust="0"/>
  </p:normalViewPr>
  <p:slideViewPr>
    <p:cSldViewPr showGuides="1">
      <p:cViewPr varScale="1">
        <p:scale>
          <a:sx n="130" d="100"/>
          <a:sy n="130" d="100"/>
        </p:scale>
        <p:origin x="474" y="126"/>
      </p:cViewPr>
      <p:guideLst>
        <p:guide orient="horz" pos="2160"/>
        <p:guide pos="291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7" Type="http://schemas.openxmlformats.org/officeDocument/2006/relationships/tags" Target="tags/tag4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handoutMaster" Target="handoutMasters/handoutMaster1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3.xml"/><Relationship Id="rId1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2241" y="1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/>
          <a:lstStyle>
            <a:lvl1pPr algn="r">
              <a:defRPr sz="1200" smtClean="0"/>
            </a:lvl1pPr>
          </a:lstStyle>
          <a:p>
            <a:pPr>
              <a:defRPr/>
            </a:pPr>
            <a:fld id="{EF111691-F249-49BF-AD13-77AC163C2E72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7927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2241" y="9377927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ED217722-F9DE-4589-BAF8-332D113C6475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7035" cy="4931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3815" y="0"/>
            <a:ext cx="2947035" cy="4931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1863" y="739775"/>
            <a:ext cx="4937125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780" y="4688963"/>
            <a:ext cx="4987290" cy="444317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73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9504"/>
            <a:ext cx="2947035" cy="493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815" y="9379504"/>
            <a:ext cx="2947035" cy="493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37847A5-3418-4168-BB03-40E320A0CA1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7C12FDF-207D-4315-99CC-760ECF297C16}" type="slidenum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E933F3D-3132-4E55-B67E-D84038DB376F}" type="slidenum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241D5B-C7CF-41E9-8BFC-B81285AC3D5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89342B-1D0C-4C87-A696-AE5BD3D6C09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D71257-F651-4830-91FE-B8FD3A2DF0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31B0DD-5CA8-413B-9D98-C20793B9E8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EC62F-676E-4536-9A52-2309C69F88B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A6F8B4-B054-4685-9B5D-BD1CE4E33E8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38BD6-CD08-4B18-A00E-213EF5559B3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0BF579-F828-4DD0-9748-1571BF19EE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C05E3-AD46-4E9C-B21F-7DEECDF53CB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6C2D64-1FDD-46B2-AA0E-566EBA5F561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0013" y="215900"/>
            <a:ext cx="2084387" cy="58039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263" y="215900"/>
            <a:ext cx="6102350" cy="58039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947193-5223-410B-8004-74950257FFB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>
    <p:sndAc>
      <p:endSnd/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0013" y="228600"/>
            <a:ext cx="2084387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0235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CFD1BE-9A24-4ABB-8E66-560EA6A1DFC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2C963-E0A7-42F7-8FAD-B21C46696F2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437D3D-CAAF-4017-B871-F905C63F368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DA83EA-F16A-41B4-A35C-7CA23289B57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843DB-975B-4589-AE69-FB160CC0C24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9C28B7-A46D-492B-B924-04F8242A502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92E4ED-E153-4BBF-9C40-4C1BA4B76FE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5E5126-C2C7-4B90-8322-5292A2A408B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946550-8C4D-4F6D-A434-8579F080076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E6D23-AE9F-4212-9947-F857A2BFEF8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A0B9D0-2EDD-4D8B-9176-4274A3030CE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06450" y="1233488"/>
            <a:ext cx="8229600" cy="4530725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12" y="277813"/>
            <a:ext cx="8579074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0" y="927100"/>
            <a:ext cx="8991600" cy="4495800"/>
            <a:chOff x="0" y="584"/>
            <a:chExt cx="5664" cy="2832"/>
          </a:xfrm>
        </p:grpSpPr>
        <p:sp>
          <p:nvSpPr>
            <p:cNvPr id="1032" name="AutoShape 3"/>
            <p:cNvSpPr>
              <a:spLocks noChangeArrowheads="1"/>
            </p:cNvSpPr>
            <p:nvPr userDrawn="1"/>
          </p:nvSpPr>
          <p:spPr bwMode="auto">
            <a:xfrm>
              <a:off x="432" y="1304"/>
              <a:ext cx="4656" cy="2112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4"/>
            <p:cNvSpPr>
              <a:spLocks noChangeArrowheads="1"/>
            </p:cNvSpPr>
            <p:nvPr userDrawn="1"/>
          </p:nvSpPr>
          <p:spPr bwMode="blackWhite">
            <a:xfrm>
              <a:off x="144" y="584"/>
              <a:ext cx="4512" cy="62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AutoShape 5"/>
            <p:cNvSpPr>
              <a:spLocks noChangeArrowheads="1"/>
            </p:cNvSpPr>
            <p:nvPr userDrawn="1"/>
          </p:nvSpPr>
          <p:spPr bwMode="blackWhite">
            <a:xfrm>
              <a:off x="0" y="872"/>
              <a:ext cx="5664" cy="1152"/>
            </a:xfrm>
            <a:custGeom>
              <a:avLst/>
              <a:gdLst>
                <a:gd name="T0" fmla="*/ 0 w 4917"/>
                <a:gd name="T1" fmla="*/ 0 h 1000"/>
                <a:gd name="T2" fmla="*/ 7775 w 4917"/>
                <a:gd name="T3" fmla="*/ 0 h 1000"/>
                <a:gd name="T4" fmla="*/ 8657 w 4917"/>
                <a:gd name="T5" fmla="*/ 881 h 1000"/>
                <a:gd name="T6" fmla="*/ 7777 w 4917"/>
                <a:gd name="T7" fmla="*/ 1761 h 1000"/>
                <a:gd name="T8" fmla="*/ 0 w 4917"/>
                <a:gd name="T9" fmla="*/ 1761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7"/>
                <a:gd name="T16" fmla="*/ 0 h 1000"/>
                <a:gd name="T17" fmla="*/ 2459 w 4917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" name="Line 6"/>
            <p:cNvSpPr>
              <a:spLocks noChangeShapeType="1"/>
            </p:cNvSpPr>
            <p:nvPr userDrawn="1"/>
          </p:nvSpPr>
          <p:spPr bwMode="auto">
            <a:xfrm>
              <a:off x="0" y="1928"/>
              <a:ext cx="5232" cy="0"/>
            </a:xfrm>
            <a:prstGeom prst="line">
              <a:avLst/>
            </a:prstGeom>
            <a:noFill/>
            <a:ln w="508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15900"/>
            <a:ext cx="80152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71488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53163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latin typeface="+mn-lt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1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1488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8AE5B700-EE1E-4D63-B1C2-C88A146C7A2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>
    <p:sndAc>
      <p:endSnd/>
    </p:sndAc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 b="1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800" b="1">
          <a:solidFill>
            <a:srgbClr val="0000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2400" b="1">
          <a:solidFill>
            <a:srgbClr val="0000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 bwMode="auto">
          <a:xfrm>
            <a:off x="0" y="115888"/>
            <a:ext cx="8686800" cy="6096000"/>
            <a:chOff x="0" y="96"/>
            <a:chExt cx="5472" cy="3840"/>
          </a:xfrm>
        </p:grpSpPr>
        <p:sp>
          <p:nvSpPr>
            <p:cNvPr id="2054" name="AutoShape 3"/>
            <p:cNvSpPr>
              <a:spLocks noChangeArrowheads="1"/>
            </p:cNvSpPr>
            <p:nvPr userDrawn="1"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055" name="AutoShape 4"/>
            <p:cNvSpPr>
              <a:spLocks noChangeArrowheads="1"/>
            </p:cNvSpPr>
            <p:nvPr userDrawn="1"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T0" fmla="*/ 0 w 7000"/>
                <a:gd name="T1" fmla="*/ 0 h 1000"/>
                <a:gd name="T2" fmla="*/ 2261 w 7000"/>
                <a:gd name="T3" fmla="*/ 0 h 1000"/>
                <a:gd name="T4" fmla="*/ 2435 w 7000"/>
                <a:gd name="T5" fmla="*/ 174 h 1000"/>
                <a:gd name="T6" fmla="*/ 2262 w 7000"/>
                <a:gd name="T7" fmla="*/ 348 h 1000"/>
                <a:gd name="T8" fmla="*/ 0 w 7000"/>
                <a:gd name="T9" fmla="*/ 348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00"/>
                <a:gd name="T16" fmla="*/ 0 h 1000"/>
                <a:gd name="T17" fmla="*/ 3500 w 7000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" name="Line 5"/>
            <p:cNvSpPr>
              <a:spLocks noChangeShapeType="1"/>
            </p:cNvSpPr>
            <p:nvPr userDrawn="1"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1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28600"/>
            <a:ext cx="80152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2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2053" name="Picture 11" descr="index2008_0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150" y="6245225"/>
            <a:ext cx="183197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 advClick="0">
    <p:sndAc>
      <p:endSnd/>
    </p:sndAc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 b="1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800" b="1">
          <a:solidFill>
            <a:srgbClr val="0000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2400" b="1">
          <a:solidFill>
            <a:srgbClr val="0000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B08F23A-9504-4358-88BF-208BD38AFAEB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4.png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6.png"/><Relationship Id="rId2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3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4.bin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5.bin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6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6.png"/><Relationship Id="rId1" Type="http://schemas.openxmlformats.org/officeDocument/2006/relationships/tags" Target="../tags/tag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7.wmf"/><Relationship Id="rId1" Type="http://schemas.openxmlformats.org/officeDocument/2006/relationships/oleObject" Target="../embeddings/oleObject7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8.png"/><Relationship Id="rId1" Type="http://schemas.openxmlformats.org/officeDocument/2006/relationships/tags" Target="../tags/tag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190" y="1557655"/>
            <a:ext cx="8912860" cy="791845"/>
          </a:xfrm>
        </p:spPr>
        <p:txBody>
          <a:bodyPr/>
          <a:lstStyle/>
          <a:p>
            <a:pPr eaLnBrk="1" hangingPunct="1"/>
            <a:r>
              <a:rPr lang="zh-CN" altLang="en-US"/>
              <a:t>虚拟内存</a:t>
            </a:r>
            <a:br>
              <a:rPr lang="zh-CN" altLang="en-US"/>
            </a:br>
            <a:r>
              <a:rPr lang="zh-CN" altLang="en-US"/>
              <a:t> </a:t>
            </a:r>
            <a:r>
              <a:rPr lang="en-US" altLang="zh-CN" sz="3600" b="1">
                <a:solidFill>
                  <a:schemeClr val="folHlink"/>
                </a:solidFill>
                <a:latin typeface="Times New Roman" panose="02020603050405020304" pitchFamily="18" charset="0"/>
              </a:rPr>
              <a:t>Virtual Memory</a:t>
            </a:r>
            <a:endParaRPr lang="zh-CN" altLang="en-US" sz="3600" b="1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075" name="图片 6" descr="HIT-Logo-AL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463" y="6165850"/>
            <a:ext cx="21605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2"/>
                </a:solidFill>
              </a:rPr>
              <a:t>授课</a:t>
            </a:r>
            <a:r>
              <a:rPr lang="zh-CN" altLang="en-US" dirty="0">
                <a:solidFill>
                  <a:schemeClr val="tx2"/>
                </a:solidFill>
              </a:rPr>
              <a:t>教师</a:t>
            </a:r>
            <a:r>
              <a:rPr lang="zh-CN" altLang="en-US">
                <a:solidFill>
                  <a:schemeClr val="tx2"/>
                </a:solidFill>
              </a:rPr>
              <a:t>：        </a:t>
            </a:r>
            <a:r>
              <a:rPr lang="zh-CN" altLang="en-US" dirty="0">
                <a:solidFill>
                  <a:schemeClr val="tx2"/>
                </a:solidFill>
              </a:rPr>
              <a:t>郑铁然</a:t>
            </a:r>
            <a:endParaRPr lang="zh-CN" altLang="en-US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2"/>
                </a:solidFill>
              </a:rPr>
              <a:t>办公室地址： 哈工大综合楼6</a:t>
            </a:r>
            <a:r>
              <a:rPr lang="en-US" altLang="zh-CN" dirty="0">
                <a:solidFill>
                  <a:schemeClr val="tx2"/>
                </a:solidFill>
              </a:rPr>
              <a:t>03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2"/>
                </a:solidFill>
              </a:rPr>
              <a:t>办公室电话： </a:t>
            </a:r>
            <a:r>
              <a:rPr lang="en-US" altLang="zh-CN" dirty="0">
                <a:solidFill>
                  <a:schemeClr val="tx2"/>
                </a:solidFill>
              </a:rPr>
              <a:t>86417981-11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2"/>
                </a:solidFill>
              </a:rPr>
              <a:t>手机：            </a:t>
            </a:r>
            <a:r>
              <a:rPr lang="en-US" altLang="zh-CN" dirty="0">
                <a:solidFill>
                  <a:schemeClr val="tx2"/>
                </a:solidFill>
              </a:rPr>
              <a:t>13313655979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2"/>
                </a:solidFill>
              </a:rPr>
              <a:t>QQ</a:t>
            </a:r>
            <a:r>
              <a:rPr lang="zh-CN" altLang="en-US" dirty="0">
                <a:solidFill>
                  <a:schemeClr val="tx2"/>
                </a:solidFill>
              </a:rPr>
              <a:t>：              </a:t>
            </a:r>
            <a:r>
              <a:rPr lang="en-US" altLang="zh-CN" dirty="0">
                <a:solidFill>
                  <a:schemeClr val="tx2"/>
                </a:solidFill>
              </a:rPr>
              <a:t>2350562164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2"/>
                </a:solidFill>
              </a:rPr>
              <a:t>Email</a:t>
            </a:r>
            <a:r>
              <a:rPr lang="zh-CN" altLang="en-US" dirty="0">
                <a:solidFill>
                  <a:schemeClr val="tx2"/>
                </a:solidFill>
              </a:rPr>
              <a:t>：           </a:t>
            </a:r>
            <a:r>
              <a:rPr lang="en-US" altLang="zh-CN" dirty="0">
                <a:solidFill>
                  <a:schemeClr val="tx2"/>
                </a:solidFill>
              </a:rPr>
              <a:t>zhengtieran@hit.edu.cn</a:t>
            </a:r>
            <a:r>
              <a:rPr lang="zh-CN" altLang="en-US" dirty="0">
                <a:solidFill>
                  <a:schemeClr val="tx2"/>
                </a:solidFill>
              </a:rPr>
              <a:t>   </a:t>
            </a:r>
            <a:endParaRPr lang="zh-CN" altLang="en-US" dirty="0">
              <a:solidFill>
                <a:schemeClr val="tx2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olidFill>
                  <a:schemeClr val="tx2"/>
                </a:solidFill>
              </a:rPr>
              <a:t>                          </a:t>
            </a:r>
            <a:r>
              <a:rPr lang="en-US" altLang="zh-CN" dirty="0">
                <a:solidFill>
                  <a:schemeClr val="tx2"/>
                </a:solidFill>
              </a:rPr>
              <a:t>                          </a:t>
            </a:r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9600" cy="4471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</a:rPr>
              <a:t>虚拟内存的定义</a:t>
            </a:r>
            <a:endParaRPr lang="zh-CN" altLang="en-US" sz="2800" b="1" dirty="0">
              <a:solidFill>
                <a:srgbClr val="C00000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支持虚拟内存的硬件和控制结构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支持虚拟内存的操作系统机制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虚拟内存的定义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56690"/>
            <a:ext cx="8325485" cy="452628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早期，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整个程序装入内存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执行，内存不够不能运行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后来，内存不足时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以进程为单位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在内外存之间交换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对内存采用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分页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分段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管理后：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进程中所有内存访问都是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逻辑地址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，运行时动态转换为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物理地址，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使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重定位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成为可能。</a:t>
            </a:r>
            <a:endParaRPr lang="zh-CN" altLang="en-US" sz="21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进程被划分成许多块（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页或段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），不需要连续的位于内存中。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进程不需要所有的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页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段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都在内存中（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局部性原理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ü"/>
              <a:defRPr/>
            </a:pPr>
            <a:r>
              <a:rPr lang="zh-CN" altLang="en-US" sz="1835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时间局部性</a:t>
            </a:r>
            <a:r>
              <a:rPr lang="zh-CN" altLang="en-US" sz="1835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：某条指令被执行后，不久可能被再次执行，某数据被访问后，不久之后可能再次访问</a:t>
            </a:r>
            <a:r>
              <a:rPr lang="en-US" altLang="zh-CN" sz="1835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1835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35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1835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1835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ü"/>
              <a:defRPr/>
            </a:pPr>
            <a:r>
              <a:rPr lang="zh-CN" altLang="en-US" sz="1835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空间局部性</a:t>
            </a:r>
            <a:r>
              <a:rPr lang="zh-CN" altLang="en-US" sz="1835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：一段时间内所访问的地址集中在一定范围内（</a:t>
            </a:r>
            <a:r>
              <a:rPr lang="zh-CN" altLang="en-US" sz="1835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虚存</a:t>
            </a:r>
            <a:r>
              <a:rPr lang="zh-CN" altLang="en-US" sz="1835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1835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虚拟内存的定义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84935"/>
            <a:ext cx="8325485" cy="5330825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在页/段表项中，加入一个标志位，使处理器知悉</a:t>
            </a:r>
            <a:r>
              <a:rPr lang="zh-CN" altLang="en-US" sz="21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该页/段是否在内存中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调页时机：预调页（</a:t>
            </a:r>
            <a:r>
              <a:rPr lang="zh-CN" altLang="en-US" sz="21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 2" panose="05020102010507070707" charset="0"/>
              </a:rPr>
              <a:t>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）；</a:t>
            </a:r>
            <a:r>
              <a:rPr lang="zh-CN" altLang="en-US" sz="21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请求调页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 2" panose="05020102010507070707" charset="0"/>
              </a:rPr>
              <a:t>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处理器需要访问一个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不在内存中的逻辑地址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时，会产生</a:t>
            </a:r>
            <a:r>
              <a:rPr lang="zh-CN" altLang="en-US" sz="21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缺页中断。</a:t>
            </a:r>
            <a:endParaRPr lang="zh-CN" altLang="en-US" sz="2100" b="1" dirty="0">
              <a:solidFill>
                <a:srgbClr val="00206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进程被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阻塞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，操作系统发出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磁盘</a:t>
            </a:r>
            <a:r>
              <a:rPr lang="en-US" altLang="zh-CN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请求。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当块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被载入内存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后，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修改页表，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并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通过</a:t>
            </a:r>
            <a:r>
              <a:rPr lang="en-US" altLang="zh-CN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中断，唤醒该进程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如果内存已满</a:t>
            </a:r>
            <a:r>
              <a:rPr lang="zh-CN" altLang="en-US" sz="21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，先进行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置换，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置换是在缺页中断期间发生的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在一条指令的执行过程中，可能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多次发生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缺页中断。</a:t>
            </a:r>
            <a:endParaRPr lang="zh-CN" altLang="en-US" sz="21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给一个进程分配的物理页框的集合被称之为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驻留集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21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endParaRPr lang="zh-CN" altLang="en-US" sz="21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虚拟内存的定义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56690"/>
            <a:ext cx="8325485" cy="452628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待解决的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问题：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驻留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集分配策略。</a:t>
            </a:r>
            <a:endParaRPr lang="zh-CN" altLang="en-US" sz="1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内存置换策略。</a:t>
            </a:r>
            <a:endParaRPr lang="zh-CN" altLang="en-US" sz="1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从何处调入？</a:t>
            </a:r>
            <a:endParaRPr lang="zh-CN" altLang="en-US" sz="1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虚拟内存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带来的效果：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1835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支持更有效的系统并发度</a:t>
            </a:r>
            <a:r>
              <a:rPr lang="zh-CN" altLang="en-US" sz="1835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：在内存中保留更多的进程</a:t>
            </a:r>
            <a:endParaRPr lang="zh-CN" altLang="en-US" sz="1835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1835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解除用户与内存之间没必要的紧密约束</a:t>
            </a:r>
            <a:r>
              <a:rPr lang="zh-CN" altLang="en-US" sz="1835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：进程可以比内存全部空间都大</a:t>
            </a:r>
            <a:endParaRPr lang="zh-CN" altLang="en-US" sz="1835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虚存的</a:t>
            </a: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最大容量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由什么决定：计算机地址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机构</a:t>
            </a:r>
            <a:endParaRPr lang="zh-CN" altLang="en-US" sz="24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手段：</a:t>
            </a:r>
            <a:endParaRPr lang="zh-CN" altLang="en-US" sz="24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2400" b="1" dirty="0" smtClean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2100" b="1" dirty="0" smtClean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100" b="1" dirty="0" smtClean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段</a:t>
            </a:r>
            <a:r>
              <a:rPr lang="en-US" altLang="zh-CN" sz="2100" b="1" dirty="0" smtClean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100" b="1" dirty="0" smtClean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页管理</a:t>
            </a:r>
            <a:r>
              <a:rPr lang="en-US" altLang="zh-CN" sz="2100" b="1" dirty="0" smtClean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+ </a:t>
            </a:r>
            <a:r>
              <a:rPr lang="zh-CN" altLang="en-US" sz="2100" b="1" dirty="0" smtClean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部分加载</a:t>
            </a:r>
            <a:r>
              <a:rPr lang="en-US" altLang="zh-CN" sz="2100" b="1" dirty="0" smtClean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+ </a:t>
            </a:r>
            <a:r>
              <a:rPr lang="zh-CN" altLang="en-US" sz="2100" b="1" dirty="0" smtClean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请求调页</a:t>
            </a:r>
            <a:r>
              <a:rPr lang="en-US" altLang="zh-CN" sz="2100" b="1" dirty="0" smtClean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+ </a:t>
            </a:r>
            <a:r>
              <a:rPr lang="zh-CN" altLang="en-US" sz="2100" b="1" dirty="0" smtClean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换入换出</a:t>
            </a:r>
            <a:endParaRPr lang="zh-CN" altLang="en-US" sz="2100" b="1" dirty="0" smtClean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9600" cy="4471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虚拟内存的定义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</a:rPr>
              <a:t>支持虚拟内存的硬件和控制结构</a:t>
            </a:r>
            <a:endParaRPr lang="zh-CN" altLang="en-US" sz="2800" b="1" dirty="0">
              <a:solidFill>
                <a:srgbClr val="C00000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支持虚拟内存的操作系统机制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1"/>
                </a:solidFill>
                <a:sym typeface="+mn-ea"/>
              </a:rPr>
              <a:t>支持虚拟内存的硬件和控制结构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84935"/>
            <a:ext cx="8325485" cy="5158105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虚拟内存切实可行么？</a:t>
            </a:r>
            <a:endParaRPr lang="zh-CN" altLang="en-US" sz="24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隐患：系统抖动。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内存几乎所有空间都被各个进程占据时，当操作系统读取一块时，必须把另一块换出。如果此块正好在将要用时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被换出，操作系统不得不很快将其取回。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处理器大部分时间用于交换块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，而不是执行指令。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解决方法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：基于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局部性原理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推断将来最可能用到的块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众多操作系统的经验已经证明了虚存的可行性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基于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分页的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分页和分段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的虚拟内存已经成为当代操作系统的一个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基本构件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1"/>
                </a:solidFill>
                <a:sym typeface="+mn-ea"/>
              </a:rPr>
              <a:t>支持虚拟内存的硬件和控制结构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84935"/>
            <a:ext cx="8325485" cy="4526280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基于分页的虚拟内存</a:t>
            </a:r>
            <a:endParaRPr lang="zh-CN" altLang="en-US" sz="24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虚拟内存通常与使用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分页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的系统联系在一起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每个进程都有自己的页表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页表项</a:t>
            </a:r>
            <a:endParaRPr lang="zh-CN" altLang="en-US" sz="2400" b="1" dirty="0" smtClean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7630" y="3932555"/>
            <a:ext cx="5217795" cy="2240280"/>
          </a:xfrm>
          <a:prstGeom prst="rect">
            <a:avLst/>
          </a:prstGeom>
        </p:spPr>
      </p:pic>
      <p:sp>
        <p:nvSpPr>
          <p:cNvPr id="3" name="线形标注 2(带边框和强调线) 2"/>
          <p:cNvSpPr/>
          <p:nvPr/>
        </p:nvSpPr>
        <p:spPr>
          <a:xfrm flipH="1">
            <a:off x="670560" y="4005580"/>
            <a:ext cx="876935" cy="373380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36734"/>
              <a:gd name="adj6" fmla="val -142939"/>
            </a:avLst>
          </a:prstGeom>
          <a:solidFill>
            <a:schemeClr val="bg1"/>
          </a:solidFill>
          <a:ln w="22225" cap="flat" cmpd="sng" algn="ctr">
            <a:solidFill>
              <a:srgbClr val="007A36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存在位</a:t>
            </a: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线形标注 2(带边框和强调线) 6"/>
          <p:cNvSpPr/>
          <p:nvPr/>
        </p:nvSpPr>
        <p:spPr>
          <a:xfrm flipH="1">
            <a:off x="827405" y="6172835"/>
            <a:ext cx="876935" cy="373380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90986"/>
              <a:gd name="adj6" fmla="val -150615"/>
            </a:avLst>
          </a:prstGeom>
          <a:solidFill>
            <a:schemeClr val="bg1"/>
          </a:solidFill>
          <a:ln w="22225" cap="flat" cmpd="sng" algn="ctr">
            <a:solidFill>
              <a:srgbClr val="006C3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修改位</a:t>
            </a: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  <p:bldP spid="3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1"/>
                </a:solidFill>
                <a:sym typeface="+mn-ea"/>
              </a:rPr>
              <a:t>支持虚拟内存的硬件和控制结构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84935"/>
            <a:ext cx="8325485" cy="452628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地址映射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32865" y="2204720"/>
            <a:ext cx="6806565" cy="431482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1"/>
                </a:solidFill>
                <a:sym typeface="+mn-ea"/>
              </a:rPr>
              <a:t>支持虚拟内存的硬件和控制结构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84935"/>
            <a:ext cx="8325485" cy="452628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页表也可能占据很大的内存空间</a:t>
            </a:r>
            <a:endParaRPr lang="zh-CN" altLang="en-US" sz="2400" b="1" dirty="0" smtClean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Pentium</a:t>
            </a: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处理器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，进程的</a:t>
            </a: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虚存空间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400" b="1" baseline="30000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32</a:t>
            </a:r>
            <a:r>
              <a:rPr lang="en-US" altLang="zh-CN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=4GB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，使用</a:t>
            </a:r>
            <a:r>
              <a:rPr lang="en-US" altLang="zh-CN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4KB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的页，进程的页表将有</a:t>
            </a:r>
            <a:r>
              <a:rPr lang="en-US" altLang="zh-CN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400" b="1" baseline="30000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20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个页表项</a:t>
            </a: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每项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占</a:t>
            </a:r>
            <a:r>
              <a:rPr lang="en-US" altLang="zh-CN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个字节，则页表将占用</a:t>
            </a:r>
            <a:r>
              <a:rPr lang="en-US" altLang="zh-CN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400" b="1" baseline="30000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10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个页。</a:t>
            </a:r>
            <a:endParaRPr lang="en-US" altLang="zh-CN" sz="2400" b="1" dirty="0" smtClean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解决方法：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多级页表</a:t>
            </a:r>
            <a:endParaRPr lang="zh-CN" altLang="en-US" sz="21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705100" y="4725035"/>
          <a:ext cx="6442416" cy="2140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9544050" imgH="3171825" progId="Paint.Picture">
                  <p:embed/>
                </p:oleObj>
              </mc:Choice>
              <mc:Fallback>
                <p:oleObj name="" r:id="rId1" imgW="9544050" imgH="3171825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05100" y="4725035"/>
                        <a:ext cx="6442416" cy="21408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5363845" y="3357245"/>
            <a:ext cx="4774565" cy="1892300"/>
            <a:chOff x="8447" y="5287"/>
            <a:chExt cx="7519" cy="2980"/>
          </a:xfrm>
        </p:grpSpPr>
        <p:pic>
          <p:nvPicPr>
            <p:cNvPr id="2" name="内容占位符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47" y="5287"/>
              <a:ext cx="5901" cy="12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文本框 5"/>
            <p:cNvSpPr txBox="1"/>
            <p:nvPr/>
          </p:nvSpPr>
          <p:spPr>
            <a:xfrm>
              <a:off x="11166" y="6307"/>
              <a:ext cx="4800" cy="1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indent="0" latinLnBrk="0">
                <a:lnSpc>
                  <a:spcPct val="150000"/>
                </a:lnSpc>
              </a:pPr>
              <a:r>
                <a:rPr lang="en-US" altLang="zh-CN" sz="10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P</a:t>
              </a:r>
              <a:r>
                <a:rPr lang="zh-CN" altLang="en-US" sz="10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10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    </a:t>
              </a:r>
              <a:r>
                <a:rPr lang="zh-CN" altLang="en-US" sz="10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是否存在于内存中</a:t>
              </a:r>
              <a:endParaRPr lang="zh-CN" altLang="en-US" sz="10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0" indent="0" latinLnBrk="0">
                <a:lnSpc>
                  <a:spcPct val="150000"/>
                </a:lnSpc>
              </a:pPr>
              <a:r>
                <a:rPr lang="en-US" altLang="zh-CN" sz="10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R/W</a:t>
              </a:r>
              <a:r>
                <a:rPr lang="zh-CN" altLang="en-US" sz="10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：读写标志</a:t>
              </a:r>
              <a:endParaRPr lang="zh-CN" altLang="en-US" sz="10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0" indent="0" latinLnBrk="0">
                <a:lnSpc>
                  <a:spcPct val="150000"/>
                </a:lnSpc>
              </a:pPr>
              <a:r>
                <a:rPr lang="en-US" altLang="zh-CN" sz="10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U/S</a:t>
              </a:r>
              <a:r>
                <a:rPr lang="zh-CN" altLang="en-US" sz="10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10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10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用户</a:t>
              </a:r>
              <a:r>
                <a:rPr lang="en-US" altLang="zh-CN" sz="10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超级用户</a:t>
              </a:r>
              <a:endParaRPr lang="zh-CN" altLang="en-US" sz="10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0" indent="0" latinLnBrk="0">
                <a:lnSpc>
                  <a:spcPct val="150000"/>
                </a:lnSpc>
              </a:pPr>
              <a:r>
                <a:rPr lang="en-US" altLang="zh-CN" sz="10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10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10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   </a:t>
              </a:r>
              <a:r>
                <a:rPr lang="zh-CN" altLang="en-US" sz="10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页面已访问标志</a:t>
              </a:r>
              <a:endParaRPr lang="zh-CN" altLang="en-US" sz="10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0" indent="0" latinLnBrk="0">
                <a:lnSpc>
                  <a:spcPct val="150000"/>
                </a:lnSpc>
              </a:pPr>
              <a:r>
                <a:rPr lang="en-US" altLang="zh-CN" sz="10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D</a:t>
              </a:r>
              <a:r>
                <a:rPr lang="zh-CN" altLang="en-US" sz="10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10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   </a:t>
              </a:r>
              <a:r>
                <a:rPr lang="zh-CN" altLang="en-US" sz="10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页面已修改标志</a:t>
              </a:r>
              <a:endParaRPr lang="zh-CN" altLang="en-US" sz="10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1"/>
                </a:solidFill>
                <a:sym typeface="+mn-ea"/>
              </a:rPr>
              <a:t>支持虚拟内存的硬件和控制结构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67360" y="1553845"/>
            <a:ext cx="8267700" cy="4483735"/>
            <a:chOff x="739" y="2449"/>
            <a:chExt cx="13020" cy="7061"/>
          </a:xfrm>
        </p:grpSpPr>
        <p:graphicFrame>
          <p:nvGraphicFramePr>
            <p:cNvPr id="3" name="对象 2"/>
            <p:cNvGraphicFramePr/>
            <p:nvPr/>
          </p:nvGraphicFramePr>
          <p:xfrm>
            <a:off x="739" y="2454"/>
            <a:ext cx="13020" cy="7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1" imgW="5905500" imgH="3200400" progId="Paint.Picture">
                    <p:embed/>
                  </p:oleObj>
                </mc:Choice>
                <mc:Fallback>
                  <p:oleObj name="" r:id="rId1" imgW="5905500" imgH="3200400" progId="Paint.Picture">
                    <p:embed/>
                    <p:pic>
                      <p:nvPicPr>
                        <p:cNvPr id="0" name="图片 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739" y="2454"/>
                          <a:ext cx="13020" cy="705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" name="直接连接符 1"/>
            <p:cNvCxnSpPr/>
            <p:nvPr/>
          </p:nvCxnSpPr>
          <p:spPr>
            <a:xfrm>
              <a:off x="6486" y="2449"/>
              <a:ext cx="2307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7" name="线形标注 2(带边框和强调线) 6"/>
          <p:cNvSpPr/>
          <p:nvPr/>
        </p:nvSpPr>
        <p:spPr>
          <a:xfrm flipH="1">
            <a:off x="3074400" y="6325200"/>
            <a:ext cx="1664970" cy="373380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325680"/>
              <a:gd name="adj6" fmla="val 9191"/>
            </a:avLst>
          </a:prstGeom>
          <a:solidFill>
            <a:schemeClr val="bg1"/>
          </a:solidFill>
          <a:ln w="22225" cap="flat" cmpd="sng" algn="ctr">
            <a:solidFill>
              <a:srgbClr val="006C3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用户页表</a:t>
            </a: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地址</a:t>
            </a: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1"/>
                </a:solidFill>
                <a:sym typeface="+mn-ea"/>
              </a:rPr>
              <a:t>支持虚拟内存的硬件和控制结构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84935"/>
            <a:ext cx="8325485" cy="452628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倒排</a:t>
            </a: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页表</a:t>
            </a:r>
            <a:endParaRPr lang="zh-CN" altLang="en-US" sz="2400" b="1" dirty="0" smtClean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一级</a:t>
            </a:r>
            <a:r>
              <a:rPr lang="en-US" altLang="zh-CN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多级页表</a:t>
            </a:r>
            <a:r>
              <a:rPr lang="zh-CN" altLang="en-US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的大小与虚拟地址空间成正比</a:t>
            </a:r>
            <a:endParaRPr lang="zh-CN" altLang="en-US" sz="21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en-US" altLang="zh-CN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</a:t>
            </a:r>
            <a:r>
              <a:rPr lang="zh-CN" altLang="en-US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替代方案是采用倒排页表</a:t>
            </a:r>
            <a:r>
              <a:rPr lang="zh-CN" altLang="en-US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结构</a:t>
            </a:r>
            <a:endParaRPr lang="zh-CN" altLang="en-US" sz="21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195" y="3067685"/>
            <a:ext cx="5286375" cy="37338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188085" y="2865120"/>
          <a:ext cx="6673850" cy="3996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5133975" imgH="3305175" progId="Paint.Picture">
                  <p:embed/>
                </p:oleObj>
              </mc:Choice>
              <mc:Fallback>
                <p:oleObj name="" r:id="rId1" imgW="5133975" imgH="330517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88085" y="2865120"/>
                        <a:ext cx="6673850" cy="39960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1"/>
                </a:solidFill>
                <a:sym typeface="+mn-ea"/>
              </a:rPr>
              <a:t>支持虚拟内存的硬件和控制结构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8325485" cy="452628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转换检测缓冲区（</a:t>
            </a:r>
            <a:r>
              <a:rPr lang="en-US" altLang="zh-CN" sz="2400" b="1">
                <a:solidFill>
                  <a:schemeClr val="folHlink"/>
                </a:solidFill>
                <a:latin typeface="Times New Roman" panose="02020603050405020304" pitchFamily="18" charset="0"/>
                <a:sym typeface="+mn-ea"/>
              </a:rPr>
              <a:t>Translate Lookaside Buffer, TLB</a:t>
            </a: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400" b="1" dirty="0" smtClean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又称为快表，在</a:t>
            </a:r>
            <a:r>
              <a:rPr lang="en-US" altLang="zh-CN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MMU</a:t>
            </a:r>
            <a:r>
              <a:rPr lang="zh-CN" altLang="en-US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中</a:t>
            </a:r>
            <a:endParaRPr lang="en-US" altLang="zh-CN" sz="21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en-US" altLang="zh-CN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TLB</a:t>
            </a:r>
            <a:r>
              <a:rPr lang="zh-CN" altLang="en-US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功能与</a:t>
            </a:r>
            <a:r>
              <a:rPr lang="en-US" altLang="zh-CN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Cache</a:t>
            </a:r>
            <a:r>
              <a:rPr lang="zh-CN" altLang="en-US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相似，包含有最近用过的</a:t>
            </a:r>
            <a:r>
              <a:rPr lang="zh-CN" altLang="en-US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页表项</a:t>
            </a:r>
            <a:endParaRPr lang="zh-CN" altLang="en-US" sz="21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endParaRPr lang="zh-CN" altLang="en-US" sz="21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>
                <a:solidFill>
                  <a:schemeClr val="tx1"/>
                </a:solidFill>
                <a:sym typeface="+mn-ea"/>
              </a:rPr>
              <a:t>支持虚拟内存的硬件和控制结构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8220" y="1557020"/>
            <a:ext cx="4149090" cy="51320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1"/>
                </a:solidFill>
                <a:sym typeface="+mn-ea"/>
              </a:rPr>
              <a:t>支持虚拟内存的硬件和控制结构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67360" y="2133600"/>
          <a:ext cx="8093987" cy="4647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" imgW="11562715" imgH="6638925" progId="Paint.Picture">
                  <p:embed/>
                </p:oleObj>
              </mc:Choice>
              <mc:Fallback>
                <p:oleObj name="" r:id="rId1" imgW="11562715" imgH="6638925" progId="Paint.Picture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7360" y="2133600"/>
                        <a:ext cx="8093987" cy="46471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4500245" y="1772920"/>
            <a:ext cx="4518660" cy="1891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latinLnBrk="0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2800" b="1">
                <a:solidFill>
                  <a:schemeClr val="tx1"/>
                </a:solidFill>
              </a:rPr>
              <a:t>页表项可能在</a:t>
            </a:r>
            <a:r>
              <a:rPr lang="en-US" altLang="zh-CN" sz="28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TLB</a:t>
            </a:r>
            <a:r>
              <a:rPr lang="zh-CN" altLang="en-US" sz="28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、内存</a:t>
            </a:r>
            <a:r>
              <a:rPr lang="zh-CN" altLang="en-US" sz="2800" b="1">
                <a:solidFill>
                  <a:schemeClr val="tx1"/>
                </a:solidFill>
              </a:rPr>
              <a:t>或</a:t>
            </a:r>
            <a:r>
              <a:rPr lang="zh-CN" altLang="en-US" sz="28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磁盘</a:t>
            </a:r>
            <a:r>
              <a:rPr lang="zh-CN" altLang="en-US" sz="2800" b="1">
                <a:solidFill>
                  <a:schemeClr val="tx1"/>
                </a:solidFill>
              </a:rPr>
              <a:t>中</a:t>
            </a:r>
            <a:endParaRPr lang="zh-CN" altLang="en-US" sz="28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  <a:p>
            <a:pPr marL="342900" indent="-342900" latinLnBrk="0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2800" b="1">
                <a:solidFill>
                  <a:schemeClr val="tx1"/>
                </a:solidFill>
              </a:rPr>
              <a:t>被访问的数据可能在</a:t>
            </a:r>
            <a:r>
              <a:rPr lang="en-US" altLang="zh-CN" sz="28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Cache</a:t>
            </a:r>
            <a:r>
              <a:rPr lang="zh-CN" altLang="en-US" sz="28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、内存</a:t>
            </a:r>
            <a:r>
              <a:rPr lang="zh-CN" altLang="en-US" sz="2800" b="1">
                <a:solidFill>
                  <a:schemeClr val="tx1"/>
                </a:solidFill>
              </a:rPr>
              <a:t>或</a:t>
            </a:r>
            <a:r>
              <a:rPr lang="zh-CN" altLang="en-US" sz="28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磁盘</a:t>
            </a:r>
            <a:r>
              <a:rPr lang="zh-CN" altLang="en-US" sz="2800" b="1">
                <a:solidFill>
                  <a:schemeClr val="tx1"/>
                </a:solidFill>
              </a:rPr>
              <a:t>中</a:t>
            </a:r>
            <a:endParaRPr lang="zh-CN" altLang="en-US"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76885" y="1884680"/>
          <a:ext cx="7978775" cy="4760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5172075" imgH="3086100" progId="Paint.Picture">
                  <p:embed/>
                </p:oleObj>
              </mc:Choice>
              <mc:Fallback>
                <p:oleObj name="" r:id="rId1" imgW="5172075" imgH="308610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6885" y="1884680"/>
                        <a:ext cx="7978775" cy="4760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65860"/>
            <a:ext cx="8325485" cy="4526280"/>
          </a:xfrm>
        </p:spPr>
        <p:txBody>
          <a:bodyPr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分段系统中</a:t>
            </a: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的地址</a:t>
            </a: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映射</a:t>
            </a:r>
            <a:endParaRPr lang="en-US" altLang="zh-CN" sz="21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endParaRPr lang="zh-CN" altLang="en-US" sz="21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>
                <a:solidFill>
                  <a:schemeClr val="tx1"/>
                </a:solidFill>
                <a:sym typeface="+mn-ea"/>
              </a:rPr>
              <a:t>支持虚拟内存的硬件和控制结构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1"/>
                </a:solidFill>
                <a:sym typeface="+mn-ea"/>
              </a:rPr>
              <a:t>支持虚拟内存的硬件和控制结构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19075" y="1616710"/>
          <a:ext cx="8870190" cy="5105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5543550" imgH="3190875" progId="Paint.Picture">
                  <p:embed/>
                </p:oleObj>
              </mc:Choice>
              <mc:Fallback>
                <p:oleObj name="" r:id="rId1" imgW="5543550" imgH="3190875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9075" y="1616710"/>
                        <a:ext cx="8870190" cy="51056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>
                <a:solidFill>
                  <a:schemeClr val="tx1"/>
                </a:solidFill>
                <a:sym typeface="+mn-ea"/>
              </a:rPr>
              <a:t>支持虚拟内存的硬件和控制结构</a:t>
            </a:r>
            <a:endParaRPr lang="zh-CN" alt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84935"/>
            <a:ext cx="8325485" cy="4999355"/>
          </a:xfrm>
        </p:spPr>
        <p:txBody>
          <a:bodyPr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页尺寸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页越小，内碎片总量越少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页越小，页表越大，可用内存减少，可能导致一次内存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访问两次缺页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中断。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页非常小，页数多，最近访问的部分都被包含在内存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中，则缺页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率低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页越大，页数减少，代码（数据）越集中，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局部性原理的影响被削弱，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缺页中断有增加的可能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395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页尺寸接近整个进程大小时，缺页率下降，</a:t>
            </a:r>
            <a:r>
              <a:rPr lang="zh-CN" altLang="en-US" sz="2395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最后为</a:t>
            </a:r>
            <a:r>
              <a:rPr lang="zh-CN" altLang="en-US" sz="2395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零</a:t>
            </a:r>
            <a:endParaRPr lang="zh-CN" altLang="en-US" sz="2055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>
                <a:solidFill>
                  <a:schemeClr val="tx1"/>
                </a:solidFill>
                <a:sym typeface="+mn-ea"/>
              </a:rPr>
              <a:t>支持虚拟内存的硬件和控制结构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260" y="2096770"/>
            <a:ext cx="7212330" cy="4057650"/>
          </a:xfrm>
          <a:prstGeom prst="rect">
            <a:avLst/>
          </a:prstGeom>
        </p:spPr>
      </p:pic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84935"/>
            <a:ext cx="8325485" cy="4526280"/>
          </a:xfrm>
        </p:spPr>
        <p:txBody>
          <a:bodyPr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页尺寸</a:t>
            </a: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对缺页中断发生概率的影响</a:t>
            </a:r>
            <a:endParaRPr lang="en-US" altLang="zh-CN" sz="21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endParaRPr lang="zh-CN" altLang="en-US" sz="21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9600" cy="4471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虚拟内存的定义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支持虚拟内存的硬件和控制结构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</a:rPr>
              <a:t>支持虚拟内存的操作系统机制</a:t>
            </a:r>
            <a:endParaRPr lang="zh-CN" altLang="en-US" sz="2800" b="1" dirty="0">
              <a:solidFill>
                <a:srgbClr val="C00000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None/>
            </a:pPr>
            <a:endParaRPr lang="zh-CN" altLang="en-US" sz="28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>
                <a:solidFill>
                  <a:schemeClr val="tx1"/>
                </a:solidFill>
                <a:sym typeface="+mn-ea"/>
              </a:rPr>
              <a:t>支持虚拟内存的操作系统机制</a:t>
            </a:r>
            <a:endParaRPr lang="zh-CN" altLang="en-US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605" y="1557020"/>
            <a:ext cx="8325485" cy="4526280"/>
          </a:xfrm>
        </p:spPr>
        <p:txBody>
          <a:bodyPr/>
          <a:p>
            <a:pPr lv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驻留集（工作集）</a:t>
            </a:r>
            <a:endParaRPr lang="zh-CN" altLang="en-US" sz="2100" b="1" dirty="0" smtClean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  <a:defRPr/>
            </a:pPr>
            <a:r>
              <a:rPr lang="zh-CN" altLang="en-US" sz="1835" b="1" dirty="0" smtClean="0">
                <a:sym typeface="+mn-ea"/>
              </a:rPr>
              <a:t>是给进程分配的物理内存空间，其一般是动态变化的</a:t>
            </a:r>
            <a:r>
              <a:rPr lang="zh-CN" altLang="en-US" sz="1835" dirty="0" smtClean="0">
                <a:sym typeface="+mn-ea"/>
              </a:rPr>
              <a:t>。</a:t>
            </a:r>
            <a:endParaRPr lang="zh-CN" altLang="en-US" sz="1835" dirty="0" smtClean="0">
              <a:sym typeface="+mn-ea"/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  <a:defRPr/>
            </a:pPr>
            <a:r>
              <a:rPr lang="zh-CN" altLang="en-US" sz="1835" b="1" dirty="0" smtClean="0">
                <a:sym typeface="+mn-ea"/>
              </a:rPr>
              <a:t>操作系统决定给</a:t>
            </a:r>
            <a:r>
              <a:rPr lang="zh-CN" altLang="en-US" sz="1835" b="1" dirty="0">
                <a:sym typeface="+mn-ea"/>
              </a:rPr>
              <a:t>特定的进程分配多大的主存</a:t>
            </a:r>
            <a:r>
              <a:rPr lang="zh-CN" altLang="en-US" sz="1835" b="1" dirty="0" smtClean="0">
                <a:sym typeface="+mn-ea"/>
              </a:rPr>
              <a:t>空间：</a:t>
            </a:r>
            <a:endParaRPr lang="zh-CN" altLang="en-US" sz="1835" b="1" dirty="0" smtClean="0">
              <a:sym typeface="+mn-ea"/>
            </a:endParaRPr>
          </a:p>
          <a:p>
            <a:pPr lvl="2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ü"/>
              <a:defRPr/>
            </a:pPr>
            <a:r>
              <a:rPr lang="zh-CN" altLang="en-US" sz="1800" b="1" dirty="0">
                <a:sym typeface="+mn-ea"/>
              </a:rPr>
              <a:t>分配给一个进程</a:t>
            </a:r>
            <a:r>
              <a:rPr lang="zh-CN" altLang="en-US" sz="1800" b="1" dirty="0" smtClean="0">
                <a:sym typeface="+mn-ea"/>
              </a:rPr>
              <a:t>的</a:t>
            </a:r>
            <a:r>
              <a:rPr lang="zh-CN" altLang="en-US" sz="1800" b="1" dirty="0" smtClean="0">
                <a:solidFill>
                  <a:srgbClr val="0070C0"/>
                </a:solidFill>
                <a:sym typeface="+mn-ea"/>
              </a:rPr>
              <a:t>物理内存越</a:t>
            </a:r>
            <a:r>
              <a:rPr lang="zh-CN" altLang="en-US" sz="1800" b="1" dirty="0">
                <a:solidFill>
                  <a:srgbClr val="0070C0"/>
                </a:solidFill>
                <a:sym typeface="+mn-ea"/>
              </a:rPr>
              <a:t>小</a:t>
            </a:r>
            <a:r>
              <a:rPr lang="zh-CN" altLang="en-US" sz="1800" b="1" dirty="0" smtClean="0">
                <a:sym typeface="+mn-ea"/>
              </a:rPr>
              <a:t>，驻留</a:t>
            </a:r>
            <a:r>
              <a:rPr lang="zh-CN" altLang="en-US" sz="1800" b="1" dirty="0">
                <a:sym typeface="+mn-ea"/>
              </a:rPr>
              <a:t>在主存中的</a:t>
            </a:r>
            <a:r>
              <a:rPr lang="zh-CN" altLang="en-US" sz="1800" b="1" dirty="0">
                <a:solidFill>
                  <a:srgbClr val="0070C0"/>
                </a:solidFill>
                <a:sym typeface="+mn-ea"/>
              </a:rPr>
              <a:t>进程数就越多</a:t>
            </a:r>
            <a:r>
              <a:rPr lang="zh-CN" altLang="en-US" sz="1800" b="1" dirty="0">
                <a:sym typeface="+mn-ea"/>
              </a:rPr>
              <a:t>，从而可以</a:t>
            </a:r>
            <a:r>
              <a:rPr lang="zh-CN" altLang="en-US" sz="1800" b="1" dirty="0">
                <a:solidFill>
                  <a:srgbClr val="0070C0"/>
                </a:solidFill>
                <a:sym typeface="+mn-ea"/>
              </a:rPr>
              <a:t>提高</a:t>
            </a:r>
            <a:r>
              <a:rPr lang="zh-CN" altLang="en-US" sz="1800" b="1" dirty="0" smtClean="0">
                <a:solidFill>
                  <a:srgbClr val="0070C0"/>
                </a:solidFill>
                <a:sym typeface="+mn-ea"/>
              </a:rPr>
              <a:t>处理器的利用率</a:t>
            </a:r>
            <a:endParaRPr lang="zh-CN" altLang="en-US" sz="1800" b="1" dirty="0" smtClean="0">
              <a:sym typeface="+mn-ea"/>
            </a:endParaRPr>
          </a:p>
          <a:p>
            <a:pPr lvl="2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ü"/>
              <a:defRPr/>
            </a:pPr>
            <a:r>
              <a:rPr lang="zh-CN" altLang="en-US" sz="1800" b="1" dirty="0">
                <a:sym typeface="+mn-ea"/>
              </a:rPr>
              <a:t>如果一个</a:t>
            </a:r>
            <a:r>
              <a:rPr lang="zh-CN" altLang="en-US" sz="1800" b="1" dirty="0" smtClean="0">
                <a:sym typeface="+mn-ea"/>
              </a:rPr>
              <a:t>进程分配的物理内存</a:t>
            </a:r>
            <a:r>
              <a:rPr lang="zh-CN" altLang="en-US" sz="1800" b="1" dirty="0" smtClean="0">
                <a:solidFill>
                  <a:srgbClr val="0070C0"/>
                </a:solidFill>
                <a:sym typeface="+mn-ea"/>
              </a:rPr>
              <a:t>（页框）过少</a:t>
            </a:r>
            <a:r>
              <a:rPr lang="zh-CN" altLang="en-US" sz="1800" b="1" dirty="0">
                <a:sym typeface="+mn-ea"/>
              </a:rPr>
              <a:t>，尽管有局部性原理，</a:t>
            </a:r>
            <a:r>
              <a:rPr lang="zh-CN" altLang="en-US" sz="1800" b="1" dirty="0">
                <a:solidFill>
                  <a:srgbClr val="0070C0"/>
                </a:solidFill>
                <a:sym typeface="+mn-ea"/>
              </a:rPr>
              <a:t>页错误率</a:t>
            </a:r>
            <a:r>
              <a:rPr lang="zh-CN" altLang="en-US" sz="1800" b="1" dirty="0">
                <a:sym typeface="+mn-ea"/>
              </a:rPr>
              <a:t>仍然会相对较</a:t>
            </a:r>
            <a:r>
              <a:rPr lang="zh-CN" altLang="en-US" sz="1800" b="1" dirty="0">
                <a:solidFill>
                  <a:srgbClr val="0070C0"/>
                </a:solidFill>
                <a:sym typeface="+mn-ea"/>
              </a:rPr>
              <a:t>高</a:t>
            </a:r>
            <a:endParaRPr lang="zh-CN" altLang="en-US" sz="1800" b="1" dirty="0">
              <a:sym typeface="+mn-ea"/>
            </a:endParaRPr>
          </a:p>
          <a:p>
            <a:pPr lvl="2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ü"/>
              <a:defRPr/>
            </a:pPr>
            <a:r>
              <a:rPr lang="zh-CN" altLang="en-US" sz="1800" b="1" dirty="0" smtClean="0">
                <a:solidFill>
                  <a:srgbClr val="0070C0"/>
                </a:solidFill>
                <a:sym typeface="+mn-ea"/>
              </a:rPr>
              <a:t>如驻留集较大</a:t>
            </a:r>
            <a:r>
              <a:rPr lang="zh-CN" altLang="en-US" sz="1800" b="1" dirty="0" smtClean="0">
                <a:sym typeface="+mn-ea"/>
              </a:rPr>
              <a:t>，</a:t>
            </a:r>
            <a:r>
              <a:rPr lang="zh-CN" altLang="en-US" sz="1800" b="1" dirty="0">
                <a:sym typeface="+mn-ea"/>
              </a:rPr>
              <a:t>由于局部性原理</a:t>
            </a:r>
            <a:r>
              <a:rPr lang="zh-CN" altLang="en-US" sz="1800" b="1" dirty="0" smtClean="0">
                <a:sym typeface="+mn-ea"/>
              </a:rPr>
              <a:t>，当给特定进程</a:t>
            </a:r>
            <a:r>
              <a:rPr lang="zh-CN" altLang="en-US" sz="1800" b="1" dirty="0">
                <a:sym typeface="+mn-ea"/>
              </a:rPr>
              <a:t>分配</a:t>
            </a:r>
            <a:r>
              <a:rPr lang="zh-CN" altLang="en-US" sz="1800" b="1" dirty="0">
                <a:solidFill>
                  <a:srgbClr val="0070C0"/>
                </a:solidFill>
                <a:sym typeface="+mn-ea"/>
              </a:rPr>
              <a:t>更多的主存</a:t>
            </a:r>
            <a:r>
              <a:rPr lang="zh-CN" altLang="en-US" sz="1800" b="1" dirty="0" smtClean="0">
                <a:solidFill>
                  <a:srgbClr val="0070C0"/>
                </a:solidFill>
                <a:sym typeface="+mn-ea"/>
              </a:rPr>
              <a:t>空间</a:t>
            </a:r>
            <a:r>
              <a:rPr lang="zh-CN" altLang="en-US" sz="1800" b="1" dirty="0" smtClean="0">
                <a:sym typeface="+mn-ea"/>
              </a:rPr>
              <a:t>时，</a:t>
            </a:r>
            <a:r>
              <a:rPr lang="zh-CN" altLang="en-US" sz="1800" b="1" dirty="0" smtClean="0">
                <a:solidFill>
                  <a:srgbClr val="0070C0"/>
                </a:solidFill>
                <a:sym typeface="+mn-ea"/>
              </a:rPr>
              <a:t>对</a:t>
            </a:r>
            <a:r>
              <a:rPr lang="zh-CN" altLang="en-US" sz="1800" b="1" dirty="0" smtClean="0">
                <a:sym typeface="+mn-ea"/>
              </a:rPr>
              <a:t>进程的</a:t>
            </a:r>
            <a:r>
              <a:rPr lang="zh-CN" altLang="en-US" sz="1800" b="1" dirty="0" smtClean="0">
                <a:solidFill>
                  <a:srgbClr val="0070C0"/>
                </a:solidFill>
                <a:sym typeface="+mn-ea"/>
              </a:rPr>
              <a:t>缺页错误率</a:t>
            </a:r>
            <a:r>
              <a:rPr lang="zh-CN" altLang="en-US" sz="1800" b="1" dirty="0">
                <a:solidFill>
                  <a:srgbClr val="0070C0"/>
                </a:solidFill>
                <a:sym typeface="+mn-ea"/>
              </a:rPr>
              <a:t>没有明显的影响</a:t>
            </a:r>
            <a:r>
              <a:rPr lang="zh-CN" altLang="en-US" sz="1800" b="1" dirty="0">
                <a:sym typeface="+mn-ea"/>
              </a:rPr>
              <a:t>。</a:t>
            </a:r>
            <a:endParaRPr lang="zh-CN" altLang="en-US" sz="1800" b="1" dirty="0"/>
          </a:p>
          <a:p>
            <a:pPr lvl="1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  <a:defRPr/>
            </a:pPr>
            <a:endParaRPr lang="zh-CN" altLang="en-US" sz="1800" b="1" dirty="0" smtClean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>
                <a:solidFill>
                  <a:schemeClr val="tx1"/>
                </a:solidFill>
                <a:sym typeface="+mn-ea"/>
              </a:rPr>
              <a:t>支持虚拟内存的操作系统机制</a:t>
            </a:r>
            <a:endParaRPr lang="zh-CN" altLang="en-US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605" y="1557020"/>
            <a:ext cx="8325485" cy="4526280"/>
          </a:xfrm>
        </p:spPr>
        <p:txBody>
          <a:bodyPr/>
          <a:p>
            <a:pPr lv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两种分配方式：</a:t>
            </a:r>
            <a:endParaRPr lang="zh-CN" altLang="en-US" sz="2100" b="1" dirty="0" smtClean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ü"/>
              <a:defRPr/>
            </a:pPr>
            <a:r>
              <a:rPr lang="zh-CN" altLang="en-US" sz="2140" b="1" dirty="0" smtClean="0">
                <a:solidFill>
                  <a:srgbClr val="0070C0"/>
                </a:solidFill>
                <a:sym typeface="+mn-ea"/>
              </a:rPr>
              <a:t>固定</a:t>
            </a:r>
            <a:r>
              <a:rPr lang="zh-CN" altLang="en-US" sz="2140" b="1" dirty="0">
                <a:solidFill>
                  <a:srgbClr val="0070C0"/>
                </a:solidFill>
                <a:sym typeface="+mn-ea"/>
              </a:rPr>
              <a:t>分配</a:t>
            </a:r>
            <a:r>
              <a:rPr lang="en-US" altLang="zh-CN" sz="2140" b="1" dirty="0">
                <a:solidFill>
                  <a:srgbClr val="0070C0"/>
                </a:solidFill>
                <a:sym typeface="+mn-ea"/>
              </a:rPr>
              <a:t>(fixed-allocation)</a:t>
            </a:r>
            <a:r>
              <a:rPr lang="zh-CN" altLang="en-US" sz="2140" dirty="0" smtClean="0">
                <a:sym typeface="+mn-ea"/>
              </a:rPr>
              <a:t>：</a:t>
            </a:r>
            <a:r>
              <a:rPr lang="zh-CN" altLang="en-US" sz="2140" dirty="0" smtClean="0">
                <a:sym typeface="+mn-ea"/>
              </a:rPr>
              <a:t>驻留集大小</a:t>
            </a:r>
            <a:r>
              <a:rPr lang="zh-CN" altLang="en-US" sz="2140" dirty="0">
                <a:sym typeface="+mn-ea"/>
              </a:rPr>
              <a:t>固定，可以</a:t>
            </a:r>
            <a:r>
              <a:rPr lang="zh-CN" altLang="en-US" sz="2140" dirty="0" smtClean="0">
                <a:sym typeface="+mn-ea"/>
              </a:rPr>
              <a:t>：</a:t>
            </a:r>
            <a:endParaRPr lang="zh-CN" altLang="en-US" sz="2140" dirty="0" smtClean="0">
              <a:sym typeface="+mn-ea"/>
            </a:endParaRPr>
          </a:p>
          <a:p>
            <a:pPr lvl="2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835" dirty="0" smtClean="0">
                <a:sym typeface="+mn-ea"/>
              </a:rPr>
              <a:t>各</a:t>
            </a:r>
            <a:r>
              <a:rPr lang="zh-CN" altLang="en-US" sz="1835" dirty="0">
                <a:sym typeface="+mn-ea"/>
              </a:rPr>
              <a:t>进程平均分配；</a:t>
            </a:r>
            <a:endParaRPr lang="zh-CN" altLang="en-US" sz="1835" dirty="0">
              <a:sym typeface="+mn-ea"/>
            </a:endParaRPr>
          </a:p>
          <a:p>
            <a:pPr lvl="2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835" dirty="0" smtClean="0">
                <a:sym typeface="+mn-ea"/>
              </a:rPr>
              <a:t>根据</a:t>
            </a:r>
            <a:r>
              <a:rPr lang="zh-CN" altLang="en-US" sz="1835" dirty="0">
                <a:sym typeface="+mn-ea"/>
              </a:rPr>
              <a:t>程序大小按比例分配；</a:t>
            </a:r>
            <a:endParaRPr lang="zh-CN" altLang="en-US" sz="1835" dirty="0">
              <a:sym typeface="+mn-ea"/>
            </a:endParaRPr>
          </a:p>
          <a:p>
            <a:pPr lvl="2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835" dirty="0" smtClean="0">
                <a:sym typeface="+mn-ea"/>
              </a:rPr>
              <a:t>按优先权分配。</a:t>
            </a:r>
            <a:endParaRPr lang="zh-CN" altLang="en-US" sz="1835" b="0" dirty="0"/>
          </a:p>
          <a:p>
            <a:pPr lvl="1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ü"/>
              <a:defRPr/>
            </a:pPr>
            <a:r>
              <a:rPr lang="zh-CN" altLang="en-US" sz="2140" b="1" dirty="0" smtClean="0">
                <a:solidFill>
                  <a:srgbClr val="0070C0"/>
                </a:solidFill>
                <a:sym typeface="+mn-ea"/>
              </a:rPr>
              <a:t>可变</a:t>
            </a:r>
            <a:r>
              <a:rPr lang="zh-CN" altLang="en-US" sz="2140" b="1" dirty="0">
                <a:solidFill>
                  <a:srgbClr val="0070C0"/>
                </a:solidFill>
                <a:sym typeface="+mn-ea"/>
              </a:rPr>
              <a:t>分配</a:t>
            </a:r>
            <a:r>
              <a:rPr lang="en-US" altLang="zh-CN" sz="2140" b="1" dirty="0">
                <a:solidFill>
                  <a:srgbClr val="0070C0"/>
                </a:solidFill>
                <a:sym typeface="+mn-ea"/>
              </a:rPr>
              <a:t>(variable-allocation)</a:t>
            </a:r>
            <a:r>
              <a:rPr lang="zh-CN" altLang="en-US" sz="2140" dirty="0" smtClean="0">
                <a:sym typeface="+mn-ea"/>
              </a:rPr>
              <a:t>：</a:t>
            </a:r>
            <a:r>
              <a:rPr lang="zh-CN" altLang="en-US" sz="2140" dirty="0" smtClean="0">
                <a:sym typeface="+mn-ea"/>
              </a:rPr>
              <a:t>驻留集</a:t>
            </a:r>
            <a:r>
              <a:rPr lang="zh-CN" altLang="en-US" sz="2140" dirty="0">
                <a:sym typeface="+mn-ea"/>
              </a:rPr>
              <a:t>大</a:t>
            </a:r>
            <a:r>
              <a:rPr lang="zh-CN" altLang="en-US" sz="2140" dirty="0" smtClean="0">
                <a:sym typeface="+mn-ea"/>
              </a:rPr>
              <a:t>小可动态变化，</a:t>
            </a:r>
            <a:endParaRPr lang="zh-CN" altLang="en-US" sz="2140" dirty="0" smtClean="0">
              <a:sym typeface="+mn-ea"/>
            </a:endParaRPr>
          </a:p>
          <a:p>
            <a:pPr lvl="2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830" dirty="0">
                <a:sym typeface="+mn-ea"/>
              </a:rPr>
              <a:t>按照缺页率动态调整（高或低－</a:t>
            </a:r>
            <a:r>
              <a:rPr lang="en-US" altLang="zh-CN" sz="1830" dirty="0">
                <a:sym typeface="+mn-ea"/>
              </a:rPr>
              <a:t>&gt;</a:t>
            </a:r>
            <a:r>
              <a:rPr lang="zh-CN" altLang="en-US" sz="1830" dirty="0">
                <a:sym typeface="+mn-ea"/>
              </a:rPr>
              <a:t>增大或减小常驻集）</a:t>
            </a:r>
            <a:endParaRPr lang="zh-CN" altLang="en-US" sz="1830" dirty="0">
              <a:sym typeface="+mn-ea"/>
            </a:endParaRPr>
          </a:p>
          <a:p>
            <a:pPr lvl="2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830" dirty="0">
                <a:sym typeface="+mn-ea"/>
              </a:rPr>
              <a:t>性能较好，增加算法运行的开销</a:t>
            </a:r>
            <a:r>
              <a:rPr lang="zh-CN" altLang="en-US" sz="1830" dirty="0" smtClean="0">
                <a:sym typeface="+mn-ea"/>
              </a:rPr>
              <a:t>。</a:t>
            </a:r>
            <a:endParaRPr lang="zh-CN" altLang="en-US" sz="1830" b="0" dirty="0"/>
          </a:p>
          <a:p>
            <a:pPr lvl="1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  <a:defRPr/>
            </a:pPr>
            <a:endParaRPr lang="zh-CN" altLang="en-US" sz="1800" b="1" dirty="0" smtClean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>
                <a:solidFill>
                  <a:schemeClr val="tx1"/>
                </a:solidFill>
                <a:sym typeface="+mn-ea"/>
              </a:rPr>
              <a:t>支持虚拟内存的操作系统机制</a:t>
            </a:r>
            <a:endParaRPr lang="zh-CN" altLang="en-US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605" y="1557020"/>
            <a:ext cx="8325485" cy="4526280"/>
          </a:xfrm>
        </p:spPr>
        <p:txBody>
          <a:bodyPr/>
          <a:p>
            <a:pPr lv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置换</a:t>
            </a:r>
            <a:r>
              <a:rPr lang="zh-CN" altLang="en-US" sz="21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策略：</a:t>
            </a:r>
            <a:endParaRPr lang="zh-CN" altLang="en-US" sz="2100" b="1" dirty="0" smtClean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ü"/>
              <a:defRPr/>
            </a:pPr>
            <a:r>
              <a:rPr lang="zh-CN" altLang="en-US" sz="2140" b="1" dirty="0" smtClean="0">
                <a:solidFill>
                  <a:srgbClr val="0070C0"/>
                </a:solidFill>
                <a:sym typeface="+mn-ea"/>
              </a:rPr>
              <a:t>全局置换</a:t>
            </a:r>
            <a:r>
              <a:rPr lang="zh-CN" altLang="en-US" sz="2140" dirty="0" smtClean="0">
                <a:sym typeface="+mn-ea"/>
              </a:rPr>
              <a:t>：</a:t>
            </a:r>
            <a:endParaRPr lang="zh-CN" altLang="en-US" sz="1835" dirty="0">
              <a:sym typeface="+mn-ea"/>
            </a:endParaRPr>
          </a:p>
          <a:p>
            <a:pPr lvl="2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835" dirty="0">
                <a:sym typeface="+mn-ea"/>
              </a:rPr>
              <a:t>从所有进程的页面中选择需要置换的页面；</a:t>
            </a:r>
            <a:endParaRPr lang="zh-CN" altLang="en-US" sz="1835" dirty="0">
              <a:sym typeface="+mn-ea"/>
            </a:endParaRPr>
          </a:p>
          <a:p>
            <a:pPr lvl="2" algn="l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835" dirty="0" smtClean="0">
                <a:cs typeface="+mn-ea"/>
                <a:sym typeface="+mn-ea"/>
              </a:rPr>
              <a:t>当内存紧张且多个进程频繁缺页时，系统会选择未被频繁访问的页面进行置换。</a:t>
            </a:r>
            <a:endParaRPr lang="zh-CN" altLang="en-US" sz="1835" dirty="0" smtClean="0">
              <a:cs typeface="+mn-ea"/>
              <a:sym typeface="+mn-ea"/>
            </a:endParaRPr>
          </a:p>
          <a:p>
            <a:pPr lvl="1" algn="l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ü"/>
              <a:defRPr/>
            </a:pPr>
            <a:r>
              <a:rPr lang="zh-CN" altLang="en-US" sz="2140" b="1" dirty="0" smtClean="0">
                <a:solidFill>
                  <a:srgbClr val="0070C0"/>
                </a:solidFill>
                <a:cs typeface="+mn-ea"/>
                <a:sym typeface="+mn-ea"/>
              </a:rPr>
              <a:t>局部置换：</a:t>
            </a:r>
            <a:endParaRPr lang="zh-CN" altLang="en-US" sz="2140" b="1" dirty="0" smtClean="0">
              <a:solidFill>
                <a:srgbClr val="0070C0"/>
              </a:solidFill>
              <a:cs typeface="+mn-ea"/>
              <a:sym typeface="+mn-ea"/>
            </a:endParaRPr>
          </a:p>
          <a:p>
            <a:pPr lvl="2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830" dirty="0">
                <a:sym typeface="+mn-ea"/>
              </a:rPr>
              <a:t>在该进程的驻留集内部进行</a:t>
            </a:r>
            <a:r>
              <a:rPr lang="zh-CN" altLang="en-US" sz="1830" dirty="0">
                <a:sym typeface="+mn-ea"/>
              </a:rPr>
              <a:t>置换</a:t>
            </a:r>
            <a:r>
              <a:rPr lang="zh-CN" altLang="en-US" sz="1830" dirty="0" smtClean="0">
                <a:sym typeface="+mn-ea"/>
              </a:rPr>
              <a:t>。</a:t>
            </a:r>
            <a:endParaRPr lang="zh-CN" altLang="en-US" sz="1830" dirty="0" smtClean="0">
              <a:sym typeface="+mn-ea"/>
            </a:endParaRPr>
          </a:p>
          <a:p>
            <a:pPr lvl="2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830" dirty="0" smtClean="0">
                <a:sym typeface="+mn-ea"/>
              </a:rPr>
              <a:t>能</a:t>
            </a:r>
            <a:r>
              <a:rPr lang="zh-CN" altLang="en-US" sz="1830" b="0" dirty="0"/>
              <a:t>减少进程间干扰，简化页面分配策略</a:t>
            </a:r>
            <a:endParaRPr lang="zh-CN" altLang="en-US" sz="1830" b="0" dirty="0"/>
          </a:p>
          <a:p>
            <a:pPr lvl="2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83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最优算法（理想化模型）、先进先出算法（</a:t>
            </a:r>
            <a:r>
              <a:rPr lang="en-US" altLang="zh-CN" sz="183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  <a:r>
              <a:rPr lang="zh-CN" altLang="en-US" sz="183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）、最近最久未使用算法（</a:t>
            </a:r>
            <a:r>
              <a:rPr lang="en-US" altLang="zh-CN" sz="183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LRU</a:t>
            </a:r>
            <a:r>
              <a:rPr lang="zh-CN" altLang="en-US" sz="183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）、</a:t>
            </a:r>
            <a:r>
              <a:rPr lang="en-US" altLang="zh-CN" sz="183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</a:t>
            </a:r>
            <a:r>
              <a:rPr lang="zh-CN" altLang="en-US" sz="183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endParaRPr lang="zh-CN" altLang="en-US" sz="183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  <a:defRPr/>
            </a:pPr>
            <a:endParaRPr lang="zh-CN" altLang="en-US" sz="1800" b="1" dirty="0" smtClean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>
                <a:solidFill>
                  <a:schemeClr val="tx1"/>
                </a:solidFill>
                <a:sym typeface="+mn-ea"/>
              </a:rPr>
              <a:t>支持虚拟内存的操作系统机制</a:t>
            </a:r>
            <a:endParaRPr lang="zh-CN" altLang="en-US" b="1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735" y="1845310"/>
            <a:ext cx="7645718" cy="4797742"/>
          </a:xfrm>
          <a:prstGeom prst="rect">
            <a:avLst/>
          </a:prstGeom>
        </p:spPr>
      </p:pic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65860"/>
            <a:ext cx="8325485" cy="4526280"/>
          </a:xfrm>
        </p:spPr>
        <p:txBody>
          <a:bodyPr/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置换</a:t>
            </a: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算法</a:t>
            </a:r>
            <a:endParaRPr lang="zh-CN" altLang="en-US" sz="2400" b="1" dirty="0" smtClean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1"/>
                </a:solidFill>
                <a:sym typeface="+mn-ea"/>
              </a:rPr>
              <a:t>支持虚拟内存的操作系统机制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55650" y="1557020"/>
            <a:ext cx="7325360" cy="440944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>
                <a:solidFill>
                  <a:schemeClr val="tx1"/>
                </a:solidFill>
                <a:sym typeface="+mn-ea"/>
              </a:rPr>
              <a:t>支持虚拟内存的操作系统机制</a:t>
            </a:r>
            <a:endParaRPr lang="zh-CN" altLang="en-US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65860"/>
            <a:ext cx="8325485" cy="4526280"/>
          </a:xfrm>
        </p:spPr>
        <p:txBody>
          <a:bodyPr/>
          <a:p>
            <a:pPr lv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LRU是公认的很好的页置换算法，怎么实现?</a:t>
            </a:r>
            <a:endParaRPr lang="zh-CN" altLang="en-US" sz="2400" b="1" dirty="0" smtClean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  <a:defRPr/>
            </a:pPr>
            <a:r>
              <a:rPr lang="zh-CN" altLang="en-US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解决方法</a:t>
            </a: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：维护一个时间戳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1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time stamp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，即计数器。每次页引用时，计数器加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，并将该值复制到相应页表项中。当需要置换页时，选则计数值最小的页。</a:t>
            </a:r>
            <a:endParaRPr lang="zh-CN" altLang="en-US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  <a:defRPr/>
            </a:pPr>
            <a:r>
              <a:rPr lang="zh-CN" altLang="en-US" sz="2100" b="1">
                <a:solidFill>
                  <a:srgbClr val="0070C0"/>
                </a:solidFill>
                <a:sym typeface="+mn-ea"/>
              </a:rPr>
              <a:t>存在的问题</a:t>
            </a:r>
            <a:r>
              <a:rPr lang="zh-CN" altLang="en-US" sz="2100" b="1">
                <a:sym typeface="+mn-ea"/>
              </a:rPr>
              <a:t>：每次地址访问都需要修改时间戳，需维护一个全局时钟</a:t>
            </a:r>
            <a:r>
              <a:rPr lang="en-US" altLang="zh-CN" sz="2100" b="1">
                <a:sym typeface="+mn-ea"/>
              </a:rPr>
              <a:t>(</a:t>
            </a:r>
            <a:r>
              <a:rPr lang="zh-CN" altLang="en-US" sz="2100" b="1">
                <a:sym typeface="+mn-ea"/>
              </a:rPr>
              <a:t>该时钟溢出怎么办</a:t>
            </a:r>
            <a:r>
              <a:rPr lang="en-US" altLang="zh-CN" sz="2100" b="1">
                <a:sym typeface="+mn-ea"/>
              </a:rPr>
              <a:t>?)</a:t>
            </a:r>
            <a:r>
              <a:rPr lang="zh-CN" altLang="en-US" sz="2100" b="1">
                <a:sym typeface="+mn-ea"/>
              </a:rPr>
              <a:t>，</a:t>
            </a:r>
            <a:r>
              <a:rPr lang="zh-CN" altLang="en-US" sz="2100" b="1">
                <a:solidFill>
                  <a:srgbClr val="FF0000"/>
                </a:solidFill>
                <a:sym typeface="+mn-ea"/>
              </a:rPr>
              <a:t>需要找到最小值</a:t>
            </a:r>
            <a:r>
              <a:rPr lang="zh-CN" altLang="en-US" sz="2100" b="1">
                <a:sym typeface="+mn-ea"/>
              </a:rPr>
              <a:t>  </a:t>
            </a:r>
            <a:r>
              <a:rPr lang="en-US" altLang="zh-CN" sz="2100" b="1">
                <a:sym typeface="+mn-ea"/>
              </a:rPr>
              <a:t>… </a:t>
            </a:r>
            <a:r>
              <a:rPr lang="zh-CN" altLang="en-US" sz="2100" b="1">
                <a:sym typeface="+mn-ea"/>
              </a:rPr>
              <a:t>这样的实现代价较大。</a:t>
            </a:r>
            <a:endParaRPr lang="zh-CN" altLang="en-US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  <a:defRPr/>
            </a:pPr>
            <a:r>
              <a:rPr lang="zh-CN" altLang="en-US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解决方法</a:t>
            </a: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建立一个容量为有效页框数的页码栈。每当引用一个页时，该页号就从栈中上升到栈的顶部，栈底为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LRU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页。当需要置换页时，直接置换栈底页即可</a:t>
            </a:r>
            <a:endParaRPr lang="zh-CN" altLang="en-US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  <a:defRPr/>
            </a:pPr>
            <a:r>
              <a:rPr lang="zh-CN" altLang="en-US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存在的问题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21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每次地址访问都需要</a:t>
            </a:r>
            <a:r>
              <a:rPr lang="zh-CN" altLang="en-US" sz="21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修改栈，实现</a:t>
            </a:r>
            <a:r>
              <a:rPr lang="zh-CN" altLang="en-US" sz="21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代价仍然较大 </a:t>
            </a:r>
            <a:endParaRPr lang="zh-CN" altLang="en-US" sz="21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lvl="1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en-US" altLang="zh-CN" sz="21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LRU</a:t>
            </a:r>
            <a:r>
              <a:rPr lang="zh-CN" altLang="en-US" sz="21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准确，能更好地逼近</a:t>
            </a:r>
            <a:r>
              <a:rPr lang="en-US" altLang="zh-CN" sz="21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OPT</a:t>
            </a:r>
            <a:r>
              <a:rPr lang="zh-CN" altLang="en-US" sz="21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，但现实世界，用的非常少</a:t>
            </a:r>
            <a:endParaRPr lang="zh-CN" altLang="zh-CN" sz="21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lvl="1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endParaRPr lang="zh-CN" altLang="en-US" sz="2100" b="1" dirty="0" smtClean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>
                <a:solidFill>
                  <a:schemeClr val="tx1"/>
                </a:solidFill>
                <a:sym typeface="+mn-ea"/>
              </a:rPr>
              <a:t>支持虚拟内存的操作系统机制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360" y="1485265"/>
            <a:ext cx="8016875" cy="4526280"/>
          </a:xfrm>
        </p:spPr>
        <p:txBody>
          <a:bodyPr/>
          <a:p>
            <a:pPr marL="57150" lvl="1" indent="-342900">
              <a:buFont typeface="Wingdings" panose="05000000000000000000" charset="0"/>
              <a:buChar char="n"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CLOCK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LRU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的近似实现</a:t>
            </a:r>
            <a:endParaRPr lang="zh-CN" altLang="zh-CN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latinLnBrk="0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charset="0"/>
              <a:buChar char="ü"/>
            </a:pPr>
            <a:r>
              <a:rPr lang="zh-CN" altLang="en-US" sz="2000" b="1" dirty="0">
                <a:sym typeface="+mn-ea"/>
              </a:rPr>
              <a:t>将可用页框按顺序组成环形队列，</a:t>
            </a:r>
            <a:r>
              <a:rPr lang="zh-CN" altLang="en-US" sz="2000" b="1" dirty="0">
                <a:sym typeface="+mn-ea"/>
              </a:rPr>
              <a:t>使用位初始置</a:t>
            </a:r>
            <a:r>
              <a:rPr lang="en-US" altLang="zh-CN" sz="2000" b="1" dirty="0">
                <a:sym typeface="+mn-ea"/>
              </a:rPr>
              <a:t>0</a:t>
            </a:r>
            <a:r>
              <a:rPr lang="zh-CN" altLang="en-US" sz="2000" b="1" dirty="0">
                <a:sym typeface="+mn-ea"/>
              </a:rPr>
              <a:t>，并置指针初始位置；</a:t>
            </a:r>
            <a:endParaRPr lang="zh-CN" altLang="en-US" sz="2000" b="1" dirty="0"/>
          </a:p>
          <a:p>
            <a:pPr lvl="1" eaLnBrk="1" latinLnBrk="0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charset="0"/>
              <a:buChar char="ü"/>
            </a:pP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缺页</a:t>
            </a:r>
            <a:r>
              <a:rPr lang="zh-CN" alt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时</a:t>
            </a:r>
            <a:r>
              <a:rPr lang="zh-CN" altLang="en-US" sz="2000" b="1" dirty="0" smtClean="0">
                <a:sym typeface="+mn-ea"/>
              </a:rPr>
              <a:t>从</a:t>
            </a:r>
            <a:r>
              <a:rPr lang="zh-CN" altLang="en-US" sz="2000" b="1" dirty="0">
                <a:sym typeface="+mn-ea"/>
              </a:rPr>
              <a:t>指针位置扫描使用位，将</a:t>
            </a:r>
            <a:r>
              <a:rPr lang="en-US" altLang="zh-CN" sz="2000" b="1" dirty="0">
                <a:sym typeface="+mn-ea"/>
              </a:rPr>
              <a:t>1</a:t>
            </a:r>
            <a:r>
              <a:rPr lang="zh-CN" altLang="en-US" sz="2000" b="1" dirty="0">
                <a:sym typeface="+mn-ea"/>
              </a:rPr>
              <a:t>变</a:t>
            </a:r>
            <a:r>
              <a:rPr lang="en-US" altLang="zh-CN" sz="2000" b="1" dirty="0">
                <a:sym typeface="+mn-ea"/>
              </a:rPr>
              <a:t>0</a:t>
            </a:r>
            <a:r>
              <a:rPr lang="zh-CN" altLang="en-US" sz="2000" b="1" dirty="0">
                <a:sym typeface="+mn-ea"/>
              </a:rPr>
              <a:t>，直到找到</a:t>
            </a:r>
            <a:r>
              <a:rPr lang="zh-CN" altLang="en-US" sz="2000" b="1" dirty="0">
                <a:sym typeface="+mn-ea"/>
              </a:rPr>
              <a:t>使用位为</a:t>
            </a:r>
            <a:r>
              <a:rPr lang="en-US" altLang="zh-CN" sz="2000" b="1" dirty="0">
                <a:sym typeface="+mn-ea"/>
              </a:rPr>
              <a:t>0</a:t>
            </a:r>
            <a:r>
              <a:rPr lang="zh-CN" altLang="en-US" sz="2000" b="1" dirty="0">
                <a:sym typeface="+mn-ea"/>
              </a:rPr>
              <a:t>的页；</a:t>
            </a:r>
            <a:endParaRPr lang="zh-CN" altLang="en-US" sz="2000" b="1" dirty="0"/>
          </a:p>
          <a:p>
            <a:pPr lvl="1" eaLnBrk="1" latinLnBrk="0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charset="0"/>
              <a:buChar char="ü"/>
            </a:pPr>
            <a:r>
              <a:rPr lang="zh-CN" altLang="en-US" sz="2000" b="1" dirty="0" smtClean="0">
                <a:sym typeface="+mn-ea"/>
              </a:rPr>
              <a:t>当为某页初始分配页</a:t>
            </a:r>
            <a:r>
              <a:rPr lang="zh-CN" altLang="en-US" sz="2000" b="1" dirty="0">
                <a:sym typeface="+mn-ea"/>
              </a:rPr>
              <a:t>框，或页被替换</a:t>
            </a:r>
            <a:r>
              <a:rPr lang="zh-CN" altLang="en-US" sz="2000" b="1" dirty="0" smtClean="0">
                <a:sym typeface="+mn-ea"/>
              </a:rPr>
              <a:t>，使用位置</a:t>
            </a:r>
            <a:r>
              <a:rPr lang="en-US" altLang="zh-CN" sz="2000" b="1" dirty="0" smtClean="0">
                <a:sym typeface="+mn-ea"/>
              </a:rPr>
              <a:t>1</a:t>
            </a:r>
            <a:r>
              <a:rPr lang="zh-CN" altLang="en-US" sz="2000" b="1" dirty="0" smtClean="0">
                <a:sym typeface="+mn-ea"/>
              </a:rPr>
              <a:t>，</a:t>
            </a:r>
            <a:r>
              <a:rPr lang="zh-CN" altLang="en-US" sz="2000" b="1" dirty="0">
                <a:sym typeface="+mn-ea"/>
              </a:rPr>
              <a:t>且指针移到</a:t>
            </a:r>
            <a:r>
              <a:rPr lang="zh-CN" altLang="en-US" sz="2000" b="1" dirty="0">
                <a:sym typeface="+mn-ea"/>
              </a:rPr>
              <a:t>下一页</a:t>
            </a:r>
            <a:r>
              <a:rPr lang="zh-CN" altLang="en-US" sz="2000" dirty="0">
                <a:sym typeface="+mn-ea"/>
              </a:rPr>
              <a:t>。</a:t>
            </a:r>
            <a:endParaRPr lang="zh-CN" altLang="en-US" sz="2000" dirty="0">
              <a:sym typeface="+mn-ea"/>
            </a:endParaRPr>
          </a:p>
          <a:p>
            <a:pPr lvl="1" eaLnBrk="1" latinLnBrk="0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charset="0"/>
              <a:buChar char="ü"/>
            </a:pPr>
            <a:r>
              <a:rPr lang="zh-CN" altLang="en-US" sz="2000" b="1">
                <a:solidFill>
                  <a:srgbClr val="FF0000"/>
                </a:solidFill>
              </a:rPr>
              <a:t>访问时</a:t>
            </a:r>
            <a:r>
              <a:rPr lang="zh-CN" altLang="en-US" sz="2000" b="1"/>
              <a:t>，使用位置</a:t>
            </a:r>
            <a:r>
              <a:rPr lang="en-US" altLang="zh-CN" sz="2000" b="1"/>
              <a:t>1</a:t>
            </a:r>
            <a:r>
              <a:rPr lang="zh-CN" altLang="en-US" sz="2000"/>
              <a:t>。</a:t>
            </a:r>
            <a:endParaRPr lang="zh-CN" altLang="en-US" sz="200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876040" y="4344670"/>
          <a:ext cx="4083050" cy="2421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" imgW="5443855" imgH="3228975" progId="Paint.Picture">
                  <p:embed/>
                </p:oleObj>
              </mc:Choice>
              <mc:Fallback>
                <p:oleObj name="" r:id="rId1" imgW="5443855" imgH="3228975" progId="Paint.Picture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76040" y="4344670"/>
                        <a:ext cx="4083050" cy="24218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>
                <a:solidFill>
                  <a:schemeClr val="tx1"/>
                </a:solidFill>
                <a:sym typeface="+mn-ea"/>
              </a:rPr>
              <a:t>支持虚拟内存的操作系统机制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360" y="1485265"/>
            <a:ext cx="8016875" cy="4526280"/>
          </a:xfrm>
        </p:spPr>
        <p:txBody>
          <a:bodyPr/>
          <a:p>
            <a:pPr marL="57150" lvl="1" indent="-342900">
              <a:buFont typeface="Wingdings" panose="05000000000000000000" charset="0"/>
              <a:buChar char="n"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改进的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CLOCK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算法</a:t>
            </a:r>
            <a:endParaRPr lang="zh-CN" altLang="zh-CN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600"/>
              </a:spcBef>
              <a:buClrTx/>
              <a:buSzTx/>
              <a:buFont typeface="Wingdings" panose="05000000000000000000" charset="0"/>
              <a:buChar char="ü"/>
            </a:pPr>
            <a:r>
              <a:rPr lang="zh-CN" altLang="en-US" sz="2000" b="1" dirty="0">
                <a:sym typeface="+mn-ea"/>
              </a:rPr>
              <a:t>如果页被修改过，置换它需要将其写回磁盘，代价</a:t>
            </a:r>
            <a:r>
              <a:rPr lang="zh-CN" altLang="en-US" sz="2000" b="1" dirty="0">
                <a:sym typeface="+mn-ea"/>
              </a:rPr>
              <a:t>较大</a:t>
            </a:r>
            <a:endParaRPr lang="zh-CN" altLang="en-US" sz="2000" b="1" dirty="0">
              <a:sym typeface="+mn-ea"/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600"/>
              </a:spcBef>
              <a:buClrTx/>
              <a:buSzTx/>
              <a:buFont typeface="Wingdings" panose="05000000000000000000" charset="0"/>
              <a:buChar char="ü"/>
            </a:pPr>
            <a:r>
              <a:rPr lang="zh-CN" altLang="en-US" sz="2000" b="1" dirty="0">
                <a:sym typeface="+mn-ea"/>
              </a:rPr>
              <a:t>换出时考虑</a:t>
            </a:r>
            <a:r>
              <a:rPr lang="zh-CN" altLang="en-US" sz="2000" b="1" dirty="0">
                <a:solidFill>
                  <a:srgbClr val="0070C0"/>
                </a:solidFill>
                <a:sym typeface="+mn-ea"/>
              </a:rPr>
              <a:t>修改位</a:t>
            </a:r>
            <a:r>
              <a:rPr lang="en-US" altLang="zh-CN" sz="2000" b="1" dirty="0">
                <a:solidFill>
                  <a:srgbClr val="0070C0"/>
                </a:solidFill>
                <a:sym typeface="+mn-ea"/>
              </a:rPr>
              <a:t>M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，</a:t>
            </a:r>
            <a:r>
              <a:rPr lang="zh-CN" altLang="en-US" sz="2000" b="1" dirty="0">
                <a:sym typeface="+mn-ea"/>
              </a:rPr>
              <a:t>优先考虑既未使用又未修改的</a:t>
            </a:r>
            <a:r>
              <a:rPr lang="zh-CN" altLang="en-US" sz="2000" b="1" dirty="0">
                <a:sym typeface="+mn-ea"/>
              </a:rPr>
              <a:t>页</a:t>
            </a:r>
            <a:endParaRPr lang="zh-CN" altLang="en-US" sz="2000" b="1" dirty="0">
              <a:sym typeface="+mn-ea"/>
            </a:endParaRPr>
          </a:p>
          <a:p>
            <a:pPr lvl="2" eaLnBrk="1" latinLnBrk="0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710" b="1" dirty="0">
                <a:sym typeface="+mn-ea"/>
              </a:rPr>
              <a:t>最佳：</a:t>
            </a:r>
            <a:r>
              <a:rPr lang="en-US" altLang="zh-CN" sz="1710" b="1" dirty="0">
                <a:sym typeface="+mn-ea"/>
              </a:rPr>
              <a:t>   A=0</a:t>
            </a:r>
            <a:r>
              <a:rPr lang="zh-CN" altLang="en-US" sz="1710" b="1" dirty="0">
                <a:sym typeface="+mn-ea"/>
              </a:rPr>
              <a:t>，</a:t>
            </a:r>
            <a:r>
              <a:rPr lang="en-US" altLang="zh-CN" sz="1710" b="1" dirty="0">
                <a:sym typeface="+mn-ea"/>
              </a:rPr>
              <a:t>M=0</a:t>
            </a:r>
            <a:endParaRPr lang="en-US" altLang="zh-CN" sz="1710" b="1" dirty="0">
              <a:sym typeface="+mn-ea"/>
            </a:endParaRPr>
          </a:p>
          <a:p>
            <a:pPr lvl="2" eaLnBrk="1" latinLnBrk="0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710" b="1" dirty="0">
                <a:sym typeface="+mn-ea"/>
              </a:rPr>
              <a:t>次佳：</a:t>
            </a:r>
            <a:r>
              <a:rPr lang="en-US" altLang="zh-CN" sz="1710" b="1" dirty="0">
                <a:sym typeface="+mn-ea"/>
              </a:rPr>
              <a:t>   A=0</a:t>
            </a:r>
            <a:r>
              <a:rPr lang="zh-CN" altLang="en-US" sz="1710" b="1" dirty="0">
                <a:sym typeface="+mn-ea"/>
              </a:rPr>
              <a:t>，</a:t>
            </a:r>
            <a:r>
              <a:rPr lang="en-US" altLang="zh-CN" sz="1710" b="1" dirty="0">
                <a:sym typeface="+mn-ea"/>
              </a:rPr>
              <a:t>M=1</a:t>
            </a:r>
            <a:endParaRPr lang="en-US" altLang="zh-CN" sz="1710" b="1" dirty="0">
              <a:sym typeface="+mn-ea"/>
            </a:endParaRPr>
          </a:p>
          <a:p>
            <a:pPr lvl="2" eaLnBrk="1" latinLnBrk="0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710" b="1" dirty="0">
                <a:sym typeface="+mn-ea"/>
              </a:rPr>
              <a:t>第三</a:t>
            </a:r>
            <a:r>
              <a:rPr lang="zh-CN" altLang="en-US" sz="1710" b="1" dirty="0">
                <a:sym typeface="+mn-ea"/>
              </a:rPr>
              <a:t>类：</a:t>
            </a:r>
            <a:r>
              <a:rPr lang="en-US" altLang="zh-CN" sz="1710" b="1" dirty="0">
                <a:sym typeface="+mn-ea"/>
              </a:rPr>
              <a:t>A=1</a:t>
            </a:r>
            <a:r>
              <a:rPr lang="zh-CN" altLang="en-US" sz="1710" b="1" dirty="0">
                <a:sym typeface="+mn-ea"/>
              </a:rPr>
              <a:t>，</a:t>
            </a:r>
            <a:r>
              <a:rPr lang="en-US" altLang="zh-CN" sz="1710" b="1" dirty="0">
                <a:sym typeface="+mn-ea"/>
              </a:rPr>
              <a:t>M=0</a:t>
            </a:r>
            <a:endParaRPr lang="en-US" altLang="zh-CN" sz="1710" b="1" dirty="0">
              <a:sym typeface="+mn-ea"/>
            </a:endParaRPr>
          </a:p>
          <a:p>
            <a:pPr lvl="2" eaLnBrk="1" latinLnBrk="0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710" b="1" dirty="0">
                <a:sym typeface="+mn-ea"/>
              </a:rPr>
              <a:t>第四</a:t>
            </a:r>
            <a:r>
              <a:rPr lang="zh-CN" altLang="en-US" sz="1710" b="1" dirty="0">
                <a:sym typeface="+mn-ea"/>
              </a:rPr>
              <a:t>类：</a:t>
            </a:r>
            <a:r>
              <a:rPr lang="en-US" altLang="zh-CN" sz="1710" b="1" dirty="0">
                <a:sym typeface="+mn-ea"/>
              </a:rPr>
              <a:t>A=1</a:t>
            </a:r>
            <a:r>
              <a:rPr lang="zh-CN" altLang="en-US" sz="1710" b="1" dirty="0">
                <a:sym typeface="+mn-ea"/>
              </a:rPr>
              <a:t>，</a:t>
            </a:r>
            <a:r>
              <a:rPr lang="en-US" altLang="zh-CN" sz="1710" b="1" dirty="0">
                <a:sym typeface="+mn-ea"/>
              </a:rPr>
              <a:t>M=1</a:t>
            </a:r>
            <a:endParaRPr lang="en-US" altLang="zh-CN" sz="1710" b="1" dirty="0">
              <a:sym typeface="+mn-ea"/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600"/>
              </a:spcBef>
              <a:buClrTx/>
              <a:buSzTx/>
              <a:buFont typeface="Wingdings" panose="05000000000000000000" charset="0"/>
              <a:buChar char="ü"/>
            </a:pP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缺页</a:t>
            </a:r>
            <a:r>
              <a:rPr lang="zh-CN" altLang="en-US" sz="2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时</a:t>
            </a:r>
            <a:endParaRPr lang="zh-CN" altLang="en-US" sz="2000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2" eaLnBrk="1" latinLnBrk="0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710" b="1" dirty="0" smtClean="0">
                <a:sym typeface="+mn-ea"/>
              </a:rPr>
              <a:t>从</a:t>
            </a:r>
            <a:r>
              <a:rPr lang="zh-CN" altLang="en-US" sz="1710" b="1" dirty="0">
                <a:sym typeface="+mn-ea"/>
              </a:rPr>
              <a:t>指针位置扫描，寻找最佳淘汰页，在这一轮不改变使用位；</a:t>
            </a:r>
            <a:endParaRPr lang="zh-CN" altLang="en-US" sz="1710" b="1" dirty="0">
              <a:sym typeface="+mn-ea"/>
            </a:endParaRPr>
          </a:p>
          <a:p>
            <a:pPr lvl="2" eaLnBrk="1" latinLnBrk="0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710" b="1" dirty="0">
                <a:sym typeface="+mn-ea"/>
              </a:rPr>
              <a:t>若上一轮失败，进行第二轮扫描，寻找次佳淘汰页，扫描期间将使用位都置</a:t>
            </a:r>
            <a:r>
              <a:rPr lang="en-US" altLang="zh-CN" sz="1710" b="1" dirty="0">
                <a:sym typeface="+mn-ea"/>
              </a:rPr>
              <a:t>0</a:t>
            </a:r>
            <a:endParaRPr lang="en-US" altLang="zh-CN" sz="1710" b="1" dirty="0">
              <a:sym typeface="+mn-ea"/>
            </a:endParaRPr>
          </a:p>
          <a:p>
            <a:pPr lvl="2" eaLnBrk="1" latinLnBrk="0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710" b="1" dirty="0">
                <a:sym typeface="+mn-ea"/>
              </a:rPr>
              <a:t>若第二轮也失败，指针回到开始的位置，重新开始第一轮扫描。</a:t>
            </a:r>
            <a:endParaRPr lang="zh-CN" altLang="en-US" sz="1710" b="1" dirty="0"/>
          </a:p>
          <a:p>
            <a:pPr lvl="1" eaLnBrk="1" latinLnBrk="0" hangingPunct="1">
              <a:lnSpc>
                <a:spcPct val="120000"/>
              </a:lnSpc>
              <a:spcBef>
                <a:spcPts val="600"/>
              </a:spcBef>
              <a:buClrTx/>
              <a:buSzTx/>
              <a:buFont typeface="Wingdings" panose="05000000000000000000" charset="0"/>
              <a:buChar char="ü"/>
            </a:pPr>
            <a:r>
              <a:rPr lang="zh-CN" altLang="en-US" sz="2000" b="1" dirty="0" smtClean="0">
                <a:sym typeface="+mn-ea"/>
              </a:rPr>
              <a:t>可以减少磁盘</a:t>
            </a:r>
            <a:r>
              <a:rPr lang="en-US" altLang="zh-CN" sz="2000" b="1" dirty="0" smtClean="0">
                <a:sym typeface="+mn-ea"/>
              </a:rPr>
              <a:t>I/O</a:t>
            </a:r>
            <a:r>
              <a:rPr lang="zh-CN" altLang="en-US" sz="2000" b="1" dirty="0" smtClean="0">
                <a:sym typeface="+mn-ea"/>
              </a:rPr>
              <a:t>操作</a:t>
            </a:r>
            <a:r>
              <a:rPr lang="zh-CN" altLang="en-US" sz="2000" b="1" dirty="0" smtClean="0">
                <a:sym typeface="+mn-ea"/>
              </a:rPr>
              <a:t>次数。</a:t>
            </a:r>
            <a:endParaRPr lang="zh-CN" altLang="en-US" sz="2000" b="1" dirty="0" smtClean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>
                <a:solidFill>
                  <a:schemeClr val="tx1"/>
                </a:solidFill>
                <a:sym typeface="+mn-ea"/>
              </a:rPr>
              <a:t>支持虚拟内存的操作系统机制</a:t>
            </a:r>
            <a:endParaRPr lang="zh-CN" altLang="en-US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596390"/>
            <a:ext cx="8325485" cy="4526280"/>
          </a:xfrm>
        </p:spPr>
        <p:txBody>
          <a:bodyPr/>
          <a:p>
            <a:pPr lv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400" b="1" dirty="0" smtClean="0">
                <a:solidFill>
                  <a:srgbClr val="0070C0"/>
                </a:solidFill>
                <a:sym typeface="+mn-ea"/>
              </a:rPr>
              <a:t>请求调页系统</a:t>
            </a:r>
            <a:r>
              <a:rPr lang="zh-CN" altLang="en-US" sz="2400" b="1" dirty="0">
                <a:solidFill>
                  <a:srgbClr val="0070C0"/>
                </a:solidFill>
                <a:sym typeface="+mn-ea"/>
              </a:rPr>
              <a:t>中</a:t>
            </a:r>
            <a:r>
              <a:rPr lang="zh-CN" altLang="en-US" sz="2400" b="1" dirty="0" smtClean="0">
                <a:solidFill>
                  <a:srgbClr val="0070C0"/>
                </a:solidFill>
                <a:sym typeface="+mn-ea"/>
              </a:rPr>
              <a:t>的外存分为</a:t>
            </a:r>
            <a:r>
              <a:rPr lang="zh-CN" altLang="en-US" sz="2400" b="1" dirty="0" smtClean="0">
                <a:sym typeface="+mn-ea"/>
              </a:rPr>
              <a:t>：</a:t>
            </a:r>
            <a:endParaRPr lang="zh-CN" altLang="en-US" sz="2400" b="1" dirty="0" smtClean="0">
              <a:sym typeface="+mn-ea"/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100" b="1" dirty="0" smtClean="0">
                <a:sym typeface="+mn-ea"/>
              </a:rPr>
              <a:t>存放（可执行）文件</a:t>
            </a:r>
            <a:r>
              <a:rPr lang="zh-CN" altLang="en-US" sz="2100" b="1" dirty="0">
                <a:sym typeface="+mn-ea"/>
              </a:rPr>
              <a:t>的</a:t>
            </a:r>
            <a:r>
              <a:rPr lang="zh-CN" altLang="en-US" sz="2100" b="1" dirty="0">
                <a:solidFill>
                  <a:srgbClr val="0070C0"/>
                </a:solidFill>
                <a:sym typeface="+mn-ea"/>
              </a:rPr>
              <a:t>文件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区</a:t>
            </a:r>
            <a:r>
              <a:rPr lang="zh-CN" altLang="en-US" sz="2100" b="1" dirty="0" smtClean="0">
                <a:sym typeface="+mn-ea"/>
              </a:rPr>
              <a:t>（原始存放位置）</a:t>
            </a:r>
            <a:endParaRPr lang="zh-CN" altLang="en-US" sz="2100" b="1" dirty="0" smtClean="0">
              <a:sym typeface="+mn-ea"/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100" b="1" dirty="0" smtClean="0">
                <a:sym typeface="+mn-ea"/>
              </a:rPr>
              <a:t>存放交换页</a:t>
            </a:r>
            <a:r>
              <a:rPr lang="zh-CN" altLang="en-US" sz="2100" b="1" dirty="0">
                <a:sym typeface="+mn-ea"/>
              </a:rPr>
              <a:t>面</a:t>
            </a:r>
            <a:r>
              <a:rPr lang="zh-CN" altLang="en-US" sz="2100" b="1" dirty="0" smtClean="0">
                <a:sym typeface="+mn-ea"/>
              </a:rPr>
              <a:t>的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交换</a:t>
            </a:r>
            <a:r>
              <a:rPr lang="zh-CN" altLang="en-US" sz="2100" b="1" dirty="0">
                <a:solidFill>
                  <a:srgbClr val="0070C0"/>
                </a:solidFill>
                <a:sym typeface="+mn-ea"/>
              </a:rPr>
              <a:t>区</a:t>
            </a:r>
            <a:endParaRPr lang="zh-CN" altLang="en-US" sz="2100" b="1" dirty="0">
              <a:solidFill>
                <a:srgbClr val="33CC33"/>
              </a:solidFill>
              <a:sym typeface="+mn-ea"/>
            </a:endParaRPr>
          </a:p>
          <a:p>
            <a:pPr lv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交换区</a:t>
            </a:r>
            <a:endParaRPr lang="zh-CN" altLang="en-US" sz="2400" b="1" dirty="0" smtClean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基于文件系统</a:t>
            </a:r>
            <a:r>
              <a:rPr lang="zh-CN" altLang="en-US" sz="2100" b="1" dirty="0" smtClean="0">
                <a:sym typeface="+mn-ea"/>
              </a:rPr>
              <a:t>：</a:t>
            </a:r>
            <a:r>
              <a:rPr lang="en-US" altLang="zh-CN" sz="2100" b="1" dirty="0" smtClean="0">
                <a:sym typeface="+mn-ea"/>
              </a:rPr>
              <a:t>windows</a:t>
            </a:r>
            <a:r>
              <a:rPr lang="zh-CN" altLang="en-US" sz="2100" b="1" dirty="0" smtClean="0">
                <a:sym typeface="+mn-ea"/>
              </a:rPr>
              <a:t>中</a:t>
            </a:r>
            <a:r>
              <a:rPr lang="en-US" altLang="zh-CN" sz="2100" b="1" dirty="0" smtClean="0">
                <a:sym typeface="+mn-ea"/>
              </a:rPr>
              <a:t>pagefile.sys</a:t>
            </a:r>
            <a:r>
              <a:rPr lang="zh-CN" altLang="en-US" sz="2100" b="1" dirty="0" smtClean="0">
                <a:sym typeface="+mn-ea"/>
              </a:rPr>
              <a:t>文件</a:t>
            </a:r>
            <a:endParaRPr lang="zh-CN" altLang="en-US" sz="2100" b="1" dirty="0" smtClean="0">
              <a:sym typeface="+mn-ea"/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独立的磁盘分区</a:t>
            </a:r>
            <a:r>
              <a:rPr lang="en-US" altLang="zh-CN" sz="21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—</a:t>
            </a:r>
            <a:r>
              <a:rPr lang="zh-CN" altLang="en-US" sz="21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生磁盘（</a:t>
            </a:r>
            <a:r>
              <a:rPr lang="en-US" altLang="zh-CN" sz="21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RAW</a:t>
            </a:r>
            <a:r>
              <a:rPr lang="zh-CN" altLang="en-US" sz="21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），不需要文件系统和目录结构，如</a:t>
            </a:r>
            <a:r>
              <a:rPr lang="en-US" altLang="zh-CN" sz="21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linux</a:t>
            </a:r>
            <a:r>
              <a:rPr lang="zh-CN" altLang="en-US" sz="21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中的</a:t>
            </a:r>
            <a:r>
              <a:rPr lang="en-US" altLang="zh-CN" sz="21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swap</a:t>
            </a:r>
            <a:r>
              <a:rPr lang="zh-CN" altLang="en-US" sz="21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分区</a:t>
            </a:r>
            <a:endParaRPr lang="zh-CN" alt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endParaRPr lang="zh-CN" altLang="en-US" sz="2100" b="1" dirty="0" smtClean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>
                <a:solidFill>
                  <a:schemeClr val="tx1"/>
                </a:solidFill>
                <a:sym typeface="+mn-ea"/>
              </a:rPr>
              <a:t>支持虚拟内存的操作系统机制</a:t>
            </a:r>
            <a:endParaRPr lang="zh-CN" altLang="en-US" b="1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14712" y="1448418"/>
            <a:ext cx="6828957" cy="51260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>
                <a:solidFill>
                  <a:schemeClr val="tx1"/>
                </a:solidFill>
                <a:sym typeface="+mn-ea"/>
              </a:rPr>
              <a:t>支持虚拟内存的操作系统机制</a:t>
            </a:r>
            <a:endParaRPr lang="zh-CN" altLang="en-US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605" y="1557020"/>
            <a:ext cx="8325485" cy="4526280"/>
          </a:xfrm>
        </p:spPr>
        <p:txBody>
          <a:bodyPr/>
          <a:p>
            <a:pPr lv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页面置换到什么地方?</a:t>
            </a:r>
            <a:endParaRPr lang="zh-CN" altLang="en-US" sz="2100" b="1" dirty="0" smtClean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solidFill>
                  <a:srgbClr val="0070C0"/>
                </a:solidFill>
                <a:sym typeface="+mn-ea"/>
              </a:rPr>
              <a:t>系统拥有足够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的交换</a:t>
            </a:r>
            <a:r>
              <a:rPr lang="zh-CN" altLang="en-US" sz="2100" b="1" dirty="0">
                <a:solidFill>
                  <a:srgbClr val="0070C0"/>
                </a:solidFill>
                <a:sym typeface="+mn-ea"/>
              </a:rPr>
              <a:t>区空间</a:t>
            </a:r>
            <a:r>
              <a:rPr lang="zh-CN" altLang="en-US" sz="2100" dirty="0">
                <a:sym typeface="+mn-ea"/>
              </a:rPr>
              <a:t>：</a:t>
            </a:r>
            <a:r>
              <a:rPr lang="zh-CN" altLang="en-US" sz="2100" b="1" dirty="0">
                <a:sym typeface="+mn-ea"/>
              </a:rPr>
              <a:t>可以全部</a:t>
            </a:r>
            <a:r>
              <a:rPr lang="zh-CN" altLang="en-US" sz="2100" b="1" dirty="0" smtClean="0">
                <a:sym typeface="+mn-ea"/>
              </a:rPr>
              <a:t>从交换</a:t>
            </a:r>
            <a:r>
              <a:rPr lang="zh-CN" altLang="en-US" sz="2100" b="1" dirty="0">
                <a:sym typeface="+mn-ea"/>
              </a:rPr>
              <a:t>区调入所需页面，以提髙调页速度。在进程运行前，需将与该进程有关的文件从文件区复制</a:t>
            </a:r>
            <a:r>
              <a:rPr lang="zh-CN" altLang="en-US" sz="2100" b="1" dirty="0" smtClean="0">
                <a:sym typeface="+mn-ea"/>
              </a:rPr>
              <a:t>到交换</a:t>
            </a:r>
            <a:r>
              <a:rPr lang="zh-CN" altLang="en-US" sz="2100" b="1" dirty="0">
                <a:sym typeface="+mn-ea"/>
              </a:rPr>
              <a:t>区</a:t>
            </a:r>
            <a:r>
              <a:rPr lang="zh-CN" altLang="en-US" sz="2100" dirty="0">
                <a:sym typeface="+mn-ea"/>
              </a:rPr>
              <a:t>。</a:t>
            </a:r>
            <a:endParaRPr lang="zh-CN" altLang="en-US" sz="2100" dirty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solidFill>
                  <a:srgbClr val="0070C0"/>
                </a:solidFill>
                <a:sym typeface="+mn-ea"/>
              </a:rPr>
              <a:t>系统缺少足够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的交换</a:t>
            </a:r>
            <a:r>
              <a:rPr lang="zh-CN" altLang="en-US" sz="2100" b="1" dirty="0">
                <a:solidFill>
                  <a:srgbClr val="0070C0"/>
                </a:solidFill>
                <a:sym typeface="+mn-ea"/>
              </a:rPr>
              <a:t>区空间</a:t>
            </a:r>
            <a:r>
              <a:rPr lang="zh-CN" altLang="en-US" sz="2100" b="1" dirty="0">
                <a:sym typeface="+mn-ea"/>
              </a:rPr>
              <a:t>：凡不会被修改的文件都直接从文件区调入；而当换出这些页面时，由于它们未被修改而不必再将它们换出</a:t>
            </a:r>
            <a:r>
              <a:rPr lang="zh-CN" altLang="en-US" sz="2100" b="1" dirty="0" smtClean="0">
                <a:sym typeface="+mn-ea"/>
              </a:rPr>
              <a:t>。对于可能</a:t>
            </a:r>
            <a:r>
              <a:rPr lang="zh-CN" altLang="en-US" sz="2100" b="1" dirty="0">
                <a:sym typeface="+mn-ea"/>
              </a:rPr>
              <a:t>被修改的部分</a:t>
            </a:r>
            <a:r>
              <a:rPr lang="zh-CN" altLang="en-US" sz="2100" b="1" dirty="0" smtClean="0">
                <a:sym typeface="+mn-ea"/>
              </a:rPr>
              <a:t>，将</a:t>
            </a:r>
            <a:r>
              <a:rPr lang="zh-CN" altLang="en-US" sz="2100" b="1" dirty="0">
                <a:sym typeface="+mn-ea"/>
              </a:rPr>
              <a:t>它们换出时</a:t>
            </a:r>
            <a:r>
              <a:rPr lang="zh-CN" altLang="en-US" sz="2100" b="1" dirty="0" smtClean="0">
                <a:sym typeface="+mn-ea"/>
              </a:rPr>
              <a:t>须放到交换</a:t>
            </a:r>
            <a:r>
              <a:rPr lang="zh-CN" altLang="en-US" sz="2100" b="1" dirty="0">
                <a:sym typeface="+mn-ea"/>
              </a:rPr>
              <a:t>区</a:t>
            </a:r>
            <a:r>
              <a:rPr lang="zh-CN" altLang="en-US" sz="2100" b="1" dirty="0" smtClean="0">
                <a:sym typeface="+mn-ea"/>
              </a:rPr>
              <a:t>，需要</a:t>
            </a:r>
            <a:r>
              <a:rPr lang="zh-CN" altLang="en-US" sz="2100" b="1" dirty="0">
                <a:sym typeface="+mn-ea"/>
              </a:rPr>
              <a:t>时再</a:t>
            </a:r>
            <a:r>
              <a:rPr lang="zh-CN" altLang="en-US" sz="2100" b="1" dirty="0" smtClean="0">
                <a:sym typeface="+mn-ea"/>
              </a:rPr>
              <a:t>从交换</a:t>
            </a:r>
            <a:r>
              <a:rPr lang="zh-CN" altLang="en-US" sz="2100" b="1" dirty="0">
                <a:sym typeface="+mn-ea"/>
              </a:rPr>
              <a:t>区调入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。</a:t>
            </a:r>
            <a:endParaRPr lang="en-US" altLang="zh-CN" sz="21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  <a:defRPr/>
            </a:pPr>
            <a:r>
              <a:rPr lang="en-US" altLang="zh-CN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UNIX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方式</a:t>
            </a:r>
            <a:r>
              <a:rPr lang="zh-CN" altLang="en-US" sz="2100" dirty="0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2100" b="1" dirty="0">
                <a:sym typeface="+mn-ea"/>
              </a:rPr>
              <a:t>未运行过的页面，都应从文件区调入。曾经运行过但又被换出的页面</a:t>
            </a:r>
            <a:r>
              <a:rPr lang="zh-CN" altLang="en-US" sz="2100" b="1" dirty="0" smtClean="0">
                <a:sym typeface="+mn-ea"/>
              </a:rPr>
              <a:t>，被</a:t>
            </a:r>
            <a:r>
              <a:rPr lang="zh-CN" altLang="en-US" sz="2100" b="1" dirty="0">
                <a:sym typeface="+mn-ea"/>
              </a:rPr>
              <a:t>放</a:t>
            </a:r>
            <a:r>
              <a:rPr lang="zh-CN" altLang="en-US" sz="2100" b="1" dirty="0" smtClean="0">
                <a:sym typeface="+mn-ea"/>
              </a:rPr>
              <a:t>在交换</a:t>
            </a:r>
            <a:r>
              <a:rPr lang="zh-CN" altLang="en-US" sz="2100" b="1" dirty="0">
                <a:sym typeface="+mn-ea"/>
              </a:rPr>
              <a:t>区</a:t>
            </a:r>
            <a:r>
              <a:rPr lang="zh-CN" altLang="en-US" sz="2100" b="1" dirty="0" smtClean="0">
                <a:sym typeface="+mn-ea"/>
              </a:rPr>
              <a:t>，下次</a:t>
            </a:r>
            <a:r>
              <a:rPr lang="zh-CN" altLang="en-US" sz="2100" b="1" dirty="0">
                <a:sym typeface="+mn-ea"/>
              </a:rPr>
              <a:t>调</a:t>
            </a:r>
            <a:r>
              <a:rPr lang="zh-CN" altLang="en-US" sz="2100" b="1" dirty="0" smtClean="0">
                <a:sym typeface="+mn-ea"/>
              </a:rPr>
              <a:t>入时从交换</a:t>
            </a:r>
            <a:r>
              <a:rPr lang="zh-CN" altLang="en-US" sz="2100" b="1" dirty="0">
                <a:sym typeface="+mn-ea"/>
              </a:rPr>
              <a:t>区调入</a:t>
            </a:r>
            <a:r>
              <a:rPr lang="zh-CN" altLang="en-US" sz="2100" dirty="0">
                <a:sym typeface="+mn-ea"/>
              </a:rPr>
              <a:t>。</a:t>
            </a:r>
            <a:endParaRPr lang="zh-CN" altLang="en-US" sz="2100" b="1" dirty="0" smtClean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活学活用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215" y="1341120"/>
            <a:ext cx="8505190" cy="494601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请求分页存储管理中，若把页面尺寸增大一倍，而页数不变，则缺页中断会（）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增加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B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减少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不变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D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可能增加也可能减少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进程在执行中发生了缺页中断，经操作系统处理后，应让其执行（）指令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被中断的前一条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B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被中断的那一条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被中断的后一条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D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启动时的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第一条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主存容量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1MB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，外存容量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400M,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计算机地址寄存器有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位，则虚存最大容量是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1MB        B 401MB      C 1MB+2</a:t>
            </a:r>
            <a:r>
              <a:rPr lang="en-US" altLang="zh-CN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         D  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32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活学活用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215" y="1341120"/>
            <a:ext cx="8505190" cy="494601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在虚拟分页存储管理系统中，若进程访问的页面不再主存中，且没有可用的页框，则正确的处理顺序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是（）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决定淘汰页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→页面调出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→缺页中断→页面调入</a:t>
            </a:r>
            <a:endParaRPr lang="zh-CN" alt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决定淘汰页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页面调入→缺页中断→页面调出</a:t>
            </a:r>
            <a:endParaRPr lang="zh-CN" alt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 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缺页中断→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决定淘汰页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→页面调出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→页面调入</a:t>
            </a:r>
            <a:endParaRPr lang="zh-CN" alt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 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缺页中断→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决定淘汰页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→页面调入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→页面调出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分页式，采用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48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位虚地址，页面大小为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4KB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，页表项大小为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8B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，则采用（）级页表，页内偏移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（）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位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 3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12         B  3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14         C  4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12        D  4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14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活学活用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215" y="1341120"/>
            <a:ext cx="8505190" cy="494601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多选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）影响请求分页系统平均访存时间的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缺页率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B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磁盘读写时间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内存访问时间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D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执行缺页处理程序的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时间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活学活用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>
          <a:xfrm>
            <a:off x="323215" y="1341120"/>
            <a:ext cx="8505190" cy="4946015"/>
          </a:xfrm>
        </p:spPr>
        <p:txBody>
          <a:bodyPr/>
          <a:lstStyle/>
          <a:p>
            <a:pPr marL="0" indent="0" latinLnBrk="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假设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CR3=0x0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，页长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4K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，请详细描述将线性地址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0x00006F12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通过二级页表转换为物理地址的过程？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活学活用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>
          <a:xfrm>
            <a:off x="323215" y="1341120"/>
            <a:ext cx="8505190" cy="4946015"/>
          </a:xfrm>
        </p:spPr>
        <p:txBody>
          <a:bodyPr/>
          <a:lstStyle/>
          <a:p>
            <a:pPr marL="0" indent="0" latinLnBrk="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假设页目录表在内存地址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0x0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，页长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4K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，请根据下图物理内存中的实际存储情况，详细描述将线性地址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0x004067FA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通过二级页表转换为物理地址的过程？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4" descr="ac692c70071e26a270755a787b4ddbb"/>
          <p:cNvPicPr>
            <a:picLocks noChangeAspect="1"/>
          </p:cNvPicPr>
          <p:nvPr/>
        </p:nvPicPr>
        <p:blipFill>
          <a:blip r:embed="rId1"/>
          <a:srcRect l="655"/>
          <a:stretch>
            <a:fillRect/>
          </a:stretch>
        </p:blipFill>
        <p:spPr>
          <a:xfrm>
            <a:off x="683895" y="3068955"/>
            <a:ext cx="3407483" cy="80867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-2147482620" descr="f01f9aedfa32b9bddbf948eb39a23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535" y="2917190"/>
            <a:ext cx="3481687" cy="111156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PP_MARK_KEY" val="5825ba92-c481-4c68-9cac-59e3dc06af8c"/>
  <p:tag name="COMMONDATA" val="eyJoZGlkIjoiMDhlNTM2MTA4NWNjODIxZmM5YzM4ZTZhYzBmZTk2ZjQifQ=="/>
  <p:tag name="commondata" val="eyJoZGlkIjoiMTdlMWFlOWY3ODUzY2IxNWQ1YmNlMzM3YjllMWJkOGIifQ=="/>
</p:tagLst>
</file>

<file path=ppt/theme/theme1.xml><?xml version="1.0" encoding="utf-8"?>
<a:theme xmlns:a="http://schemas.openxmlformats.org/drawingml/2006/main" name="1_Radial">
  <a:themeElements>
    <a:clrScheme name="1_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1_Radia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adial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Radia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0</TotalTime>
  <Words>4144</Words>
  <Application>WPS 演示</Application>
  <PresentationFormat>全屏显示(4:3)</PresentationFormat>
  <Paragraphs>279</Paragraphs>
  <Slides>37</Slides>
  <Notes>32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37</vt:i4>
      </vt:variant>
    </vt:vector>
  </HeadingPairs>
  <TitlesOfParts>
    <vt:vector size="58" baseType="lpstr">
      <vt:lpstr>Arial</vt:lpstr>
      <vt:lpstr>宋体</vt:lpstr>
      <vt:lpstr>Wingdings</vt:lpstr>
      <vt:lpstr>Times New Roman</vt:lpstr>
      <vt:lpstr>Arial Black</vt:lpstr>
      <vt:lpstr>Arial Narrow</vt:lpstr>
      <vt:lpstr>Wingdings</vt:lpstr>
      <vt:lpstr>Wingdings 2</vt:lpstr>
      <vt:lpstr>微软雅黑</vt:lpstr>
      <vt:lpstr>Arial Unicode MS</vt:lpstr>
      <vt:lpstr>Symbol</vt:lpstr>
      <vt:lpstr>1_Radial</vt:lpstr>
      <vt:lpstr>Radial</vt:lpstr>
      <vt:lpstr>默认设计模板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虚拟内存  Virtual Memory</vt:lpstr>
      <vt:lpstr>PowerPoint 演示文稿</vt:lpstr>
      <vt:lpstr>内容</vt:lpstr>
      <vt:lpstr>虚拟内存的定义</vt:lpstr>
      <vt:lpstr>虚拟内存的定义</vt:lpstr>
      <vt:lpstr>虚拟内存的定义</vt:lpstr>
      <vt:lpstr>内容</vt:lpstr>
      <vt:lpstr>支持虚拟内存的硬件和控制结构</vt:lpstr>
      <vt:lpstr>支持虚拟内存的硬件和控制结构</vt:lpstr>
      <vt:lpstr>支持虚拟内存的硬件和控制结构</vt:lpstr>
      <vt:lpstr>支持虚拟内存的硬件和控制结构</vt:lpstr>
      <vt:lpstr>支持虚拟内存的硬件和控制结构</vt:lpstr>
      <vt:lpstr>支持虚拟内存的硬件和控制结构</vt:lpstr>
      <vt:lpstr>支持虚拟内存的硬件和控制结构</vt:lpstr>
      <vt:lpstr>支持虚拟内存的硬件和控制结构</vt:lpstr>
      <vt:lpstr>支持虚拟内存的硬件和控制结构</vt:lpstr>
      <vt:lpstr>支持虚拟内存的硬件和控制结构</vt:lpstr>
      <vt:lpstr>支持虚拟内存的硬件和控制结构</vt:lpstr>
      <vt:lpstr>支持虚拟内存的硬件和控制结构</vt:lpstr>
      <vt:lpstr>支持虚拟内存的硬件和控制结构</vt:lpstr>
      <vt:lpstr>内容</vt:lpstr>
      <vt:lpstr>支持虚拟内存的操作系统机制</vt:lpstr>
      <vt:lpstr>支持虚拟内存的操作系统机制</vt:lpstr>
      <vt:lpstr>支持虚拟内存的操作系统机制</vt:lpstr>
      <vt:lpstr>支持虚拟内存的操作系统机制</vt:lpstr>
      <vt:lpstr>支持虚拟内存的操作系统机制</vt:lpstr>
      <vt:lpstr>支持虚拟内存的操作系统机制</vt:lpstr>
      <vt:lpstr>支持虚拟内存的操作系统机制</vt:lpstr>
      <vt:lpstr>支持虚拟内存的操作系统机制</vt:lpstr>
      <vt:lpstr>支持虚拟内存的操作系统机制</vt:lpstr>
      <vt:lpstr>支持虚拟内存的操作系统机制</vt:lpstr>
      <vt:lpstr>支持虚拟内存的操作系统机制</vt:lpstr>
      <vt:lpstr>活学活用</vt:lpstr>
      <vt:lpstr>活学活用</vt:lpstr>
      <vt:lpstr>活学活用</vt:lpstr>
      <vt:lpstr>活学活用</vt:lpstr>
      <vt:lpstr>活学活用</vt:lpstr>
    </vt:vector>
  </TitlesOfParts>
  <Company>雨薇在线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语音信号处理</dc:title>
  <dc:creator>雨薇</dc:creator>
  <cp:lastModifiedBy>郑铁然</cp:lastModifiedBy>
  <cp:revision>258</cp:revision>
  <cp:lastPrinted>2019-07-15T08:06:00Z</cp:lastPrinted>
  <dcterms:created xsi:type="dcterms:W3CDTF">2004-08-18T11:10:00Z</dcterms:created>
  <dcterms:modified xsi:type="dcterms:W3CDTF">2025-12-05T02:53:21Z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3F98E16BE7FA4ED08F747029455B22B9_13</vt:lpwstr>
  </property>
  <property fmtid="{D5CDD505-2E9C-101B-9397-08002B2CF9AE}" pid="3" name="KSOProductBuildVer">
    <vt:lpwstr>2052-12.1.0.23542</vt:lpwstr>
  </property>
</Properties>
</file>