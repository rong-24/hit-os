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29"/>
  </p:handoutMasterIdLst>
  <p:sldIdLst>
    <p:sldId id="501" r:id="rId5"/>
    <p:sldId id="259" r:id="rId7"/>
    <p:sldId id="394" r:id="rId8"/>
    <p:sldId id="1460" r:id="rId9"/>
    <p:sldId id="1801" r:id="rId10"/>
    <p:sldId id="1760" r:id="rId11"/>
    <p:sldId id="1871" r:id="rId12"/>
    <p:sldId id="1872" r:id="rId13"/>
    <p:sldId id="1873" r:id="rId14"/>
    <p:sldId id="1874" r:id="rId15"/>
    <p:sldId id="1875" r:id="rId16"/>
    <p:sldId id="1879" r:id="rId17"/>
    <p:sldId id="1877" r:id="rId18"/>
    <p:sldId id="1878" r:id="rId19"/>
    <p:sldId id="1880" r:id="rId20"/>
    <p:sldId id="1881" r:id="rId21"/>
    <p:sldId id="1886" r:id="rId22"/>
    <p:sldId id="1889" r:id="rId23"/>
    <p:sldId id="1890" r:id="rId24"/>
    <p:sldId id="1882" r:id="rId25"/>
    <p:sldId id="1883" r:id="rId26"/>
    <p:sldId id="1891" r:id="rId27"/>
    <p:sldId id="1892" r:id="rId28"/>
  </p:sldIdLst>
  <p:sldSz cx="9144000" cy="6858000" type="screen4x3"/>
  <p:notesSz cx="6800850" cy="9872345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6"/>
    <a:srgbClr val="E3EAEF"/>
    <a:srgbClr val="006C30"/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130" d="100"/>
          <a:sy n="130" d="100"/>
        </p:scale>
        <p:origin x="474" y="126"/>
      </p:cViewPr>
      <p:guideLst>
        <p:guide orient="horz" pos="2160"/>
        <p:guide pos="2917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3" Type="http://schemas.openxmlformats.org/officeDocument/2006/relationships/tags" Target="tags/tag5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4.png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5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zh-CN" altLang="en-US"/>
              <a:t>调度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Scheduling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FF0000"/>
                </a:solidFill>
              </a:rPr>
              <a:t>调度的层次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调度的</a:t>
            </a:r>
            <a:r>
              <a:rPr lang="zh-CN" altLang="en-US" sz="2800" b="1" dirty="0">
                <a:solidFill>
                  <a:schemeClr val="tx2"/>
                </a:solidFill>
              </a:rPr>
              <a:t>目标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典型调度</a:t>
            </a:r>
            <a:r>
              <a:rPr lang="zh-CN" altLang="en-US" sz="2800" b="1" dirty="0">
                <a:solidFill>
                  <a:schemeClr val="tx2"/>
                </a:solidFill>
              </a:rPr>
              <a:t>算法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多核处理器调度</a:t>
            </a:r>
            <a:r>
              <a:rPr lang="zh-CN" altLang="en-US" sz="2800" b="1" dirty="0">
                <a:solidFill>
                  <a:schemeClr val="tx2"/>
                </a:solidFill>
              </a:rPr>
              <a:t>算法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调度的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层次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长程调度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作业调度、高级调度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将已进入系统并处于后备状态的作业按某种算法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选择一个或一批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，为其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建立进程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，并进入主机，当该作业执行完毕时，还负责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回收系统资源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批处理系统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需要作业调度，以便将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进程分批地装入内存，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分时系统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实时系统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中，通常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不需要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长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程调度。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它的频率比较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低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，主要用来控制内存中进程的数量。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调度的层次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中程调度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交换调度，中级调度）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从内存或从CPU竞争中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移出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，之后它能被重新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调入内存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，并从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中断处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继续执行。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这种交换的操作可以调整进程在内存中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存在的数量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其主要任务是按照给定的原则和策略，将处于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外存交换区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就绪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状态或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阻塞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状态的进程调入内存，或把处于内存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就绪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状态或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阻塞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状态的进程交换到外存交换区。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主要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发生于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不使用虚存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的系统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 smtClean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调度的层次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995" y="1125220"/>
            <a:ext cx="8325485" cy="5158105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短程调度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又称为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进程调度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低级调度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或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微观调度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这也是通常所说的调度，一般情况下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使用最多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的就是短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程调度。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ts val="35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它的主要任务是按照某种策略和算法将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处理机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分配给一个处于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就绪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状态的进程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ts val="3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非抢占式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non-preemptive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）：一个进程只有在自愿放弃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或者因为等待某个事件而被阻塞时，操作系统才会将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CPU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分配给另一个进程。如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多道批处理系统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抢占式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（preemptive）：如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分时系统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实时系统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2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为什么抢占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：能有效提高</a:t>
            </a: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系统吞吐率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和</a:t>
            </a: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响应效率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2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如何抢占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：优先权、短进程优先、</a:t>
            </a:r>
            <a:r>
              <a:rPr lang="zh-CN" altLang="en-US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endParaRPr lang="zh-CN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调度的层次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调度的目标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典型调度</a:t>
            </a:r>
            <a:r>
              <a:rPr lang="zh-CN" altLang="en-US" sz="2800" b="1" dirty="0">
                <a:solidFill>
                  <a:schemeClr val="tx2"/>
                </a:solidFill>
              </a:rPr>
              <a:t>算法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多核处理器调度</a:t>
            </a:r>
            <a:r>
              <a:rPr lang="zh-CN" altLang="en-US" sz="2800" b="1" dirty="0">
                <a:solidFill>
                  <a:schemeClr val="tx2"/>
                </a:solidFill>
              </a:rPr>
              <a:t>算法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调度的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目标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通过按一定策略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分配处理器时间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，来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优化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系统一个或多个方面的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行为。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维度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面向用户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：单个用户或进程感知到的系统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行为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面向系统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：处理器的使用的效果和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效率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维度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二：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与性能直接相关：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定量的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ü"/>
              <a:defRPr/>
            </a:pPr>
            <a:r>
              <a:rPr lang="zh-CN" altLang="en-US" sz="21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其它：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定性的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调度的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目标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547495" y="1629410"/>
          <a:ext cx="6399530" cy="4580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调度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目标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 hMerge="1">
                  <a:tcPr/>
                </a:tc>
              </a:tr>
              <a:tr h="38100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面向用户，性能相关</a:t>
                      </a: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周转时间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响应时间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最后期限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1">
                          <a:sym typeface="+mn-ea"/>
                        </a:rPr>
                        <a:t>面向用户，其它</a:t>
                      </a:r>
                      <a:endParaRPr lang="zh-CN" altLang="en-US" sz="1800" b="1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可预测性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面向系统，性能相关</a:t>
                      </a: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吞吐量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处理器利用率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b="1"/>
                        <a:t>面向系统，其它</a:t>
                      </a:r>
                      <a:endParaRPr lang="zh-CN" altLang="en-US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公平性</a:t>
                      </a:r>
                      <a:endParaRPr lang="zh-CN" altLang="en-US" b="1"/>
                    </a:p>
                  </a:txBody>
                  <a:tcPr/>
                </a:tc>
              </a:tr>
              <a:tr h="389255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强制优先级</a:t>
                      </a:r>
                      <a:endParaRPr lang="zh-CN" altLang="en-US" b="1"/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平衡资源</a:t>
                      </a:r>
                      <a:endParaRPr lang="zh-CN" altLang="en-US" b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调度的层次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调度的目标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典型调度算法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多核处理器调度</a:t>
            </a:r>
            <a:r>
              <a:rPr lang="zh-CN" altLang="en-US" sz="2800" b="1" dirty="0">
                <a:solidFill>
                  <a:schemeClr val="tx2"/>
                </a:solidFill>
              </a:rPr>
              <a:t>算法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先来先服务（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FCFS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最简单，既可用于作业调度，又可用于进程调度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选择最先进入队列的进程，将处理器分配给它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效率低，对长作业有利，对短作业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不利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短作业优先（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SJF/SPN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选择（估计）运行时间最短的作业，将它们调入内存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运行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平均等待时间、平均周转时间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最少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对长作业不利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最短剩余时间（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SRT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抢占</a:t>
            </a:r>
            <a:r>
              <a:rPr lang="en-US" altLang="zh-CN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+SPN</a:t>
            </a:r>
            <a:endParaRPr lang="en-US" altLang="zh-CN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也称最早截止时间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比较适合实时系统的进程调度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高响应比优先（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H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RRN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主要用于作业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同时考虑每个作业的等待时间和估计的运行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每次选择响应比最高的进程投入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运行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en-US" altLang="zh-CN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051685" y="5661025"/>
            <a:ext cx="4464685" cy="720090"/>
            <a:chOff x="2664" y="6538"/>
            <a:chExt cx="7031" cy="1134"/>
          </a:xfrm>
        </p:grpSpPr>
        <p:sp>
          <p:nvSpPr>
            <p:cNvPr id="2" name="文本框 1"/>
            <p:cNvSpPr txBox="1"/>
            <p:nvPr/>
          </p:nvSpPr>
          <p:spPr>
            <a:xfrm>
              <a:off x="4886" y="6538"/>
              <a:ext cx="4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等待时间</a:t>
              </a:r>
              <a:r>
                <a:rPr lang="en-US" altLang="zh-CN" b="1"/>
                <a:t>+</a:t>
              </a:r>
              <a:r>
                <a:rPr lang="zh-CN" altLang="en-US" b="1"/>
                <a:t>要求服务时间</a:t>
              </a:r>
              <a:endParaRPr lang="zh-CN" altLang="en-US" b="1"/>
            </a:p>
          </p:txBody>
        </p:sp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4886" y="7092"/>
              <a:ext cx="4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        </a:t>
              </a:r>
              <a:r>
                <a:rPr lang="zh-CN" altLang="en-US" b="1"/>
                <a:t>要求服务时间</a:t>
              </a:r>
              <a:endParaRPr lang="zh-CN" altLang="en-US" b="1"/>
            </a:p>
          </p:txBody>
        </p:sp>
        <p:sp>
          <p:nvSpPr>
            <p:cNvPr id="5" name="文本框 4"/>
            <p:cNvSpPr txBox="1"/>
            <p:nvPr>
              <p:custDataLst>
                <p:tags r:id="rId2"/>
              </p:custDataLst>
            </p:nvPr>
          </p:nvSpPr>
          <p:spPr>
            <a:xfrm>
              <a:off x="2664" y="6803"/>
              <a:ext cx="17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响应比</a:t>
              </a:r>
              <a:r>
                <a:rPr lang="en-US" altLang="zh-CN" b="1"/>
                <a:t>=</a:t>
              </a:r>
              <a:endParaRPr lang="en-US" altLang="zh-CN" b="1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365" y="7101"/>
              <a:ext cx="533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优先级调度算法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每次从就绪队列中选择优先级最高的进程，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将处理器分配给它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既可用于作业调度，又可用于进程调度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多优先级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队列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可以与时间片轮转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相结合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动态优先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级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抢占式优先级适合实时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145" y="3860800"/>
            <a:ext cx="4191953" cy="286750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时间片轮转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(RR)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主要适用于分时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所有就绪进程按照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FCFS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策略排成一个就绪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队列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调度程序总是选择队列中第一个进程执行，但又仅能运行一个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被剥夺的进程返回就绪队列的末尾重新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排队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时间片的大小对系统的性能影响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很大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时间片太小，则进程的切换过于频繁，切换的开销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增加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时间片太大，进程可能得不到及时的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响应</a:t>
            </a: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360" y="1196340"/>
            <a:ext cx="8325485" cy="550799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多级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队列调度算法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设置多个就绪队列，将不同类型或性质的进程固定分配不同的就绪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队列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每个队列可实施不同的调度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多级反馈队列调度算法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是时间片轮转调度算法和优先级调度算法的综合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发展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设置多个就绪队列，为每个队列赋予不同的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优先级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赋予各个队列的进程运行的时间片大小各不相同，优先级越高的队列，时间片越小。在队列内</a:t>
            </a:r>
            <a:r>
              <a:rPr lang="en-US" altLang="zh-CN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FCFS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在一个队列完成一个时间片后，转入下一级队列等待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调度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仅当优先级高队列为空时，才能调度下一级</a:t>
            </a:r>
            <a:r>
              <a:rPr lang="zh-CN" altLang="en-US" sz="21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队列</a:t>
            </a:r>
            <a:endParaRPr lang="zh-CN" altLang="en-US" sz="21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charset="0"/>
              <a:buChar char="Ø"/>
              <a:defRPr/>
            </a:pPr>
            <a:endParaRPr lang="zh-CN" altLang="en-US" sz="21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7405" y="1484630"/>
            <a:ext cx="7299960" cy="51130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典型调度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23215" y="1196975"/>
          <a:ext cx="8444230" cy="522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70"/>
                <a:gridCol w="1149350"/>
                <a:gridCol w="1181100"/>
                <a:gridCol w="1156970"/>
                <a:gridCol w="1220470"/>
                <a:gridCol w="1405890"/>
                <a:gridCol w="1389380"/>
              </a:tblGrid>
              <a:tr h="4445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FCFS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轮转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SPN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SRT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HRRN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反馈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327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选择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函数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max[w]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min[s]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min[s-e]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max[(w+s)/s]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516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决策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模式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非抢占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抢占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时间片用完时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非抢占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抢占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到达时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非抢占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抢占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(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时间片用完时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)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吞吐量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不强调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时间片小吞吐量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低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高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高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高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不强调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优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点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公平、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实现简单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兼顾长短作业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平均等待时间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最少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周转时间好于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SPN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兼顾长短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作业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兼顾长短作业，有较好的响应时间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  <a:tr h="701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缺点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不利于短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作业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平均等待时间较长，上下文切换浪费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资源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长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进程会饥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饿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长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进程会饥饿</a:t>
                      </a:r>
                      <a:endParaRPr lang="zh-CN" altLang="en-US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需要计算响应比的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开销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无</a:t>
                      </a:r>
                      <a:endParaRPr lang="zh-CN" alt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39115" y="6165850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w-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停留时间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s-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需要的总服务时间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e-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执行时间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+mn-ea"/>
                <a:ea typeface="+mn-ea"/>
                <a:sym typeface="+mn-ea"/>
              </a:rPr>
              <a:t>典型调度算法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1341755"/>
            <a:ext cx="4457700" cy="21812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7315" y="109664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40" y="3430270"/>
            <a:ext cx="5702141" cy="32008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latin typeface="+mn-ea"/>
                <a:ea typeface="+mn-ea"/>
                <a:sym typeface="+mn-ea"/>
              </a:rPr>
              <a:t>典型调度算法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7315" y="1096645"/>
            <a:ext cx="6938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例：</a:t>
            </a:r>
            <a:endParaRPr lang="zh-CN" alt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1917065"/>
            <a:ext cx="5844540" cy="4631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2128520"/>
            <a:ext cx="2854325" cy="13963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调度的层次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调度的目标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典型调度算法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多核处理器调度算法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多核处理</a:t>
            </a:r>
            <a:r>
              <a:rPr lang="zh-CN" altLang="en-US" dirty="0">
                <a:latin typeface="+mn-ea"/>
                <a:ea typeface="+mn-ea"/>
                <a:sym typeface="+mn-ea"/>
              </a:rPr>
              <a:t>器调度</a:t>
            </a:r>
            <a:r>
              <a:rPr lang="zh-CN" altLang="en-US" dirty="0">
                <a:latin typeface="+mn-ea"/>
                <a:ea typeface="+mn-ea"/>
                <a:sym typeface="+mn-ea"/>
              </a:rPr>
              <a:t>算法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835" y="1477010"/>
            <a:ext cx="8324850" cy="4505960"/>
          </a:xfrm>
        </p:spPr>
        <p:txBody>
          <a:bodyPr/>
          <a:lstStyle/>
          <a:p>
            <a:pPr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对称多处理器（SMP）：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主流处理器，每个CPU自己决定自己的调度算法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非对称处理器（ASMP）：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一般仅一个处理器能处理系统数据结构，减轻对数据的共享需求。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负载平衡问题：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每个处理器处理的内容尽量平均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亲和性：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进程在某个指定的CPU上尽量长时间地运行而不被迁移到其他处理器的倾向性。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软亲和性（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进程尽量不切换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lvl="1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硬亲和性（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进程不切换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Char char="n"/>
              <a:defRPr/>
            </a:pP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charset="0"/>
              <a:buNone/>
              <a:defRPr/>
            </a:pPr>
            <a:endParaRPr lang="zh-CN" altLang="en-US" sz="20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下列调度算法中，（）算法一定是抢占式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的：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时间片轮转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B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先来先服务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短进程优先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D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优先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级调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度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关于优先级叙述正确的是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(  )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计算型作业的优先级，应高于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型作业的优先级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用户进程的优先级应高于系统进程的优先级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随着作业等待时间的增加，优先权应下降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 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随着进程执行时间的增加，优先权应下降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活学活用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分时系统实现时间片轮转调度需要使用的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是（）：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Ⅰ 进程控制块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Ⅱ 时钟中断处理程序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Ⅲ 进程就绪队列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Ⅳ 进程阻塞队列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Ⅱ、Ⅲ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仅Ⅱ、Ⅳ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可以引起进程调度程度程序执行的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是（）：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Ⅰ 中断处理结束      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Ⅱ 进程阻塞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algn="l">
              <a:buClrTx/>
              <a:buSzTx/>
              <a:buNone/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Ⅲ 进程执行结束  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Ⅳ 进程的时间片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用完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仅Ⅰ、Ⅲ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仅Ⅱ、Ⅳ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仅Ⅲ、Ⅳ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仅Ⅰ、Ⅱ、Ⅲ、Ⅳ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latinLnBrk="0">
              <a:spcBef>
                <a:spcPts val="600"/>
              </a:spcBef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TABLE_ENDDRAG_ORIGIN_RECT" val="666*220"/>
  <p:tag name="TABLE_ENDDRAG_RECT" val="25*161*666*220"/>
</p:tagLst>
</file>

<file path=ppt/tags/tag5.xml><?xml version="1.0" encoding="utf-8"?>
<p:tagLst xmlns:p="http://schemas.openxmlformats.org/presentationml/2006/main">
  <p:tag name="KSO_WPP_MARK_KEY" val="5825ba92-c481-4c68-9cac-59e3dc06af8c"/>
  <p:tag name="COMMONDATA" val="eyJoZGlkIjoiMDhlNTM2MTA4NWNjODIxZmM5YzM4ZTZhYzBmZTk2ZjQifQ=="/>
  <p:tag name="commondata" val="eyJoZGlkIjoiMTdlMWFlOWY3ODUzY2IxNWQ1YmNlMzM3YjllMWJkOGI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2679</Words>
  <Application>WPS 演示</Application>
  <PresentationFormat>全屏显示(4:3)</PresentationFormat>
  <Paragraphs>325</Paragraphs>
  <Slides>23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Arial Black</vt:lpstr>
      <vt:lpstr>Arial Narrow</vt:lpstr>
      <vt:lpstr>Wingdings</vt:lpstr>
      <vt:lpstr>微软雅黑</vt:lpstr>
      <vt:lpstr>Arial Unicode MS</vt:lpstr>
      <vt:lpstr>1_Radial</vt:lpstr>
      <vt:lpstr>Radial</vt:lpstr>
      <vt:lpstr>默认设计模板</vt:lpstr>
      <vt:lpstr>调度  Scheduling</vt:lpstr>
      <vt:lpstr>PowerPoint 演示文稿</vt:lpstr>
      <vt:lpstr>内容</vt:lpstr>
      <vt:lpstr>调度的层次</vt:lpstr>
      <vt:lpstr>调度的层次</vt:lpstr>
      <vt:lpstr>调度的层次</vt:lpstr>
      <vt:lpstr>内容</vt:lpstr>
      <vt:lpstr>调度的目标</vt:lpstr>
      <vt:lpstr>调度的目标</vt:lpstr>
      <vt:lpstr>内容</vt:lpstr>
      <vt:lpstr>典型调度算法</vt:lpstr>
      <vt:lpstr>典型调度算法</vt:lpstr>
      <vt:lpstr>典型调度算法</vt:lpstr>
      <vt:lpstr>典型调度算法</vt:lpstr>
      <vt:lpstr>典型调度算法</vt:lpstr>
      <vt:lpstr>典型调度算法</vt:lpstr>
      <vt:lpstr>典型调度算法</vt:lpstr>
      <vt:lpstr>典型调度算法</vt:lpstr>
      <vt:lpstr>典型调度算法</vt:lpstr>
      <vt:lpstr>内容</vt:lpstr>
      <vt:lpstr>多核处理器调度算法</vt:lpstr>
      <vt:lpstr>活学活用</vt:lpstr>
      <vt:lpstr>活学活用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259</cp:revision>
  <cp:lastPrinted>2019-07-15T08:06:00Z</cp:lastPrinted>
  <dcterms:created xsi:type="dcterms:W3CDTF">2004-08-18T11:10:00Z</dcterms:created>
  <dcterms:modified xsi:type="dcterms:W3CDTF">2025-11-28T02:39:22Z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59A29CAC6EBD40F99EC4F0E1410A848E_13</vt:lpwstr>
  </property>
  <property fmtid="{D5CDD505-2E9C-101B-9397-08002B2CF9AE}" pid="3" name="KSOProductBuildVer">
    <vt:lpwstr>2052-12.1.0.23542</vt:lpwstr>
  </property>
</Properties>
</file>