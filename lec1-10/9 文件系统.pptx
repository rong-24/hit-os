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handoutMasterIdLst>
    <p:handoutMasterId r:id="rId55"/>
  </p:handoutMasterIdLst>
  <p:sldIdLst>
    <p:sldId id="501" r:id="rId5"/>
    <p:sldId id="259" r:id="rId7"/>
    <p:sldId id="394" r:id="rId8"/>
    <p:sldId id="1877" r:id="rId9"/>
    <p:sldId id="1878" r:id="rId10"/>
    <p:sldId id="1879" r:id="rId11"/>
    <p:sldId id="1914" r:id="rId12"/>
    <p:sldId id="1915" r:id="rId13"/>
    <p:sldId id="1871" r:id="rId14"/>
    <p:sldId id="1916" r:id="rId15"/>
    <p:sldId id="1917" r:id="rId16"/>
    <p:sldId id="1918" r:id="rId17"/>
    <p:sldId id="1954" r:id="rId18"/>
    <p:sldId id="1955" r:id="rId19"/>
    <p:sldId id="1958" r:id="rId20"/>
    <p:sldId id="1962" r:id="rId21"/>
    <p:sldId id="1956" r:id="rId22"/>
    <p:sldId id="1959" r:id="rId23"/>
    <p:sldId id="1963" r:id="rId24"/>
    <p:sldId id="1960" r:id="rId25"/>
    <p:sldId id="1995" r:id="rId26"/>
    <p:sldId id="1996" r:id="rId27"/>
    <p:sldId id="1965" r:id="rId28"/>
    <p:sldId id="1966" r:id="rId29"/>
    <p:sldId id="1968" r:id="rId30"/>
    <p:sldId id="1969" r:id="rId31"/>
    <p:sldId id="1970" r:id="rId32"/>
    <p:sldId id="1971" r:id="rId33"/>
    <p:sldId id="1967" r:id="rId34"/>
    <p:sldId id="1992" r:id="rId35"/>
    <p:sldId id="1993" r:id="rId36"/>
    <p:sldId id="1988" r:id="rId37"/>
    <p:sldId id="1972" r:id="rId38"/>
    <p:sldId id="1973" r:id="rId39"/>
    <p:sldId id="1974" r:id="rId40"/>
    <p:sldId id="1975" r:id="rId41"/>
    <p:sldId id="1976" r:id="rId42"/>
    <p:sldId id="1977" r:id="rId43"/>
    <p:sldId id="1994" r:id="rId44"/>
    <p:sldId id="1978" r:id="rId45"/>
    <p:sldId id="1980" r:id="rId46"/>
    <p:sldId id="1981" r:id="rId47"/>
    <p:sldId id="1982" r:id="rId48"/>
    <p:sldId id="1997" r:id="rId49"/>
    <p:sldId id="1983" r:id="rId50"/>
    <p:sldId id="1984" r:id="rId51"/>
    <p:sldId id="1985" r:id="rId52"/>
    <p:sldId id="1986" r:id="rId53"/>
    <p:sldId id="1987" r:id="rId54"/>
  </p:sldIdLst>
  <p:sldSz cx="9144000" cy="6858000" type="screen4x3"/>
  <p:notesSz cx="6800850" cy="9872345"/>
  <p:custDataLst>
    <p:tags r:id="rId5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28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36"/>
    <a:srgbClr val="E3EAEF"/>
    <a:srgbClr val="006C30"/>
    <a:srgbClr val="996633"/>
    <a:srgbClr val="CC9900"/>
    <a:srgbClr val="FF99CC"/>
    <a:srgbClr val="16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608" autoAdjust="0"/>
  </p:normalViewPr>
  <p:slideViewPr>
    <p:cSldViewPr showGuides="1">
      <p:cViewPr varScale="1">
        <p:scale>
          <a:sx n="73" d="100"/>
          <a:sy n="73" d="100"/>
        </p:scale>
        <p:origin x="402" y="66"/>
      </p:cViewPr>
      <p:guideLst>
        <p:guide orient="horz" pos="2132"/>
        <p:guide pos="2847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9" Type="http://schemas.openxmlformats.org/officeDocument/2006/relationships/tags" Target="tags/tag250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handoutMaster" Target="handoutMasters/handoutMaster1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.xml"/><Relationship Id="rId1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2241" y="1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/>
          <a:lstStyle>
            <a:lvl1pPr algn="r">
              <a:defRPr sz="1200" smtClean="0"/>
            </a:lvl1pPr>
          </a:lstStyle>
          <a:p>
            <a:pPr>
              <a:defRPr/>
            </a:pPr>
            <a:fld id="{EF111691-F249-49BF-AD13-77AC163C2E72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7927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2241" y="9377927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ED217722-F9DE-4589-BAF8-332D113C6475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035" cy="4931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815" y="0"/>
            <a:ext cx="2947035" cy="4931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1863" y="739775"/>
            <a:ext cx="493712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780" y="4688963"/>
            <a:ext cx="4987290" cy="444317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9504"/>
            <a:ext cx="2947035" cy="493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815" y="9379504"/>
            <a:ext cx="2947035" cy="493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37847A5-3418-4168-BB03-40E320A0CA1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C12FDF-207D-4315-99CC-760ECF297C16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E933F3D-3132-4E55-B67E-D84038DB376F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文件</a:t>
            </a:r>
            <a:r>
              <a:rPr lang="zh-CN" altLang="en-US" dirty="0" smtClean="0">
                <a:effectLst/>
              </a:rPr>
              <a:t>都有</a:t>
            </a:r>
            <a:r>
              <a:rPr lang="zh-CN" altLang="en-US" sz="1200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幻数</a:t>
            </a:r>
            <a:r>
              <a:rPr lang="zh-CN" altLang="en-US" dirty="0" smtClean="0">
                <a:effectLst/>
              </a:rPr>
              <a:t>标志来表明该</a:t>
            </a:r>
            <a:r>
              <a:rPr lang="zh-CN" altLang="en-US" sz="1200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文件</a:t>
            </a:r>
            <a:r>
              <a:rPr lang="zh-CN" altLang="en-US" dirty="0" smtClean="0">
                <a:effectLst/>
              </a:rPr>
              <a:t>的格式，代号。</a:t>
            </a:r>
            <a:endParaRPr lang="en-US" altLang="zh-CN" dirty="0" smtClean="0">
              <a:effectLst/>
            </a:endParaRPr>
          </a:p>
          <a:p>
            <a:r>
              <a:rPr lang="zh-CN" altLang="en-US" dirty="0" smtClean="0">
                <a:effectLst/>
              </a:rPr>
              <a:t>超级块表示每部分的数量和位置。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27628-D2D8-49FF-81F7-576E04D8F44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数据块的登记表：一级、二级、三级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27628-D2D8-49FF-81F7-576E04D8F44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数据块的登记表：一级、二级、三级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27628-D2D8-49FF-81F7-576E04D8F44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找到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节点，根据文件长度从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节点中找到每个盘块的索引号，将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节点位图和逻辑块位图中相应位置</a:t>
            </a:r>
            <a:r>
              <a:rPr lang="en-US" altLang="zh-CN" dirty="0" smtClean="0"/>
              <a:t>0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27628-D2D8-49FF-81F7-576E04D8F44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41D5B-C7CF-41E9-8BFC-B81285AC3D5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9342B-1D0C-4C87-A696-AE5BD3D6C09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D71257-F651-4830-91FE-B8FD3A2DF0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31B0DD-5CA8-413B-9D98-C20793B9E8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EC62F-676E-4536-9A52-2309C69F88B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A6F8B4-B054-4685-9B5D-BD1CE4E33E8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38BD6-CD08-4B18-A00E-213EF5559B3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BF579-F828-4DD0-9748-1571BF19EE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C05E3-AD46-4E9C-B21F-7DEECDF53CB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6C2D64-1FDD-46B2-AA0E-566EBA5F561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3" y="215900"/>
            <a:ext cx="2084387" cy="58039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15900"/>
            <a:ext cx="6102350" cy="58039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947193-5223-410B-8004-74950257FFB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>
    <p:sndAc>
      <p:endSnd/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3" y="228600"/>
            <a:ext cx="2084387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0235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CFD1BE-9A24-4ABB-8E66-560EA6A1DFC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2C963-E0A7-42F7-8FAD-B21C46696F2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37D3D-CAAF-4017-B871-F905C63F368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A83EA-F16A-41B4-A35C-7CA23289B57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843DB-975B-4589-AE69-FB160CC0C24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C28B7-A46D-492B-B924-04F8242A502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2E4ED-E153-4BBF-9C40-4C1BA4B76FE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E5126-C2C7-4B90-8322-5292A2A408B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46550-8C4D-4F6D-A434-8579F080076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E6D23-AE9F-4212-9947-F857A2BFEF8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0B9D0-2EDD-4D8B-9176-4274A3030CE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06450" y="1233488"/>
            <a:ext cx="8229600" cy="4530725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12" y="277813"/>
            <a:ext cx="8579074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0" y="927100"/>
            <a:ext cx="8991600" cy="4495800"/>
            <a:chOff x="0" y="584"/>
            <a:chExt cx="5664" cy="2832"/>
          </a:xfrm>
        </p:grpSpPr>
        <p:sp>
          <p:nvSpPr>
            <p:cNvPr id="1032" name="AutoShape 3"/>
            <p:cNvSpPr>
              <a:spLocks noChangeArrowheads="1"/>
            </p:cNvSpPr>
            <p:nvPr userDrawn="1"/>
          </p:nvSpPr>
          <p:spPr bwMode="auto">
            <a:xfrm>
              <a:off x="432" y="1304"/>
              <a:ext cx="4656" cy="2112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4"/>
            <p:cNvSpPr>
              <a:spLocks noChangeArrowheads="1"/>
            </p:cNvSpPr>
            <p:nvPr userDrawn="1"/>
          </p:nvSpPr>
          <p:spPr bwMode="blackWhite">
            <a:xfrm>
              <a:off x="144" y="584"/>
              <a:ext cx="4512" cy="62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AutoShape 5"/>
            <p:cNvSpPr>
              <a:spLocks noChangeArrowheads="1"/>
            </p:cNvSpPr>
            <p:nvPr userDrawn="1"/>
          </p:nvSpPr>
          <p:spPr bwMode="blackWhite">
            <a:xfrm>
              <a:off x="0" y="872"/>
              <a:ext cx="5664" cy="1152"/>
            </a:xfrm>
            <a:custGeom>
              <a:avLst/>
              <a:gdLst>
                <a:gd name="T0" fmla="*/ 0 w 4917"/>
                <a:gd name="T1" fmla="*/ 0 h 1000"/>
                <a:gd name="T2" fmla="*/ 7775 w 4917"/>
                <a:gd name="T3" fmla="*/ 0 h 1000"/>
                <a:gd name="T4" fmla="*/ 8657 w 4917"/>
                <a:gd name="T5" fmla="*/ 881 h 1000"/>
                <a:gd name="T6" fmla="*/ 7777 w 4917"/>
                <a:gd name="T7" fmla="*/ 1761 h 1000"/>
                <a:gd name="T8" fmla="*/ 0 w 4917"/>
                <a:gd name="T9" fmla="*/ 1761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7"/>
                <a:gd name="T16" fmla="*/ 0 h 1000"/>
                <a:gd name="T17" fmla="*/ 2459 w 4917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Line 6"/>
            <p:cNvSpPr>
              <a:spLocks noChangeShapeType="1"/>
            </p:cNvSpPr>
            <p:nvPr userDrawn="1"/>
          </p:nvSpPr>
          <p:spPr bwMode="auto">
            <a:xfrm>
              <a:off x="0" y="1928"/>
              <a:ext cx="5232" cy="0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159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714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53163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latin typeface="+mn-lt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14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8AE5B700-EE1E-4D63-B1C2-C88A146C7A2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>
    <p:sndAc>
      <p:endSnd/>
    </p:sndAc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b="1">
          <a:solidFill>
            <a:srgbClr val="0000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0" y="115888"/>
            <a:ext cx="8686800" cy="6096000"/>
            <a:chOff x="0" y="96"/>
            <a:chExt cx="5472" cy="3840"/>
          </a:xfrm>
        </p:grpSpPr>
        <p:sp>
          <p:nvSpPr>
            <p:cNvPr id="2054" name="AutoShape 3"/>
            <p:cNvSpPr>
              <a:spLocks noChangeArrowheads="1"/>
            </p:cNvSpPr>
            <p:nvPr userDrawn="1"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055" name="AutoShape 4"/>
            <p:cNvSpPr>
              <a:spLocks noChangeArrowheads="1"/>
            </p:cNvSpPr>
            <p:nvPr userDrawn="1"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T0" fmla="*/ 0 w 7000"/>
                <a:gd name="T1" fmla="*/ 0 h 1000"/>
                <a:gd name="T2" fmla="*/ 2261 w 7000"/>
                <a:gd name="T3" fmla="*/ 0 h 1000"/>
                <a:gd name="T4" fmla="*/ 2435 w 7000"/>
                <a:gd name="T5" fmla="*/ 174 h 1000"/>
                <a:gd name="T6" fmla="*/ 2262 w 7000"/>
                <a:gd name="T7" fmla="*/ 348 h 1000"/>
                <a:gd name="T8" fmla="*/ 0 w 7000"/>
                <a:gd name="T9" fmla="*/ 348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0"/>
                <a:gd name="T16" fmla="*/ 0 h 1000"/>
                <a:gd name="T17" fmla="*/ 3500 w 7000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" name="Line 5"/>
            <p:cNvSpPr>
              <a:spLocks noChangeShapeType="1"/>
            </p:cNvSpPr>
            <p:nvPr userDrawn="1"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1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286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2053" name="Picture 11" descr="index2008_0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0" y="6245225"/>
            <a:ext cx="183197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 advClick="0">
    <p:sndAc>
      <p:endSnd/>
    </p:sndAc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b="1">
          <a:solidFill>
            <a:srgbClr val="0000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B08F23A-9504-4358-88BF-208BD38AFAEB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5.png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6.png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7.png"/><Relationship Id="rId1" Type="http://schemas.openxmlformats.org/officeDocument/2006/relationships/tags" Target="../tags/tag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6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4.xml"/><Relationship Id="rId4" Type="http://schemas.openxmlformats.org/officeDocument/2006/relationships/tags" Target="../tags/tag8.xml"/><Relationship Id="rId3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tags" Target="../tags/tag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0" Type="http://schemas.openxmlformats.org/officeDocument/2006/relationships/slideLayout" Target="../slideLayouts/slideLayout24.xml"/><Relationship Id="rId4" Type="http://schemas.openxmlformats.org/officeDocument/2006/relationships/tags" Target="../tags/tag12.xml"/><Relationship Id="rId39" Type="http://schemas.openxmlformats.org/officeDocument/2006/relationships/tags" Target="../tags/tag47.xml"/><Relationship Id="rId38" Type="http://schemas.openxmlformats.org/officeDocument/2006/relationships/tags" Target="../tags/tag46.xml"/><Relationship Id="rId37" Type="http://schemas.openxmlformats.org/officeDocument/2006/relationships/tags" Target="../tags/tag45.xml"/><Relationship Id="rId36" Type="http://schemas.openxmlformats.org/officeDocument/2006/relationships/tags" Target="../tags/tag44.xml"/><Relationship Id="rId35" Type="http://schemas.openxmlformats.org/officeDocument/2006/relationships/tags" Target="../tags/tag43.xml"/><Relationship Id="rId34" Type="http://schemas.openxmlformats.org/officeDocument/2006/relationships/tags" Target="../tags/tag42.xml"/><Relationship Id="rId33" Type="http://schemas.openxmlformats.org/officeDocument/2006/relationships/tags" Target="../tags/tag41.xml"/><Relationship Id="rId32" Type="http://schemas.openxmlformats.org/officeDocument/2006/relationships/tags" Target="../tags/tag40.xml"/><Relationship Id="rId31" Type="http://schemas.openxmlformats.org/officeDocument/2006/relationships/tags" Target="../tags/tag39.xml"/><Relationship Id="rId30" Type="http://schemas.openxmlformats.org/officeDocument/2006/relationships/tags" Target="../tags/tag38.xml"/><Relationship Id="rId3" Type="http://schemas.openxmlformats.org/officeDocument/2006/relationships/tags" Target="../tags/tag11.xml"/><Relationship Id="rId29" Type="http://schemas.openxmlformats.org/officeDocument/2006/relationships/tags" Target="../tags/tag37.xml"/><Relationship Id="rId28" Type="http://schemas.openxmlformats.org/officeDocument/2006/relationships/tags" Target="../tags/tag36.xml"/><Relationship Id="rId27" Type="http://schemas.openxmlformats.org/officeDocument/2006/relationships/tags" Target="../tags/tag35.xml"/><Relationship Id="rId26" Type="http://schemas.openxmlformats.org/officeDocument/2006/relationships/tags" Target="../tags/tag34.xml"/><Relationship Id="rId25" Type="http://schemas.openxmlformats.org/officeDocument/2006/relationships/tags" Target="../tags/tag33.xml"/><Relationship Id="rId24" Type="http://schemas.openxmlformats.org/officeDocument/2006/relationships/tags" Target="../tags/tag32.xml"/><Relationship Id="rId23" Type="http://schemas.openxmlformats.org/officeDocument/2006/relationships/tags" Target="../tags/tag31.xml"/><Relationship Id="rId22" Type="http://schemas.openxmlformats.org/officeDocument/2006/relationships/tags" Target="../tags/tag30.xml"/><Relationship Id="rId21" Type="http://schemas.openxmlformats.org/officeDocument/2006/relationships/tags" Target="../tags/tag29.xml"/><Relationship Id="rId20" Type="http://schemas.openxmlformats.org/officeDocument/2006/relationships/tags" Target="../tags/tag28.xml"/><Relationship Id="rId2" Type="http://schemas.openxmlformats.org/officeDocument/2006/relationships/tags" Target="../tags/tag10.xml"/><Relationship Id="rId19" Type="http://schemas.openxmlformats.org/officeDocument/2006/relationships/tags" Target="../tags/tag27.xml"/><Relationship Id="rId18" Type="http://schemas.openxmlformats.org/officeDocument/2006/relationships/tags" Target="../tags/tag26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2" Type="http://schemas.openxmlformats.org/officeDocument/2006/relationships/slideLayout" Target="../slideLayouts/slideLayout24.xml"/><Relationship Id="rId71" Type="http://schemas.openxmlformats.org/officeDocument/2006/relationships/tags" Target="../tags/tag118.xml"/><Relationship Id="rId70" Type="http://schemas.openxmlformats.org/officeDocument/2006/relationships/tags" Target="../tags/tag117.xml"/><Relationship Id="rId7" Type="http://schemas.openxmlformats.org/officeDocument/2006/relationships/tags" Target="../tags/tag54.xml"/><Relationship Id="rId69" Type="http://schemas.openxmlformats.org/officeDocument/2006/relationships/tags" Target="../tags/tag116.xml"/><Relationship Id="rId68" Type="http://schemas.openxmlformats.org/officeDocument/2006/relationships/tags" Target="../tags/tag115.xml"/><Relationship Id="rId67" Type="http://schemas.openxmlformats.org/officeDocument/2006/relationships/tags" Target="../tags/tag114.xml"/><Relationship Id="rId66" Type="http://schemas.openxmlformats.org/officeDocument/2006/relationships/tags" Target="../tags/tag113.xml"/><Relationship Id="rId65" Type="http://schemas.openxmlformats.org/officeDocument/2006/relationships/tags" Target="../tags/tag112.xml"/><Relationship Id="rId64" Type="http://schemas.openxmlformats.org/officeDocument/2006/relationships/tags" Target="../tags/tag111.xml"/><Relationship Id="rId63" Type="http://schemas.openxmlformats.org/officeDocument/2006/relationships/tags" Target="../tags/tag110.xml"/><Relationship Id="rId62" Type="http://schemas.openxmlformats.org/officeDocument/2006/relationships/tags" Target="../tags/tag109.xml"/><Relationship Id="rId61" Type="http://schemas.openxmlformats.org/officeDocument/2006/relationships/tags" Target="../tags/tag108.xml"/><Relationship Id="rId60" Type="http://schemas.openxmlformats.org/officeDocument/2006/relationships/tags" Target="../tags/tag107.xml"/><Relationship Id="rId6" Type="http://schemas.openxmlformats.org/officeDocument/2006/relationships/tags" Target="../tags/tag53.xml"/><Relationship Id="rId59" Type="http://schemas.openxmlformats.org/officeDocument/2006/relationships/tags" Target="../tags/tag106.xml"/><Relationship Id="rId58" Type="http://schemas.openxmlformats.org/officeDocument/2006/relationships/tags" Target="../tags/tag105.xml"/><Relationship Id="rId57" Type="http://schemas.openxmlformats.org/officeDocument/2006/relationships/tags" Target="../tags/tag104.xml"/><Relationship Id="rId56" Type="http://schemas.openxmlformats.org/officeDocument/2006/relationships/tags" Target="../tags/tag103.xml"/><Relationship Id="rId55" Type="http://schemas.openxmlformats.org/officeDocument/2006/relationships/tags" Target="../tags/tag102.xml"/><Relationship Id="rId54" Type="http://schemas.openxmlformats.org/officeDocument/2006/relationships/tags" Target="../tags/tag101.xml"/><Relationship Id="rId53" Type="http://schemas.openxmlformats.org/officeDocument/2006/relationships/tags" Target="../tags/tag100.xml"/><Relationship Id="rId52" Type="http://schemas.openxmlformats.org/officeDocument/2006/relationships/tags" Target="../tags/tag99.xml"/><Relationship Id="rId51" Type="http://schemas.openxmlformats.org/officeDocument/2006/relationships/tags" Target="../tags/tag98.xml"/><Relationship Id="rId50" Type="http://schemas.openxmlformats.org/officeDocument/2006/relationships/tags" Target="../tags/tag97.xml"/><Relationship Id="rId5" Type="http://schemas.openxmlformats.org/officeDocument/2006/relationships/tags" Target="../tags/tag52.xml"/><Relationship Id="rId49" Type="http://schemas.openxmlformats.org/officeDocument/2006/relationships/tags" Target="../tags/tag96.xml"/><Relationship Id="rId48" Type="http://schemas.openxmlformats.org/officeDocument/2006/relationships/tags" Target="../tags/tag95.xml"/><Relationship Id="rId47" Type="http://schemas.openxmlformats.org/officeDocument/2006/relationships/tags" Target="../tags/tag94.xml"/><Relationship Id="rId46" Type="http://schemas.openxmlformats.org/officeDocument/2006/relationships/tags" Target="../tags/tag93.xml"/><Relationship Id="rId45" Type="http://schemas.openxmlformats.org/officeDocument/2006/relationships/tags" Target="../tags/tag92.xml"/><Relationship Id="rId44" Type="http://schemas.openxmlformats.org/officeDocument/2006/relationships/tags" Target="../tags/tag91.xml"/><Relationship Id="rId43" Type="http://schemas.openxmlformats.org/officeDocument/2006/relationships/tags" Target="../tags/tag90.xml"/><Relationship Id="rId42" Type="http://schemas.openxmlformats.org/officeDocument/2006/relationships/tags" Target="../tags/tag89.xml"/><Relationship Id="rId41" Type="http://schemas.openxmlformats.org/officeDocument/2006/relationships/tags" Target="../tags/tag88.xml"/><Relationship Id="rId40" Type="http://schemas.openxmlformats.org/officeDocument/2006/relationships/tags" Target="../tags/tag87.xml"/><Relationship Id="rId4" Type="http://schemas.openxmlformats.org/officeDocument/2006/relationships/tags" Target="../tags/tag51.xml"/><Relationship Id="rId39" Type="http://schemas.openxmlformats.org/officeDocument/2006/relationships/tags" Target="../tags/tag86.xml"/><Relationship Id="rId38" Type="http://schemas.openxmlformats.org/officeDocument/2006/relationships/tags" Target="../tags/tag85.xml"/><Relationship Id="rId37" Type="http://schemas.openxmlformats.org/officeDocument/2006/relationships/tags" Target="../tags/tag84.xml"/><Relationship Id="rId36" Type="http://schemas.openxmlformats.org/officeDocument/2006/relationships/tags" Target="../tags/tag83.xml"/><Relationship Id="rId35" Type="http://schemas.openxmlformats.org/officeDocument/2006/relationships/tags" Target="../tags/tag82.xml"/><Relationship Id="rId34" Type="http://schemas.openxmlformats.org/officeDocument/2006/relationships/tags" Target="../tags/tag81.xml"/><Relationship Id="rId33" Type="http://schemas.openxmlformats.org/officeDocument/2006/relationships/tags" Target="../tags/tag80.xml"/><Relationship Id="rId32" Type="http://schemas.openxmlformats.org/officeDocument/2006/relationships/tags" Target="../tags/tag79.xml"/><Relationship Id="rId31" Type="http://schemas.openxmlformats.org/officeDocument/2006/relationships/tags" Target="../tags/tag78.xml"/><Relationship Id="rId30" Type="http://schemas.openxmlformats.org/officeDocument/2006/relationships/tags" Target="../tags/tag77.xml"/><Relationship Id="rId3" Type="http://schemas.openxmlformats.org/officeDocument/2006/relationships/tags" Target="../tags/tag50.xml"/><Relationship Id="rId29" Type="http://schemas.openxmlformats.org/officeDocument/2006/relationships/tags" Target="../tags/tag76.xml"/><Relationship Id="rId28" Type="http://schemas.openxmlformats.org/officeDocument/2006/relationships/tags" Target="../tags/tag75.xml"/><Relationship Id="rId27" Type="http://schemas.openxmlformats.org/officeDocument/2006/relationships/tags" Target="../tags/tag74.xml"/><Relationship Id="rId26" Type="http://schemas.openxmlformats.org/officeDocument/2006/relationships/tags" Target="../tags/tag73.xml"/><Relationship Id="rId25" Type="http://schemas.openxmlformats.org/officeDocument/2006/relationships/tags" Target="../tags/tag72.xml"/><Relationship Id="rId24" Type="http://schemas.openxmlformats.org/officeDocument/2006/relationships/tags" Target="../tags/tag71.xml"/><Relationship Id="rId23" Type="http://schemas.openxmlformats.org/officeDocument/2006/relationships/tags" Target="../tags/tag70.xml"/><Relationship Id="rId22" Type="http://schemas.openxmlformats.org/officeDocument/2006/relationships/tags" Target="../tags/tag69.xml"/><Relationship Id="rId21" Type="http://schemas.openxmlformats.org/officeDocument/2006/relationships/tags" Target="../tags/tag68.xml"/><Relationship Id="rId20" Type="http://schemas.openxmlformats.org/officeDocument/2006/relationships/tags" Target="../tags/tag67.xml"/><Relationship Id="rId2" Type="http://schemas.openxmlformats.org/officeDocument/2006/relationships/tags" Target="../tags/tag49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tags" Target="../tags/tag4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1.png"/><Relationship Id="rId1" Type="http://schemas.openxmlformats.org/officeDocument/2006/relationships/tags" Target="../tags/tag119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2" Type="http://schemas.openxmlformats.org/officeDocument/2006/relationships/slideLayout" Target="../slideLayouts/slideLayout24.xml"/><Relationship Id="rId41" Type="http://schemas.openxmlformats.org/officeDocument/2006/relationships/tags" Target="../tags/tag160.xml"/><Relationship Id="rId40" Type="http://schemas.openxmlformats.org/officeDocument/2006/relationships/tags" Target="../tags/tag159.xml"/><Relationship Id="rId4" Type="http://schemas.openxmlformats.org/officeDocument/2006/relationships/tags" Target="../tags/tag123.xml"/><Relationship Id="rId39" Type="http://schemas.openxmlformats.org/officeDocument/2006/relationships/tags" Target="../tags/tag158.xml"/><Relationship Id="rId38" Type="http://schemas.openxmlformats.org/officeDocument/2006/relationships/tags" Target="../tags/tag157.xml"/><Relationship Id="rId37" Type="http://schemas.openxmlformats.org/officeDocument/2006/relationships/tags" Target="../tags/tag156.xml"/><Relationship Id="rId36" Type="http://schemas.openxmlformats.org/officeDocument/2006/relationships/tags" Target="../tags/tag155.xml"/><Relationship Id="rId35" Type="http://schemas.openxmlformats.org/officeDocument/2006/relationships/tags" Target="../tags/tag154.xml"/><Relationship Id="rId34" Type="http://schemas.openxmlformats.org/officeDocument/2006/relationships/tags" Target="../tags/tag153.xml"/><Relationship Id="rId33" Type="http://schemas.openxmlformats.org/officeDocument/2006/relationships/tags" Target="../tags/tag152.xml"/><Relationship Id="rId32" Type="http://schemas.openxmlformats.org/officeDocument/2006/relationships/tags" Target="../tags/tag151.xml"/><Relationship Id="rId31" Type="http://schemas.openxmlformats.org/officeDocument/2006/relationships/tags" Target="../tags/tag150.xml"/><Relationship Id="rId30" Type="http://schemas.openxmlformats.org/officeDocument/2006/relationships/tags" Target="../tags/tag149.xml"/><Relationship Id="rId3" Type="http://schemas.openxmlformats.org/officeDocument/2006/relationships/tags" Target="../tags/tag122.xml"/><Relationship Id="rId29" Type="http://schemas.openxmlformats.org/officeDocument/2006/relationships/tags" Target="../tags/tag148.xml"/><Relationship Id="rId28" Type="http://schemas.openxmlformats.org/officeDocument/2006/relationships/tags" Target="../tags/tag147.xml"/><Relationship Id="rId27" Type="http://schemas.openxmlformats.org/officeDocument/2006/relationships/tags" Target="../tags/tag146.xml"/><Relationship Id="rId26" Type="http://schemas.openxmlformats.org/officeDocument/2006/relationships/tags" Target="../tags/tag145.xml"/><Relationship Id="rId25" Type="http://schemas.openxmlformats.org/officeDocument/2006/relationships/tags" Target="../tags/tag144.xml"/><Relationship Id="rId24" Type="http://schemas.openxmlformats.org/officeDocument/2006/relationships/tags" Target="../tags/tag143.xml"/><Relationship Id="rId23" Type="http://schemas.openxmlformats.org/officeDocument/2006/relationships/tags" Target="../tags/tag142.xml"/><Relationship Id="rId22" Type="http://schemas.openxmlformats.org/officeDocument/2006/relationships/tags" Target="../tags/tag141.xml"/><Relationship Id="rId21" Type="http://schemas.openxmlformats.org/officeDocument/2006/relationships/tags" Target="../tags/tag140.xml"/><Relationship Id="rId20" Type="http://schemas.openxmlformats.org/officeDocument/2006/relationships/tags" Target="../tags/tag139.xml"/><Relationship Id="rId2" Type="http://schemas.openxmlformats.org/officeDocument/2006/relationships/tags" Target="../tags/tag121.xml"/><Relationship Id="rId19" Type="http://schemas.openxmlformats.org/officeDocument/2006/relationships/tags" Target="../tags/tag138.xml"/><Relationship Id="rId18" Type="http://schemas.openxmlformats.org/officeDocument/2006/relationships/tags" Target="../tags/tag137.xml"/><Relationship Id="rId17" Type="http://schemas.openxmlformats.org/officeDocument/2006/relationships/tags" Target="../tags/tag136.xml"/><Relationship Id="rId16" Type="http://schemas.openxmlformats.org/officeDocument/2006/relationships/tags" Target="../tags/tag135.xml"/><Relationship Id="rId15" Type="http://schemas.openxmlformats.org/officeDocument/2006/relationships/tags" Target="../tags/tag134.xml"/><Relationship Id="rId14" Type="http://schemas.openxmlformats.org/officeDocument/2006/relationships/tags" Target="../tags/tag133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tags" Target="../tags/tag1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161.xml"/><Relationship Id="rId1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90" Type="http://schemas.openxmlformats.org/officeDocument/2006/relationships/slideLayout" Target="../slideLayouts/slideLayout24.xml"/><Relationship Id="rId9" Type="http://schemas.openxmlformats.org/officeDocument/2006/relationships/tags" Target="../tags/tag169.xml"/><Relationship Id="rId89" Type="http://schemas.openxmlformats.org/officeDocument/2006/relationships/tags" Target="../tags/tag249.xml"/><Relationship Id="rId88" Type="http://schemas.openxmlformats.org/officeDocument/2006/relationships/tags" Target="../tags/tag248.xml"/><Relationship Id="rId87" Type="http://schemas.openxmlformats.org/officeDocument/2006/relationships/tags" Target="../tags/tag247.xml"/><Relationship Id="rId86" Type="http://schemas.openxmlformats.org/officeDocument/2006/relationships/tags" Target="../tags/tag246.xml"/><Relationship Id="rId85" Type="http://schemas.openxmlformats.org/officeDocument/2006/relationships/tags" Target="../tags/tag245.xml"/><Relationship Id="rId84" Type="http://schemas.openxmlformats.org/officeDocument/2006/relationships/tags" Target="../tags/tag244.xml"/><Relationship Id="rId83" Type="http://schemas.openxmlformats.org/officeDocument/2006/relationships/tags" Target="../tags/tag243.xml"/><Relationship Id="rId82" Type="http://schemas.openxmlformats.org/officeDocument/2006/relationships/tags" Target="../tags/tag242.xml"/><Relationship Id="rId81" Type="http://schemas.openxmlformats.org/officeDocument/2006/relationships/tags" Target="../tags/tag241.xml"/><Relationship Id="rId80" Type="http://schemas.openxmlformats.org/officeDocument/2006/relationships/tags" Target="../tags/tag240.xml"/><Relationship Id="rId8" Type="http://schemas.openxmlformats.org/officeDocument/2006/relationships/tags" Target="../tags/tag168.xml"/><Relationship Id="rId79" Type="http://schemas.openxmlformats.org/officeDocument/2006/relationships/tags" Target="../tags/tag239.xml"/><Relationship Id="rId78" Type="http://schemas.openxmlformats.org/officeDocument/2006/relationships/tags" Target="../tags/tag238.xml"/><Relationship Id="rId77" Type="http://schemas.openxmlformats.org/officeDocument/2006/relationships/tags" Target="../tags/tag237.xml"/><Relationship Id="rId76" Type="http://schemas.openxmlformats.org/officeDocument/2006/relationships/tags" Target="../tags/tag236.xml"/><Relationship Id="rId75" Type="http://schemas.openxmlformats.org/officeDocument/2006/relationships/tags" Target="../tags/tag235.xml"/><Relationship Id="rId74" Type="http://schemas.openxmlformats.org/officeDocument/2006/relationships/tags" Target="../tags/tag234.xml"/><Relationship Id="rId73" Type="http://schemas.openxmlformats.org/officeDocument/2006/relationships/tags" Target="../tags/tag233.xml"/><Relationship Id="rId72" Type="http://schemas.openxmlformats.org/officeDocument/2006/relationships/tags" Target="../tags/tag232.xml"/><Relationship Id="rId71" Type="http://schemas.openxmlformats.org/officeDocument/2006/relationships/tags" Target="../tags/tag231.xml"/><Relationship Id="rId70" Type="http://schemas.openxmlformats.org/officeDocument/2006/relationships/tags" Target="../tags/tag230.xml"/><Relationship Id="rId7" Type="http://schemas.openxmlformats.org/officeDocument/2006/relationships/tags" Target="../tags/tag167.xml"/><Relationship Id="rId69" Type="http://schemas.openxmlformats.org/officeDocument/2006/relationships/tags" Target="../tags/tag229.xml"/><Relationship Id="rId68" Type="http://schemas.openxmlformats.org/officeDocument/2006/relationships/tags" Target="../tags/tag228.xml"/><Relationship Id="rId67" Type="http://schemas.openxmlformats.org/officeDocument/2006/relationships/tags" Target="../tags/tag227.xml"/><Relationship Id="rId66" Type="http://schemas.openxmlformats.org/officeDocument/2006/relationships/tags" Target="../tags/tag226.xml"/><Relationship Id="rId65" Type="http://schemas.openxmlformats.org/officeDocument/2006/relationships/tags" Target="../tags/tag225.xml"/><Relationship Id="rId64" Type="http://schemas.openxmlformats.org/officeDocument/2006/relationships/tags" Target="../tags/tag224.xml"/><Relationship Id="rId63" Type="http://schemas.openxmlformats.org/officeDocument/2006/relationships/tags" Target="../tags/tag223.xml"/><Relationship Id="rId62" Type="http://schemas.openxmlformats.org/officeDocument/2006/relationships/tags" Target="../tags/tag222.xml"/><Relationship Id="rId61" Type="http://schemas.openxmlformats.org/officeDocument/2006/relationships/tags" Target="../tags/tag221.xml"/><Relationship Id="rId60" Type="http://schemas.openxmlformats.org/officeDocument/2006/relationships/tags" Target="../tags/tag220.xml"/><Relationship Id="rId6" Type="http://schemas.openxmlformats.org/officeDocument/2006/relationships/tags" Target="../tags/tag166.xml"/><Relationship Id="rId59" Type="http://schemas.openxmlformats.org/officeDocument/2006/relationships/tags" Target="../tags/tag219.xml"/><Relationship Id="rId58" Type="http://schemas.openxmlformats.org/officeDocument/2006/relationships/tags" Target="../tags/tag218.xml"/><Relationship Id="rId57" Type="http://schemas.openxmlformats.org/officeDocument/2006/relationships/tags" Target="../tags/tag217.xml"/><Relationship Id="rId56" Type="http://schemas.openxmlformats.org/officeDocument/2006/relationships/tags" Target="../tags/tag216.xml"/><Relationship Id="rId55" Type="http://schemas.openxmlformats.org/officeDocument/2006/relationships/tags" Target="../tags/tag215.xml"/><Relationship Id="rId54" Type="http://schemas.openxmlformats.org/officeDocument/2006/relationships/tags" Target="../tags/tag214.xml"/><Relationship Id="rId53" Type="http://schemas.openxmlformats.org/officeDocument/2006/relationships/tags" Target="../tags/tag213.xml"/><Relationship Id="rId52" Type="http://schemas.openxmlformats.org/officeDocument/2006/relationships/tags" Target="../tags/tag212.xml"/><Relationship Id="rId51" Type="http://schemas.openxmlformats.org/officeDocument/2006/relationships/tags" Target="../tags/tag211.xml"/><Relationship Id="rId50" Type="http://schemas.openxmlformats.org/officeDocument/2006/relationships/tags" Target="../tags/tag210.xml"/><Relationship Id="rId5" Type="http://schemas.openxmlformats.org/officeDocument/2006/relationships/tags" Target="../tags/tag165.xml"/><Relationship Id="rId49" Type="http://schemas.openxmlformats.org/officeDocument/2006/relationships/tags" Target="../tags/tag209.xml"/><Relationship Id="rId48" Type="http://schemas.openxmlformats.org/officeDocument/2006/relationships/tags" Target="../tags/tag208.xml"/><Relationship Id="rId47" Type="http://schemas.openxmlformats.org/officeDocument/2006/relationships/tags" Target="../tags/tag207.xml"/><Relationship Id="rId46" Type="http://schemas.openxmlformats.org/officeDocument/2006/relationships/tags" Target="../tags/tag206.xml"/><Relationship Id="rId45" Type="http://schemas.openxmlformats.org/officeDocument/2006/relationships/tags" Target="../tags/tag205.xml"/><Relationship Id="rId44" Type="http://schemas.openxmlformats.org/officeDocument/2006/relationships/tags" Target="../tags/tag204.xml"/><Relationship Id="rId43" Type="http://schemas.openxmlformats.org/officeDocument/2006/relationships/tags" Target="../tags/tag203.xml"/><Relationship Id="rId42" Type="http://schemas.openxmlformats.org/officeDocument/2006/relationships/tags" Target="../tags/tag202.xml"/><Relationship Id="rId41" Type="http://schemas.openxmlformats.org/officeDocument/2006/relationships/tags" Target="../tags/tag201.xml"/><Relationship Id="rId40" Type="http://schemas.openxmlformats.org/officeDocument/2006/relationships/tags" Target="../tags/tag200.xml"/><Relationship Id="rId4" Type="http://schemas.openxmlformats.org/officeDocument/2006/relationships/image" Target="../media/image13.png"/><Relationship Id="rId39" Type="http://schemas.openxmlformats.org/officeDocument/2006/relationships/tags" Target="../tags/tag199.xml"/><Relationship Id="rId38" Type="http://schemas.openxmlformats.org/officeDocument/2006/relationships/tags" Target="../tags/tag198.xml"/><Relationship Id="rId37" Type="http://schemas.openxmlformats.org/officeDocument/2006/relationships/tags" Target="../tags/tag197.xml"/><Relationship Id="rId36" Type="http://schemas.openxmlformats.org/officeDocument/2006/relationships/tags" Target="../tags/tag196.xml"/><Relationship Id="rId35" Type="http://schemas.openxmlformats.org/officeDocument/2006/relationships/tags" Target="../tags/tag195.xml"/><Relationship Id="rId34" Type="http://schemas.openxmlformats.org/officeDocument/2006/relationships/tags" Target="../tags/tag194.xml"/><Relationship Id="rId33" Type="http://schemas.openxmlformats.org/officeDocument/2006/relationships/tags" Target="../tags/tag193.xml"/><Relationship Id="rId32" Type="http://schemas.openxmlformats.org/officeDocument/2006/relationships/tags" Target="../tags/tag192.xml"/><Relationship Id="rId31" Type="http://schemas.openxmlformats.org/officeDocument/2006/relationships/tags" Target="../tags/tag191.xml"/><Relationship Id="rId30" Type="http://schemas.openxmlformats.org/officeDocument/2006/relationships/tags" Target="../tags/tag190.xml"/><Relationship Id="rId3" Type="http://schemas.openxmlformats.org/officeDocument/2006/relationships/tags" Target="../tags/tag164.xml"/><Relationship Id="rId29" Type="http://schemas.openxmlformats.org/officeDocument/2006/relationships/tags" Target="../tags/tag189.xml"/><Relationship Id="rId28" Type="http://schemas.openxmlformats.org/officeDocument/2006/relationships/tags" Target="../tags/tag188.xml"/><Relationship Id="rId27" Type="http://schemas.openxmlformats.org/officeDocument/2006/relationships/tags" Target="../tags/tag187.xml"/><Relationship Id="rId26" Type="http://schemas.openxmlformats.org/officeDocument/2006/relationships/tags" Target="../tags/tag186.xml"/><Relationship Id="rId25" Type="http://schemas.openxmlformats.org/officeDocument/2006/relationships/tags" Target="../tags/tag185.xml"/><Relationship Id="rId24" Type="http://schemas.openxmlformats.org/officeDocument/2006/relationships/tags" Target="../tags/tag184.xml"/><Relationship Id="rId23" Type="http://schemas.openxmlformats.org/officeDocument/2006/relationships/tags" Target="../tags/tag183.xml"/><Relationship Id="rId22" Type="http://schemas.openxmlformats.org/officeDocument/2006/relationships/tags" Target="../tags/tag182.xml"/><Relationship Id="rId21" Type="http://schemas.openxmlformats.org/officeDocument/2006/relationships/tags" Target="../tags/tag181.xml"/><Relationship Id="rId20" Type="http://schemas.openxmlformats.org/officeDocument/2006/relationships/tags" Target="../tags/tag180.xml"/><Relationship Id="rId2" Type="http://schemas.openxmlformats.org/officeDocument/2006/relationships/tags" Target="../tags/tag163.xml"/><Relationship Id="rId19" Type="http://schemas.openxmlformats.org/officeDocument/2006/relationships/tags" Target="../tags/tag179.xml"/><Relationship Id="rId18" Type="http://schemas.openxmlformats.org/officeDocument/2006/relationships/tags" Target="../tags/tag178.xml"/><Relationship Id="rId17" Type="http://schemas.openxmlformats.org/officeDocument/2006/relationships/tags" Target="../tags/tag177.xml"/><Relationship Id="rId16" Type="http://schemas.openxmlformats.org/officeDocument/2006/relationships/tags" Target="../tags/tag176.xml"/><Relationship Id="rId15" Type="http://schemas.openxmlformats.org/officeDocument/2006/relationships/tags" Target="../tags/tag175.xml"/><Relationship Id="rId14" Type="http://schemas.openxmlformats.org/officeDocument/2006/relationships/tags" Target="../tags/tag174.xml"/><Relationship Id="rId13" Type="http://schemas.openxmlformats.org/officeDocument/2006/relationships/tags" Target="../tags/tag173.xml"/><Relationship Id="rId12" Type="http://schemas.openxmlformats.org/officeDocument/2006/relationships/tags" Target="../tags/tag172.xml"/><Relationship Id="rId11" Type="http://schemas.openxmlformats.org/officeDocument/2006/relationships/tags" Target="../tags/tag171.xml"/><Relationship Id="rId10" Type="http://schemas.openxmlformats.org/officeDocument/2006/relationships/tags" Target="../tags/tag170.xml"/><Relationship Id="rId1" Type="http://schemas.openxmlformats.org/officeDocument/2006/relationships/tags" Target="../tags/tag16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hyperlink" Target="https://baike.baidu.com/item/%E5%BE%AE%E5%86%85%E6%A0%B8/3856137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4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4.jpe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6.jpeg"/><Relationship Id="rId1" Type="http://schemas.openxmlformats.org/officeDocument/2006/relationships/image" Target="../media/image14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6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4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4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4.jpe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8.jpeg"/><Relationship Id="rId1" Type="http://schemas.openxmlformats.org/officeDocument/2006/relationships/image" Target="../media/image14.jpe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image" Target="../media/image14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8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0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4.jpeg"/><Relationship Id="rId1" Type="http://schemas.openxmlformats.org/officeDocument/2006/relationships/image" Target="../media/image21.jpe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190" y="1557655"/>
            <a:ext cx="8912860" cy="791845"/>
          </a:xfrm>
        </p:spPr>
        <p:txBody>
          <a:bodyPr/>
          <a:lstStyle/>
          <a:p>
            <a:pPr eaLnBrk="1" hangingPunct="1"/>
            <a:r>
              <a:rPr lang="zh-CN" altLang="en-US"/>
              <a:t>文件管理</a:t>
            </a:r>
            <a:br>
              <a:rPr lang="zh-CN" altLang="en-US"/>
            </a:br>
            <a:r>
              <a:rPr lang="zh-CN" altLang="en-US"/>
              <a:t> </a:t>
            </a:r>
            <a:r>
              <a:rPr lang="en-US" altLang="zh-CN" sz="3600" b="1">
                <a:solidFill>
                  <a:schemeClr val="folHlink"/>
                </a:solidFill>
                <a:latin typeface="Times New Roman" panose="02020603050405020304" pitchFamily="18" charset="0"/>
              </a:rPr>
              <a:t>File Management</a:t>
            </a:r>
            <a:endParaRPr lang="zh-CN" altLang="en-US" sz="3600" b="1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075" name="图片 6" descr="HIT-Logo-AL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6165850"/>
            <a:ext cx="21605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2"/>
                </a:solidFill>
              </a:rPr>
              <a:t>授课</a:t>
            </a:r>
            <a:r>
              <a:rPr lang="zh-CN" altLang="en-US" dirty="0">
                <a:solidFill>
                  <a:schemeClr val="tx2"/>
                </a:solidFill>
              </a:rPr>
              <a:t>教师</a:t>
            </a:r>
            <a:r>
              <a:rPr lang="zh-CN" altLang="en-US">
                <a:solidFill>
                  <a:schemeClr val="tx2"/>
                </a:solidFill>
              </a:rPr>
              <a:t>：        </a:t>
            </a:r>
            <a:r>
              <a:rPr lang="zh-CN" altLang="en-US" dirty="0">
                <a:solidFill>
                  <a:schemeClr val="tx2"/>
                </a:solidFill>
              </a:rPr>
              <a:t>郑铁然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办公室地址： 哈工大综合楼6</a:t>
            </a:r>
            <a:r>
              <a:rPr lang="en-US" altLang="zh-CN" dirty="0">
                <a:solidFill>
                  <a:schemeClr val="tx2"/>
                </a:solidFill>
              </a:rPr>
              <a:t>03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办公室电话： </a:t>
            </a:r>
            <a:r>
              <a:rPr lang="en-US" altLang="zh-CN" dirty="0">
                <a:solidFill>
                  <a:schemeClr val="tx2"/>
                </a:solidFill>
              </a:rPr>
              <a:t>86417981-11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手机：            </a:t>
            </a:r>
            <a:r>
              <a:rPr lang="en-US" altLang="zh-CN" dirty="0">
                <a:solidFill>
                  <a:schemeClr val="tx2"/>
                </a:solidFill>
              </a:rPr>
              <a:t>13313655979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QQ</a:t>
            </a:r>
            <a:r>
              <a:rPr lang="zh-CN" altLang="en-US" dirty="0">
                <a:solidFill>
                  <a:schemeClr val="tx2"/>
                </a:solidFill>
              </a:rPr>
              <a:t>：              </a:t>
            </a:r>
            <a:r>
              <a:rPr lang="en-US" altLang="zh-CN" dirty="0">
                <a:solidFill>
                  <a:schemeClr val="tx2"/>
                </a:solidFill>
              </a:rPr>
              <a:t>2350562164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Email</a:t>
            </a:r>
            <a:r>
              <a:rPr lang="zh-CN" altLang="en-US" dirty="0">
                <a:solidFill>
                  <a:schemeClr val="tx2"/>
                </a:solidFill>
              </a:rPr>
              <a:t>：           </a:t>
            </a:r>
            <a:r>
              <a:rPr lang="en-US" altLang="zh-CN" dirty="0">
                <a:solidFill>
                  <a:schemeClr val="tx2"/>
                </a:solidFill>
              </a:rPr>
              <a:t>zhengtieran@hit.edu.cn</a:t>
            </a:r>
            <a:r>
              <a:rPr lang="zh-CN" altLang="en-US" dirty="0">
                <a:solidFill>
                  <a:schemeClr val="tx2"/>
                </a:solidFill>
              </a:rPr>
              <a:t>   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olidFill>
                  <a:schemeClr val="tx2"/>
                </a:solidFill>
              </a:rPr>
              <a:t>                          </a:t>
            </a:r>
            <a:r>
              <a:rPr lang="en-US" altLang="zh-CN" dirty="0">
                <a:solidFill>
                  <a:schemeClr val="tx2"/>
                </a:solidFill>
              </a:rPr>
              <a:t>                          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</a:rPr>
              <a:t>概述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文件组织和访问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文件共享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逻辑组块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辅存管理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ym typeface="+mn-ea"/>
              </a:rPr>
              <a:t>MINIX</a:t>
            </a:r>
            <a:r>
              <a:rPr lang="zh-CN" altLang="en-US" sz="2800" b="1" dirty="0">
                <a:sym typeface="+mn-ea"/>
              </a:rPr>
              <a:t>文件系统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endParaRPr lang="zh-CN" altLang="en-US" sz="2800" b="1" dirty="0">
              <a:solidFill>
                <a:schemeClr val="tx2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概述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5619750"/>
          </a:xfrm>
        </p:spPr>
        <p:txBody>
          <a:bodyPr/>
          <a:lstStyle/>
          <a:p>
            <a:pPr eaLnBrk="1" latinLnBrk="0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是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以硬盘为载体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的、存储在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计算机上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信息集合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大多数应用程序的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输入输出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都是通过文件实现的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通过文件可以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长期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保存信息，以便将来访问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需要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文件管理系统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，对文件进行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访问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、修改和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保存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文件的内涵：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是存储空间上的数据</a:t>
            </a:r>
            <a:endParaRPr lang="zh-CN" altLang="en-US" sz="21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914400" lvl="2" indent="457200" eaLnBrk="1" latinLnBrk="0" hangingPunct="1">
              <a:lnSpc>
                <a:spcPct val="13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----  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域、记录、文件、数据库</a:t>
            </a:r>
            <a:endParaRPr lang="zh-CN" altLang="en-US" sz="21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有用于分类和索引的</a:t>
            </a:r>
            <a:r>
              <a:rPr lang="en-US" altLang="zh-CN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标签</a:t>
            </a:r>
            <a:r>
              <a:rPr lang="en-US" altLang="zh-CN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”</a:t>
            </a:r>
            <a:endParaRPr lang="en-US" altLang="zh-CN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包含关于访问权限的信息</a:t>
            </a:r>
            <a:endParaRPr lang="zh-CN" altLang="en-US" sz="21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文件的外延：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文件系统是操作系统的重要组成部分</a:t>
            </a:r>
            <a:endParaRPr lang="zh-CN" altLang="en-US" sz="21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3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文件系统提供了与二级存储相关的资源的抽象</a:t>
            </a:r>
            <a:endParaRPr lang="en-US" altLang="zh-CN" sz="21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8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8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概述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5619750"/>
          </a:xfrm>
        </p:spPr>
        <p:txBody>
          <a:bodyPr/>
          <a:lstStyle/>
          <a:p>
            <a:pPr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文件管理系统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是一组系统软件，为使用文件的应用程序和用户提供服务。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文件系统的功能：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实现对文件的基本操作</a:t>
            </a:r>
            <a:endParaRPr lang="zh-CN" altLang="en-US" sz="21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altLang="zh-CN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</a:t>
            </a:r>
            <a:r>
              <a:rPr lang="en-US" altLang="zh-CN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------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创建、删除、打开、关闭、读、写等</a:t>
            </a:r>
            <a:endParaRPr lang="zh-CN" altLang="en-US" sz="21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按名存储和查找文件，组织成合适的结构</a:t>
            </a:r>
            <a:endParaRPr lang="zh-CN" altLang="en-US" sz="21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具有基本的文件共享和文件保护功能</a:t>
            </a:r>
            <a:endParaRPr lang="zh-CN" altLang="en-US" sz="21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管理与磁盘的信息交互</a:t>
            </a:r>
            <a:endParaRPr lang="zh-CN" altLang="en-US" sz="21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完成文件逻辑结构和物理结构的变换</a:t>
            </a:r>
            <a:endParaRPr lang="zh-CN" altLang="en-US" sz="21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组织文件在磁盘上存放</a:t>
            </a:r>
            <a:endParaRPr lang="zh-CN" altLang="en-US" sz="21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采用好的文件排放顺序和磁盘调度方法以提升系统的性能</a:t>
            </a:r>
            <a:endParaRPr lang="zh-CN" altLang="en-US" sz="2100" b="1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概述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5619750"/>
          </a:xfrm>
        </p:spPr>
        <p:txBody>
          <a:bodyPr/>
          <a:lstStyle/>
          <a:p>
            <a:pPr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文件系统架构</a:t>
            </a:r>
            <a:endParaRPr lang="zh-CN" altLang="en-US" sz="2100" b="1" dirty="0" smtClean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41325" y="2138680"/>
            <a:ext cx="6035040" cy="4015740"/>
          </a:xfrm>
          <a:prstGeom prst="rect">
            <a:avLst/>
          </a:prstGeom>
        </p:spPr>
      </p:pic>
      <p:sp>
        <p:nvSpPr>
          <p:cNvPr id="6" name="圆角矩形标注 5"/>
          <p:cNvSpPr/>
          <p:nvPr/>
        </p:nvSpPr>
        <p:spPr>
          <a:xfrm>
            <a:off x="7019925" y="2564765"/>
            <a:ext cx="1526540" cy="647700"/>
          </a:xfrm>
          <a:prstGeom prst="wedgeRoundRectCallout">
            <a:avLst>
              <a:gd name="adj1" fmla="val -111350"/>
              <a:gd name="adj2" fmla="val 211764"/>
              <a:gd name="adj3" fmla="val 16667"/>
            </a:avLst>
          </a:prstGeom>
          <a:solidFill>
            <a:schemeClr val="bg1"/>
          </a:solidFill>
          <a:ln w="222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逻辑文件系统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7019925" y="3644900"/>
            <a:ext cx="1526540" cy="647700"/>
          </a:xfrm>
          <a:prstGeom prst="wedgeRoundRectCallout">
            <a:avLst>
              <a:gd name="adj1" fmla="val -107529"/>
              <a:gd name="adj2" fmla="val 126862"/>
              <a:gd name="adj3" fmla="val 16667"/>
            </a:avLst>
          </a:prstGeom>
          <a:solidFill>
            <a:schemeClr val="bg1"/>
          </a:solidFill>
          <a:ln w="222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文件组织模块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7019925" y="4561205"/>
            <a:ext cx="1526540" cy="647700"/>
          </a:xfrm>
          <a:prstGeom prst="wedgeRoundRectCallout">
            <a:avLst>
              <a:gd name="adj1" fmla="val -106447"/>
              <a:gd name="adj2" fmla="val 71568"/>
              <a:gd name="adj3" fmla="val 16667"/>
            </a:avLst>
          </a:prstGeom>
          <a:solidFill>
            <a:schemeClr val="bg1"/>
          </a:solidFill>
          <a:ln w="222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基本文件系统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7003415" y="6051550"/>
            <a:ext cx="1526540" cy="647700"/>
          </a:xfrm>
          <a:prstGeom prst="wedgeRoundRectCallout">
            <a:avLst>
              <a:gd name="adj1" fmla="val -275457"/>
              <a:gd name="adj2" fmla="val -51764"/>
              <a:gd name="adj3" fmla="val 16667"/>
            </a:avLst>
          </a:prstGeom>
          <a:solidFill>
            <a:schemeClr val="bg1"/>
          </a:solidFill>
          <a:ln w="222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控制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3" grpId="0" bldLvl="0" animBg="1"/>
      <p:bldP spid="4" grpId="0" bldLvl="0" animBg="1"/>
      <p:bldP spid="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概述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561975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控制：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设备驱动程序和中断处理程序，在内存和磁盘之间传送信息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基本文件系统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：也称为物理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层，读取和写入磁盘的物理块。关注的是这些块在辅存中和内存缓冲区中的位置。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文件组织模块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：将逻辑块地址转化称物理块地址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逻辑文件系统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：管理和维护文件系统的所有逻辑结构信息。负责文件保护。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概述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5619750"/>
          </a:xfrm>
        </p:spPr>
        <p:txBody>
          <a:bodyPr/>
          <a:lstStyle/>
          <a:p>
            <a:pPr eaLnBrk="1" latinLnBrk="0" hangingPunct="1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文件管理功能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7360" y="1772920"/>
            <a:ext cx="7938136" cy="449199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概述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</a:rPr>
              <a:t>文件组织和访问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文件共享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逻辑组块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辅存管理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ym typeface="+mn-ea"/>
              </a:rPr>
              <a:t>MINIX</a:t>
            </a:r>
            <a:r>
              <a:rPr lang="zh-CN" altLang="en-US" sz="2800" b="1" dirty="0">
                <a:sym typeface="+mn-ea"/>
              </a:rPr>
              <a:t>文件系统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endParaRPr lang="zh-CN" altLang="en-US" sz="2800" b="1" dirty="0">
              <a:solidFill>
                <a:schemeClr val="tx2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文件组织和访问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561975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堆：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按数据到达顺序收集，每条记录由一串数据组成。记录可以有不同的域，每个域应该有自我描述。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顺序文件：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每条记录有固定的格式，相同的长度，包含相同数量和长度固定的域。关键域按顺序排列。设置一个Log File，把试图增加，删除或者修改的信息记录于其中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56205" y="4292600"/>
            <a:ext cx="3832225" cy="241046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文件组织和访问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561975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索引顺序文件：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用索引提供了快速接近目标记录的查找能力。增加了溢出文件，用来记录新增，删除和修改的记录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索引文件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：对于可变长记录文件，建立与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表项大小相等的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索引表，可以多索引，可以部分索引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95195" y="3572510"/>
            <a:ext cx="4624863" cy="311419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文件组织和访问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561975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文件控制块（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FCB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）：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存放控制文件需要的各种信息的数据结构。包括：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基本信息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：文件名、文件的物理位置、文件的逻辑结构、文件的物理结构等；</a:t>
            </a:r>
            <a:endParaRPr lang="zh-CN" altLang="en-US" sz="21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访问控制信息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：文件的存取权限、所有者、授权用户的存取权限、一般用户的存取权限等；</a:t>
            </a:r>
            <a:endParaRPr lang="zh-CN" altLang="en-US" sz="21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使用信息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：文件建立时间、上次修改时间等。</a:t>
            </a:r>
            <a:endParaRPr lang="zh-CN" altLang="en-US" sz="21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目录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FCB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的有序集合，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FCB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就是集合中的一个文件目录项。文件目录也被视为文件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---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目录文件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文件组织和访问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561975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目录的树状结构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每个子目录都在上级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目录文件中有一个目录项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FCB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每个子目录都是一个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目录文件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40200" y="1267460"/>
            <a:ext cx="4340542" cy="5474017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文件组织和访问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561975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当文件很多时，文件目录会占用大量的盘块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在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检索目录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的过程中，只用到了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文件名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其它描述信息不会被用到，也不需要调入内存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有的操作系统中，将除文件名之外的其它描述信息单独形成一个数据结构，称为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索引结点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，简称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结点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inode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目录文件中每个目录项仅由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文件名和指向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结点的指针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构成。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每个文件在磁盘中有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唯一的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索引结点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当文件被打开时，要将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磁盘索引结点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复制到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内存的索引结点中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。且有编号、状态、访问计数等信息。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概述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文件组织和访问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</a:rPr>
              <a:t>文件共享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逻辑组块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辅存管理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ym typeface="+mn-ea"/>
              </a:rPr>
              <a:t>MINIX</a:t>
            </a:r>
            <a:r>
              <a:rPr lang="zh-CN" altLang="en-US" sz="2800" b="1" dirty="0">
                <a:sym typeface="+mn-ea"/>
              </a:rPr>
              <a:t>文件系统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endParaRPr lang="zh-CN" altLang="en-US" sz="2800" b="1" dirty="0">
              <a:solidFill>
                <a:schemeClr val="tx2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文件共享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561975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在多用户系统中总是允许文件在多个用户间共享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文件系统可以授予用户或用户组某些权限：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知道、执行、读、追加、更新、改变保护、删除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通常所有者是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创建者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，所有者具有所有权限，并可以给其它用户授权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文件共享机制：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基于索引节点的文件共享（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打开文件表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1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利用符号链接实现的文件共享</a:t>
            </a:r>
            <a:endParaRPr lang="zh-CN" altLang="en-US" sz="21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在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设计文件共享时，必须解决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互斥和死锁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问题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文件组织和访问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561975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文件系统在内存中的结构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1" y="2204721"/>
            <a:ext cx="8591552" cy="43586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圆角矩形标注 5"/>
          <p:cNvSpPr/>
          <p:nvPr>
            <p:custDataLst>
              <p:tags r:id="rId2"/>
            </p:custDataLst>
          </p:nvPr>
        </p:nvSpPr>
        <p:spPr>
          <a:xfrm>
            <a:off x="5580380" y="5372735"/>
            <a:ext cx="2568575" cy="647700"/>
          </a:xfrm>
          <a:prstGeom prst="wedgeRoundRectCallout">
            <a:avLst>
              <a:gd name="adj1" fmla="val -229381"/>
              <a:gd name="adj2" fmla="val -327941"/>
              <a:gd name="adj3" fmla="val 16667"/>
            </a:avLst>
          </a:prstGeom>
          <a:solidFill>
            <a:schemeClr val="bg1"/>
          </a:solidFill>
          <a:ln w="222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Unix</a:t>
            </a: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：文件描述符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windows</a:t>
            </a:r>
            <a:r>
              <a:rPr kumimoji="0" lang="zh-CN" altLang="en-US" sz="1800" b="1" i="0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：文件句柄</a:t>
            </a: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  <p:bldP spid="6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概述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文件组织和访问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文件共享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</a:rPr>
              <a:t>逻辑组块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辅存管理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ym typeface="+mn-ea"/>
              </a:rPr>
              <a:t>MINIX</a:t>
            </a:r>
            <a:r>
              <a:rPr lang="zh-CN" altLang="en-US" sz="2800" b="1" dirty="0">
                <a:sym typeface="+mn-ea"/>
              </a:rPr>
              <a:t>文件系统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endParaRPr lang="zh-CN" altLang="en-US" sz="2800" b="1" dirty="0">
              <a:solidFill>
                <a:schemeClr val="tx2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无标题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7175" y="3932555"/>
            <a:ext cx="5078095" cy="2895600"/>
          </a:xfrm>
          <a:prstGeom prst="rect">
            <a:avLst/>
          </a:prstGeom>
        </p:spPr>
      </p:pic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逻辑组块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5619750"/>
          </a:xfrm>
        </p:spPr>
        <p:txBody>
          <a:bodyPr/>
          <a:lstStyle/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在外存管理中，为了方便对文件数据的管理，文件的逻辑地址空间也被分为了一个一个的文件“块”。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三种组块方式：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457200"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定长组块、变长跨越式组块、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变长非跨越式组块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定长组块查询效率高，碎片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大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变长组块碎片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小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适用的场景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不同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跨越式组块结尾需要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指针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概述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文件组织和访问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文件共享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记录组块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</a:rPr>
              <a:t>辅存管理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ym typeface="+mn-ea"/>
              </a:rPr>
              <a:t>MINIX</a:t>
            </a:r>
            <a:r>
              <a:rPr lang="zh-CN" altLang="en-US" sz="2800" b="1" dirty="0">
                <a:sym typeface="+mn-ea"/>
              </a:rPr>
              <a:t>文件系统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endParaRPr lang="zh-CN" altLang="en-US" sz="2800" b="1" dirty="0">
              <a:solidFill>
                <a:srgbClr val="C00000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zh-CN" altLang="en-US" sz="28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文件组织和访问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561975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文件系统在外存中结构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94970" y="2305685"/>
            <a:ext cx="8305800" cy="3887470"/>
            <a:chOff x="509" y="3970"/>
            <a:chExt cx="13080" cy="6122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custDataLst>
                <p:tags r:id="rId1"/>
              </p:custDataLst>
            </p:nvPr>
          </p:nvGraphicFramePr>
          <p:xfrm>
            <a:off x="509" y="4606"/>
            <a:ext cx="13081" cy="46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" r:id="rId2" imgW="9229725" imgH="3267075" progId="Paint.Picture">
                    <p:embed/>
                  </p:oleObj>
                </mc:Choice>
                <mc:Fallback>
                  <p:oleObj name="" r:id="rId2" imgW="9229725" imgH="3267075" progId="Paint.Picture">
                    <p:embed/>
                    <p:pic>
                      <p:nvPicPr>
                        <p:cNvPr id="0" name="图片 2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09" y="4606"/>
                          <a:ext cx="13081" cy="463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3"/>
            <p:cNvSpPr txBox="1"/>
            <p:nvPr/>
          </p:nvSpPr>
          <p:spPr>
            <a:xfrm>
              <a:off x="5850" y="3970"/>
              <a:ext cx="253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solidFill>
                    <a:srgbClr val="0070C0"/>
                  </a:solidFill>
                  <a:latin typeface="黑体" panose="02010609060101010101" charset="-122"/>
                  <a:ea typeface="黑体" panose="02010609060101010101" charset="-122"/>
                </a:rPr>
                <a:t>整个磁盘</a:t>
              </a:r>
              <a:endParaRPr lang="zh-CN" altLang="en-US" sz="2400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4"/>
              </p:custDataLst>
            </p:nvPr>
          </p:nvSpPr>
          <p:spPr>
            <a:xfrm>
              <a:off x="5824" y="9368"/>
              <a:ext cx="253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solidFill>
                    <a:srgbClr val="0070C0"/>
                  </a:solidFill>
                  <a:latin typeface="黑体" panose="02010609060101010101" charset="-122"/>
                  <a:ea typeface="黑体" panose="02010609060101010101" charset="-122"/>
                </a:rPr>
                <a:t>逻辑分区</a:t>
              </a:r>
              <a:endParaRPr lang="zh-CN" altLang="en-US" sz="2400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文件组织和访问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561975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MBR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位于磁盘的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号扇区，记录着硬盘本身的相关信息以及硬盘各个分区的大小及位置信息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引导块：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引导块中的程序负责启动该分区中的操作系统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超级块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：包含文件系统中的所有关键信息。启动时会被读入内存，是</a:t>
            </a: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文件系统的第一个块，存放文件系统本身的结构信息描述</a:t>
            </a:r>
            <a:r>
              <a:rPr 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文件系统整体信息的数据结构</a:t>
            </a:r>
            <a:endParaRPr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空闲块信息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：用位示图或指针链接的形式给出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辅存管理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8325485" cy="4288155"/>
          </a:xfrm>
        </p:spPr>
        <p:txBody>
          <a:bodyPr/>
          <a:lstStyle/>
          <a:p>
            <a:pPr marL="0" indent="0"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两大问题：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algn="l" eaLnBrk="1" latinLnBrk="0" hangingPunct="1">
              <a:lnSpc>
                <a:spcPct val="200000"/>
              </a:lnSpc>
              <a:spcBef>
                <a:spcPts val="600"/>
              </a:spcBef>
              <a:buClrTx/>
              <a:buSzTx/>
              <a:buFont typeface="Wingdings" panose="05000000000000000000" charset="0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文件分配：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algn="l" eaLnBrk="1" latinLnBrk="0" hangingPunct="1">
              <a:lnSpc>
                <a:spcPct val="200000"/>
              </a:lnSpc>
              <a:spcBef>
                <a:spcPts val="600"/>
              </a:spcBef>
              <a:buClrTx/>
              <a:buSzTx/>
              <a:buFont typeface="Wingdings" panose="05000000000000000000" charset="0"/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如何为文件分配磁盘块</a:t>
            </a:r>
            <a:endParaRPr lang="zh-CN" altLang="en-US" sz="21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algn="l" eaLnBrk="1" latinLnBrk="0" hangingPunct="1">
              <a:lnSpc>
                <a:spcPct val="200000"/>
              </a:lnSpc>
              <a:spcBef>
                <a:spcPts val="600"/>
              </a:spcBef>
              <a:buClrTx/>
              <a:buSzTx/>
              <a:buFont typeface="Wingdings" panose="05000000000000000000" charset="0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辅存空闲空间管理：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algn="l" eaLnBrk="1" latinLnBrk="0" hangingPunct="1">
              <a:lnSpc>
                <a:spcPct val="200000"/>
              </a:lnSpc>
              <a:spcBef>
                <a:spcPts val="600"/>
              </a:spcBef>
              <a:buClrTx/>
              <a:buSzTx/>
              <a:buFont typeface="Wingdings" panose="05000000000000000000" charset="0"/>
              <a:buNone/>
              <a:defRPr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空闲块的组织、分配和回收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algn="l" eaLnBrk="1" latinLnBrk="0" hangingPunct="1">
              <a:lnSpc>
                <a:spcPct val="200000"/>
              </a:lnSpc>
              <a:spcBef>
                <a:spcPts val="600"/>
              </a:spcBef>
              <a:buClrTx/>
              <a:buSzTx/>
              <a:buFont typeface="Wingdings" panose="05000000000000000000" charset="0"/>
              <a:buNone/>
              <a:defRPr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辅存管理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3907155" cy="4288155"/>
          </a:xfrm>
        </p:spPr>
        <p:txBody>
          <a:bodyPr/>
          <a:lstStyle/>
          <a:p>
            <a:pPr marL="0" indent="0"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连续文件分配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要求每个文件在磁盘上占用一组连续的块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顺序读/写时速度快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可直接访问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文件长度不宜动态增加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增删记录不但需要移动其它盘块，还需改变文件长度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外碎片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457200"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036060" y="2192020"/>
            <a:ext cx="2536825" cy="4191000"/>
            <a:chOff x="6356" y="3452"/>
            <a:chExt cx="3995" cy="6600"/>
          </a:xfrm>
        </p:grpSpPr>
        <p:grpSp>
          <p:nvGrpSpPr>
            <p:cNvPr id="7172" name="Group 4"/>
            <p:cNvGrpSpPr/>
            <p:nvPr/>
          </p:nvGrpSpPr>
          <p:grpSpPr bwMode="auto">
            <a:xfrm>
              <a:off x="7231" y="4412"/>
              <a:ext cx="2640" cy="5400"/>
              <a:chOff x="768" y="816"/>
              <a:chExt cx="1056" cy="2160"/>
            </a:xfrm>
          </p:grpSpPr>
          <p:sp>
            <p:nvSpPr>
              <p:cNvPr id="7292" name="Rectangle 5"/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768" y="816"/>
                <a:ext cx="192" cy="144"/>
              </a:xfrm>
              <a:prstGeom prst="rect">
                <a:avLst/>
              </a:prstGeom>
              <a:solidFill>
                <a:srgbClr val="009999"/>
              </a:solidFill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0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93" name="Rectangle 6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1056" y="816"/>
                <a:ext cx="192" cy="144"/>
              </a:xfrm>
              <a:prstGeom prst="rect">
                <a:avLst/>
              </a:prstGeom>
              <a:solidFill>
                <a:srgbClr val="009999"/>
              </a:solidFill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1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94" name="Rectangle 7"/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1344" y="816"/>
                <a:ext cx="192" cy="14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2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95" name="Rectangle 8"/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1632" y="816"/>
                <a:ext cx="192" cy="14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3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96" name="Rectangle 9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768" y="1104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4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97" name="Rectangle 10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056" y="1104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5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98" name="Rectangle 11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344" y="1104"/>
                <a:ext cx="192" cy="14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6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99" name="Rectangle 12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632" y="1104"/>
                <a:ext cx="192" cy="14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7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00" name="Rectangle 13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768" y="1392"/>
                <a:ext cx="192" cy="14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8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01" name="Rectangle 14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1056" y="1392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9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02" name="Rectangle 15"/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1344" y="1392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10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03" name="Rectangle 16"/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1632" y="1392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11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04" name="Rectangle 17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768" y="1680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12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05" name="Rectangle 18"/>
              <p:cNvSpPr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1056" y="1680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13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06" name="Rectangle 19"/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1344" y="1680"/>
                <a:ext cx="192" cy="14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14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07" name="Rectangle 20"/>
              <p:cNvSpPr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1632" y="1680"/>
                <a:ext cx="192" cy="14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15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08" name="Rectangle 21"/>
              <p:cNvSpPr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768" y="1968"/>
                <a:ext cx="192" cy="14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16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09" name="Rectangle 22"/>
              <p:cNvSpPr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1056" y="1968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17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10" name="Rectangle 23"/>
              <p:cNvSpPr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1344" y="1968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18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11" name="Rectangle 24"/>
              <p:cNvSpPr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1632" y="1968"/>
                <a:ext cx="192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19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12" name="Rectangle 25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768" y="2256"/>
                <a:ext cx="192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20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13" name="Rectangle 26"/>
              <p:cNvSpPr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1056" y="2256"/>
                <a:ext cx="192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21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14" name="Rectangle 27"/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344" y="2256"/>
                <a:ext cx="192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22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15" name="Rectangle 28"/>
              <p:cNvSpPr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1632" y="2256"/>
                <a:ext cx="192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23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16" name="Rectangle 29"/>
              <p:cNvSpPr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768" y="2544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24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17" name="Rectangle 30"/>
              <p:cNvSpPr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1056" y="2544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25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18" name="Rectangle 31"/>
              <p:cNvSpPr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1344" y="2544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26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19" name="Rectangle 32"/>
              <p:cNvSpPr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1632" y="2544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27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20" name="Rectangle 33"/>
              <p:cNvSpPr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768" y="2832"/>
                <a:ext cx="192" cy="144"/>
              </a:xfrm>
              <a:prstGeom prst="rect">
                <a:avLst/>
              </a:prstGeom>
              <a:gradFill>
                <a:gsLst>
                  <a:gs pos="0">
                    <a:srgbClr val="D9A87F"/>
                  </a:gs>
                  <a:gs pos="100000">
                    <a:srgbClr val="AC693C"/>
                  </a:gs>
                </a:gsLst>
                <a:lin ang="5400000" scaled="1"/>
              </a:gradFill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28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21" name="Rectangle 34"/>
              <p:cNvSpPr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1056" y="2832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29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22" name="Rectangle 35"/>
              <p:cNvSpPr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1344" y="2832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30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23" name="Rectangle 36"/>
              <p:cNvSpPr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1632" y="2832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993300"/>
                  </a:buClr>
                  <a:buSzPct val="9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CC6600"/>
                  </a:buClr>
                  <a:buSzPct val="80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6600"/>
                  </a:buClr>
                  <a:buSzPct val="75000"/>
                  <a:buFont typeface="Times New Roman" panose="02020603050405020304" pitchFamily="18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Times New Roman" panose="02020603050405020304" pitchFamily="18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31</a:t>
                </a:r>
                <a:endParaRPr kumimoji="1" lang="en-US" altLang="zh-CN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173" name="AutoShape 37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631" y="3452"/>
              <a:ext cx="3720" cy="6600"/>
            </a:xfrm>
            <a:prstGeom prst="can">
              <a:avLst>
                <a:gd name="adj" fmla="val 23032"/>
              </a:avLst>
            </a:prstGeom>
            <a:noFill/>
            <a:ln w="28575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7174" name="Text Box 38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6356" y="3932"/>
              <a:ext cx="1355" cy="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test.c</a:t>
              </a:r>
              <a:endParaRPr kumimoji="1"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75" name="Text Box 39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8431" y="4652"/>
              <a:ext cx="360" cy="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endParaRPr kumimoji="1"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76" name="Text Box 40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8311" y="6092"/>
              <a:ext cx="600" cy="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tr</a:t>
              </a:r>
              <a:endParaRPr kumimoji="1"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77" name="Text Box 41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8791" y="6787"/>
              <a:ext cx="1080" cy="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mail</a:t>
              </a:r>
              <a:endParaRPr kumimoji="1"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78" name="Text Box 42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6751" y="8917"/>
              <a:ext cx="1080" cy="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list</a:t>
              </a:r>
              <a:endParaRPr kumimoji="1"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3" name="表格 2"/>
          <p:cNvGraphicFramePr/>
          <p:nvPr/>
        </p:nvGraphicFramePr>
        <p:xfrm>
          <a:off x="6732270" y="2420620"/>
          <a:ext cx="223710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715"/>
                <a:gridCol w="726440"/>
                <a:gridCol w="742950"/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文件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起始块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长度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test.c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mail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 Box 38"/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7463790" y="2049780"/>
            <a:ext cx="8604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800">
                <a:solidFill>
                  <a:srgbClr val="0070C0"/>
                </a:solidFill>
                <a:latin typeface="Times New Roman" panose="02020603050405020304" pitchFamily="18" charset="0"/>
              </a:rPr>
              <a:t>目录</a:t>
            </a:r>
            <a:endParaRPr kumimoji="1" lang="zh-CN" altLang="en-US" sz="180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辅存管理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3676015" cy="4288155"/>
          </a:xfrm>
        </p:spPr>
        <p:txBody>
          <a:bodyPr/>
          <a:lstStyle/>
          <a:p>
            <a:pPr marL="0" indent="0"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隐式链接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离散分配，无外碎片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除最后一个盘块外，每个盘块末尾都含有指向文件下一个盘块的指针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只适合顺序访问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稳定性差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457200"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6942455" y="2418080"/>
          <a:ext cx="2157095" cy="240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015"/>
                <a:gridCol w="773430"/>
                <a:gridCol w="755650"/>
              </a:tblGrid>
              <a:tr h="518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文件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起始块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结束块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test.c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 Box 3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463790" y="2049780"/>
            <a:ext cx="8604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800">
                <a:solidFill>
                  <a:srgbClr val="0070C0"/>
                </a:solidFill>
                <a:latin typeface="Times New Roman" panose="02020603050405020304" pitchFamily="18" charset="0"/>
              </a:rPr>
              <a:t>目录</a:t>
            </a:r>
            <a:endParaRPr kumimoji="1" lang="zh-CN" altLang="en-US" sz="180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180" name="Group 44"/>
          <p:cNvGrpSpPr/>
          <p:nvPr/>
        </p:nvGrpSpPr>
        <p:grpSpPr bwMode="auto">
          <a:xfrm>
            <a:off x="4016375" y="2057400"/>
            <a:ext cx="2819400" cy="4038600"/>
            <a:chOff x="576" y="864"/>
            <a:chExt cx="1776" cy="2544"/>
          </a:xfrm>
        </p:grpSpPr>
        <p:sp>
          <p:nvSpPr>
            <p:cNvPr id="7223" name="AutoShape 4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76" y="864"/>
              <a:ext cx="1776" cy="2544"/>
            </a:xfrm>
            <a:prstGeom prst="can">
              <a:avLst>
                <a:gd name="adj" fmla="val 15147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7224" name="Rectangle 46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76" y="1152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0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25" name="Rectangle 47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991" y="1152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26" name="Rectangle 48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405" y="1152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27" name="Rectangle 49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820" y="1152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3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28" name="Rectangle 50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76" y="1440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4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29" name="Rectangle 51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991" y="1440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5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30" name="Rectangle 52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405" y="1440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6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31" name="Rectangle 5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820" y="1440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7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32" name="Rectangle 5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76" y="1728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8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33" name="Rectangle 55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991" y="1728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9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34" name="Rectangle 56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405" y="1728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10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35" name="Rectangle 57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820" y="1728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11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36" name="Rectangle 58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76" y="2016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12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37" name="Rectangle 59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91" y="2016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13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38" name="Rectangle 60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405" y="2016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14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39" name="Rectangle 61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820" y="2016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15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40" name="Rectangle 62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576" y="2304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16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41" name="Rectangle 63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991" y="2304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17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42" name="Rectangle 64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405" y="2304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18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43" name="Rectangle 65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820" y="2304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19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44" name="Rectangle 66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76" y="2592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20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45" name="Rectangle 67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991" y="2592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21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46" name="Rectangle 68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405" y="2592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22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47" name="Rectangle 69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820" y="2592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23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48" name="Rectangle 70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76" y="2880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24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49" name="Rectangle 71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991" y="2880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25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50" name="Rectangle 72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405" y="2880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26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51" name="Rectangle 73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820" y="2880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27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52" name="Rectangle 74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76" y="3168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28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53" name="Rectangle 75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991" y="3168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29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54" name="Rectangle 76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405" y="3168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30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55" name="Rectangle 77"/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820" y="3168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31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56" name="Rectangle 78"/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816" y="1152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57" name="Rectangle 79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816" y="1440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58" name="Rectangle 80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816" y="1728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59" name="Rectangle 81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816" y="2016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60" name="Rectangle 82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816" y="2304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solidFill>
                  <a:srgbClr val="99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61" name="Rectangle 83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816" y="2592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62" name="Rectangle 84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816" y="2880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63" name="Rectangle 85"/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816" y="3168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64" name="Rectangle 86"/>
            <p:cNvSpPr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1248" y="1152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</a:rPr>
                <a:t>10</a:t>
              </a:r>
              <a:endParaRPr kumimoji="1" lang="en-US" altLang="zh-CN" sz="1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65" name="Rectangle 87"/>
            <p:cNvSpPr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1248" y="1440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66" name="Rectangle 88"/>
            <p:cNvSpPr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1248" y="1728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</a:rPr>
                <a:t>-1</a:t>
              </a:r>
              <a:endParaRPr kumimoji="1" lang="en-US" altLang="zh-CN" sz="1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67" name="Rectangle 89"/>
            <p:cNvSpPr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1248" y="2016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68" name="Rectangle 90"/>
            <p:cNvSpPr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1248" y="2304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</a:rPr>
                <a:t>9</a:t>
              </a:r>
              <a:endParaRPr kumimoji="1" lang="en-US" altLang="zh-CN" sz="1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69" name="Rectangle 91"/>
            <p:cNvSpPr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1248" y="2592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70" name="Rectangle 92"/>
            <p:cNvSpPr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1248" y="2880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solidFill>
                  <a:srgbClr val="99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1" name="Rectangle 93"/>
            <p:cNvSpPr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1248" y="3168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72" name="Rectangle 94"/>
            <p:cNvSpPr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1632" y="1152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73" name="Rectangle 95"/>
            <p:cNvSpPr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1632" y="1440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74" name="Rectangle 96"/>
            <p:cNvSpPr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1632" y="1728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</a:rPr>
                <a:t>17</a:t>
              </a:r>
              <a:endParaRPr kumimoji="1" lang="en-US" altLang="zh-CN" sz="1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5" name="Rectangle 97"/>
            <p:cNvSpPr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1632" y="2016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76" name="Rectangle 98"/>
            <p:cNvSpPr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1632" y="2304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77" name="Rectangle 99"/>
            <p:cNvSpPr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1632" y="2592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78" name="Rectangle 100"/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1632" y="2880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79" name="Rectangle 101"/>
            <p:cNvSpPr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1632" y="3168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80" name="Rectangle 102"/>
            <p:cNvSpPr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2064" y="1152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81" name="Rectangle 103"/>
            <p:cNvSpPr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2064" y="1440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82" name="Rectangle 104"/>
            <p:cNvSpPr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2064" y="1728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83" name="Rectangle 105"/>
            <p:cNvSpPr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2064" y="2016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84" name="Rectangle 106"/>
            <p:cNvSpPr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2064" y="2304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85" name="Rectangle 107"/>
            <p:cNvSpPr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2064" y="2592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86" name="Rectangle 108"/>
            <p:cNvSpPr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2064" y="2880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87" name="Rectangle 109"/>
            <p:cNvSpPr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2064" y="3168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88" name="Freeform 110"/>
            <p:cNvSpPr/>
            <p:nvPr>
              <p:custDataLst>
                <p:tags r:id="rId68"/>
              </p:custDataLst>
            </p:nvPr>
          </p:nvSpPr>
          <p:spPr bwMode="auto">
            <a:xfrm>
              <a:off x="1440" y="1248"/>
              <a:ext cx="344" cy="480"/>
            </a:xfrm>
            <a:custGeom>
              <a:avLst/>
              <a:gdLst>
                <a:gd name="T0" fmla="*/ 0 w 344"/>
                <a:gd name="T1" fmla="*/ 0 h 480"/>
                <a:gd name="T2" fmla="*/ 288 w 344"/>
                <a:gd name="T3" fmla="*/ 240 h 480"/>
                <a:gd name="T4" fmla="*/ 336 w 344"/>
                <a:gd name="T5" fmla="*/ 48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4" h="480">
                  <a:moveTo>
                    <a:pt x="0" y="0"/>
                  </a:moveTo>
                  <a:cubicBezTo>
                    <a:pt x="116" y="80"/>
                    <a:pt x="232" y="160"/>
                    <a:pt x="288" y="240"/>
                  </a:cubicBezTo>
                  <a:cubicBezTo>
                    <a:pt x="344" y="320"/>
                    <a:pt x="340" y="400"/>
                    <a:pt x="336" y="480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9" name="Line 111"/>
            <p:cNvSpPr>
              <a:spLocks noChangeShapeType="1"/>
            </p:cNvSpPr>
            <p:nvPr>
              <p:custDataLst>
                <p:tags r:id="rId69"/>
              </p:custDataLst>
            </p:nvPr>
          </p:nvSpPr>
          <p:spPr bwMode="auto">
            <a:xfrm flipH="1">
              <a:off x="1344" y="1872"/>
              <a:ext cx="384" cy="4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0" name="Text Box 112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1104" y="912"/>
              <a:ext cx="5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test.c</a:t>
              </a:r>
              <a:endParaRPr kumimoji="1"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91" name="Freeform 113"/>
            <p:cNvSpPr/>
            <p:nvPr>
              <p:custDataLst>
                <p:tags r:id="rId71"/>
              </p:custDataLst>
            </p:nvPr>
          </p:nvSpPr>
          <p:spPr bwMode="auto">
            <a:xfrm>
              <a:off x="1296" y="1872"/>
              <a:ext cx="1" cy="432"/>
            </a:xfrm>
            <a:custGeom>
              <a:avLst/>
              <a:gdLst>
                <a:gd name="T0" fmla="*/ 0 w 1"/>
                <a:gd name="T1" fmla="*/ 432 h 432"/>
                <a:gd name="T2" fmla="*/ 0 w 1"/>
                <a:gd name="T3" fmla="*/ 336 h 432"/>
                <a:gd name="T4" fmla="*/ 0 w 1"/>
                <a:gd name="T5" fmla="*/ 0 h 4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432">
                  <a:moveTo>
                    <a:pt x="0" y="432"/>
                  </a:moveTo>
                  <a:cubicBezTo>
                    <a:pt x="0" y="420"/>
                    <a:pt x="0" y="408"/>
                    <a:pt x="0" y="336"/>
                  </a:cubicBezTo>
                  <a:cubicBezTo>
                    <a:pt x="0" y="264"/>
                    <a:pt x="0" y="132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辅存管理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5126355" cy="4288155"/>
          </a:xfrm>
        </p:spPr>
        <p:txBody>
          <a:bodyPr/>
          <a:lstStyle/>
          <a:p>
            <a:pPr marL="0" indent="0"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显式链接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指将用于链接各物理块的指针显示地存放在一张表中。即文件分配表（FAT，File Allocation Table）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整个磁盘仅一张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FAT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FAT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还可以标注空闲的磁盘块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操作系统启动时会将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FAT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读入内存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从逻辑块号转换为物理块号不需要读磁盘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FAT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会占用较大的磁盘空间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 Box 3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676390" y="1844040"/>
            <a:ext cx="86042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600" b="0">
                <a:solidFill>
                  <a:schemeClr val="tx1"/>
                </a:solidFill>
                <a:latin typeface="Times New Roman" panose="02020603050405020304" pitchFamily="18" charset="0"/>
              </a:rPr>
              <a:t>目录</a:t>
            </a:r>
            <a:endParaRPr kumimoji="1" lang="zh-CN" altLang="en-US" sz="16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" name="图片 5" descr="无标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35" y="2204720"/>
            <a:ext cx="2619375" cy="336232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辅存管理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4059555" cy="4288155"/>
          </a:xfrm>
        </p:spPr>
        <p:txBody>
          <a:bodyPr/>
          <a:lstStyle/>
          <a:p>
            <a:pPr marL="0" indent="0"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索引分配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系统会为每个文件建立一张索引表，索引表中记录了文件的各个逻辑块对应的物理块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索引表放在索引块中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每个文件必须有一个索引块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索引块太小：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ü"/>
              <a:defRPr/>
            </a:pPr>
            <a:r>
              <a:rPr lang="en-US" altLang="zh-CN" sz="153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53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链接方案</a:t>
            </a:r>
            <a:endParaRPr lang="zh-CN" altLang="en-US" sz="153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ü"/>
              <a:defRPr/>
            </a:pPr>
            <a:r>
              <a:rPr lang="zh-CN" altLang="en-US" sz="153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多层索引</a:t>
            </a:r>
            <a:endParaRPr lang="zh-CN" altLang="en-US" sz="153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ü"/>
              <a:defRPr/>
            </a:pPr>
            <a:r>
              <a:rPr lang="zh-CN" altLang="en-US" sz="153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混合索引</a:t>
            </a:r>
            <a:endParaRPr lang="zh-CN" altLang="en-US" sz="175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 Box 3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668260" y="1772285"/>
            <a:ext cx="86042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600" b="0">
                <a:solidFill>
                  <a:schemeClr val="tx1"/>
                </a:solidFill>
                <a:latin typeface="Times New Roman" panose="02020603050405020304" pitchFamily="18" charset="0"/>
              </a:rPr>
              <a:t>目录</a:t>
            </a:r>
            <a:endParaRPr kumimoji="1" lang="zh-CN" altLang="en-US" sz="16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183" name="Group 116"/>
          <p:cNvGrpSpPr/>
          <p:nvPr/>
        </p:nvGrpSpPr>
        <p:grpSpPr bwMode="auto">
          <a:xfrm>
            <a:off x="5088255" y="2486025"/>
            <a:ext cx="1676400" cy="3429000"/>
            <a:chOff x="768" y="816"/>
            <a:chExt cx="1056" cy="2160"/>
          </a:xfrm>
        </p:grpSpPr>
        <p:sp>
          <p:nvSpPr>
            <p:cNvPr id="7191" name="Rectangle 117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768" y="816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0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192" name="Rectangle 118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056" y="816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193" name="Rectangle 119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344" y="816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194" name="Rectangle 120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632" y="816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3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195" name="Rectangle 12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68" y="1104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4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196" name="Rectangle 122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056" y="1104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5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197" name="Rectangle 12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344" y="1104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6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198" name="Rectangle 12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632" y="1104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7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199" name="Rectangle 125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8" y="1392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8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00" name="Rectangle 126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056" y="1392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9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01" name="Rectangle 127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344" y="1392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10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02" name="Rectangle 128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632" y="1392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11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03" name="Rectangle 129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68" y="1680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12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04" name="Rectangle 130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056" y="1680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13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05" name="Rectangle 131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344" y="1680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14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06" name="Rectangle 132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632" y="1680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15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07" name="Rectangle 133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68" y="1968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16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08" name="Rectangle 134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056" y="1968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17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09" name="Rectangle 135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344" y="1968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18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10" name="Rectangle 136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632" y="1968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</a:rPr>
                <a:t>19</a:t>
              </a:r>
              <a:endParaRPr kumimoji="1" lang="en-US" altLang="zh-CN" sz="1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11" name="Rectangle 137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68" y="2256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20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12" name="Rectangle 138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056" y="2256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21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13" name="Rectangle 139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344" y="2256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22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14" name="Rectangle 140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632" y="2256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23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15" name="Rectangle 141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68" y="2544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24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16" name="Rectangle 142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056" y="2544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25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17" name="Rectangle 143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344" y="2544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26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18" name="Rectangle 144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632" y="2544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27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19" name="Rectangle 145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768" y="2832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28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20" name="Rectangle 146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056" y="2832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29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21" name="Rectangle 147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344" y="2832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30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7222" name="Rectangle 148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632" y="2832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31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7184" name="AutoShape 149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4859655" y="1905000"/>
            <a:ext cx="2133600" cy="4191000"/>
          </a:xfrm>
          <a:prstGeom prst="can">
            <a:avLst>
              <a:gd name="adj" fmla="val 25499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600"/>
          </a:p>
        </p:txBody>
      </p:sp>
      <p:sp>
        <p:nvSpPr>
          <p:cNvPr id="7185" name="Oval 150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6383655" y="4162425"/>
            <a:ext cx="533400" cy="5334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600"/>
          </a:p>
        </p:txBody>
      </p:sp>
      <p:sp>
        <p:nvSpPr>
          <p:cNvPr id="7186" name="Line 151"/>
          <p:cNvSpPr>
            <a:spLocks noChangeShapeType="1"/>
          </p:cNvSpPr>
          <p:nvPr>
            <p:custDataLst>
              <p:tags r:id="rId36"/>
            </p:custDataLst>
          </p:nvPr>
        </p:nvSpPr>
        <p:spPr bwMode="auto">
          <a:xfrm flipH="1" flipV="1">
            <a:off x="5697855" y="2714625"/>
            <a:ext cx="1066800" cy="1600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7" name="Line 152"/>
          <p:cNvSpPr>
            <a:spLocks noChangeShapeType="1"/>
          </p:cNvSpPr>
          <p:nvPr>
            <p:custDataLst>
              <p:tags r:id="rId37"/>
            </p:custDataLst>
          </p:nvPr>
        </p:nvSpPr>
        <p:spPr bwMode="auto">
          <a:xfrm flipH="1" flipV="1">
            <a:off x="6155055" y="3629025"/>
            <a:ext cx="4572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8" name="Line 153"/>
          <p:cNvSpPr>
            <a:spLocks noChangeShapeType="1"/>
          </p:cNvSpPr>
          <p:nvPr>
            <p:custDataLst>
              <p:tags r:id="rId38"/>
            </p:custDataLst>
          </p:nvPr>
        </p:nvSpPr>
        <p:spPr bwMode="auto">
          <a:xfrm flipH="1" flipV="1">
            <a:off x="5697855" y="3629025"/>
            <a:ext cx="7620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9" name="Freeform 154"/>
          <p:cNvSpPr/>
          <p:nvPr>
            <p:custDataLst>
              <p:tags r:id="rId39"/>
            </p:custDataLst>
          </p:nvPr>
        </p:nvSpPr>
        <p:spPr bwMode="auto">
          <a:xfrm>
            <a:off x="5774055" y="4543425"/>
            <a:ext cx="685800" cy="152400"/>
          </a:xfrm>
          <a:custGeom>
            <a:avLst/>
            <a:gdLst>
              <a:gd name="T0" fmla="*/ 2147483647 w 432"/>
              <a:gd name="T1" fmla="*/ 0 h 96"/>
              <a:gd name="T2" fmla="*/ 2147483647 w 432"/>
              <a:gd name="T3" fmla="*/ 2147483647 h 96"/>
              <a:gd name="T4" fmla="*/ 0 w 432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96">
                <a:moveTo>
                  <a:pt x="432" y="0"/>
                </a:moveTo>
                <a:cubicBezTo>
                  <a:pt x="372" y="48"/>
                  <a:pt x="312" y="96"/>
                  <a:pt x="240" y="96"/>
                </a:cubicBezTo>
                <a:cubicBezTo>
                  <a:pt x="168" y="96"/>
                  <a:pt x="84" y="48"/>
                  <a:pt x="0" y="0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" name="表格 2"/>
          <p:cNvGraphicFramePr/>
          <p:nvPr/>
        </p:nvGraphicFramePr>
        <p:xfrm>
          <a:off x="7301230" y="2131060"/>
          <a:ext cx="1401445" cy="753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250"/>
                <a:gridCol w="798195"/>
              </a:tblGrid>
              <a:tr h="37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文件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索引块</a:t>
                      </a:r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test.c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 Box 38"/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7020560" y="3262630"/>
            <a:ext cx="187515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文件</a:t>
            </a:r>
            <a:r>
              <a:rPr kumimoji="1"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test.c</a:t>
            </a:r>
            <a:r>
              <a: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的索引表</a:t>
            </a:r>
            <a:endParaRPr kumimoji="1"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41"/>
            </p:custDataLst>
          </p:nvPr>
        </p:nvGraphicFramePr>
        <p:xfrm>
          <a:off x="7148195" y="3693160"/>
          <a:ext cx="1767840" cy="1885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785"/>
                <a:gridCol w="948055"/>
              </a:tblGrid>
              <a:tr h="37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</a:rPr>
                        <a:t>逻辑块号</a:t>
                      </a:r>
                      <a:endParaRPr lang="zh-CN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</a:rPr>
                        <a:t>物理块号</a:t>
                      </a:r>
                      <a:endParaRPr lang="zh-CN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辅存管理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1425"/>
            <a:ext cx="4059555" cy="4288155"/>
          </a:xfrm>
        </p:spPr>
        <p:txBody>
          <a:bodyPr/>
          <a:lstStyle/>
          <a:p>
            <a:pPr marL="0" indent="0"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混合索引分配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4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UNIX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系统采用的文件分配方式</a:t>
            </a:r>
            <a:endParaRPr lang="zh-CN" altLang="en-US" sz="175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图片 7" descr="无标题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2564765"/>
            <a:ext cx="6305550" cy="3790950"/>
          </a:xfrm>
          <a:prstGeom prst="rect">
            <a:avLst/>
          </a:prstGeom>
        </p:spPr>
      </p:pic>
      <p:sp>
        <p:nvSpPr>
          <p:cNvPr id="9" name="Text Box 3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95195" y="6092825"/>
            <a:ext cx="86042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b="0">
                <a:solidFill>
                  <a:schemeClr val="tx1"/>
                </a:solidFill>
                <a:latin typeface="Times New Roman" panose="02020603050405020304" pitchFamily="18" charset="0"/>
              </a:rPr>
              <a:t>inode</a:t>
            </a:r>
            <a:endParaRPr kumimoji="1" lang="en-US" altLang="zh-CN" sz="16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辅存管理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560131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65175" y="1219200"/>
            <a:ext cx="7921625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有的盘块被文件使用，其它盘块如何管理</a:t>
            </a:r>
            <a:r>
              <a:rPr lang="en-US" altLang="zh-CN"/>
              <a:t>?</a:t>
            </a:r>
            <a:endParaRPr lang="en-US" altLang="zh-CN">
              <a:solidFill>
                <a:srgbClr val="FF0000"/>
              </a:solidFill>
            </a:endParaRPr>
          </a:p>
        </p:txBody>
      </p:sp>
      <p:grpSp>
        <p:nvGrpSpPr>
          <p:cNvPr id="560132" name="Group 4"/>
          <p:cNvGrpSpPr/>
          <p:nvPr/>
        </p:nvGrpSpPr>
        <p:grpSpPr bwMode="auto">
          <a:xfrm>
            <a:off x="1066800" y="1836738"/>
            <a:ext cx="7543800" cy="603250"/>
            <a:chOff x="622" y="1170"/>
            <a:chExt cx="4752" cy="380"/>
          </a:xfrm>
        </p:grpSpPr>
        <p:sp>
          <p:nvSpPr>
            <p:cNvPr id="18537" name="Rectangle 5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622" y="1170"/>
              <a:ext cx="4752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组织起来等待文件的使用</a:t>
              </a:r>
              <a:r>
                <a:rPr lang="en-US" altLang="zh-CN" sz="2400"/>
                <a:t>!  </a:t>
              </a:r>
              <a:endParaRPr lang="en-US" altLang="zh-CN" sz="2400"/>
            </a:p>
          </p:txBody>
        </p:sp>
        <p:pic>
          <p:nvPicPr>
            <p:cNvPr id="18538" name="Picture 6" descr="j0115835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7" y="1331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60146" name="Text Box 18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34000" y="1966913"/>
            <a:ext cx="158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怎么组织</a:t>
            </a:r>
            <a:r>
              <a:rPr lang="en-US" altLang="zh-CN" sz="2400">
                <a:solidFill>
                  <a:srgbClr val="FF0000"/>
                </a:solidFill>
              </a:rPr>
              <a:t>?</a:t>
            </a:r>
            <a:endParaRPr lang="en-US" altLang="zh-CN" sz="2400">
              <a:solidFill>
                <a:srgbClr val="FF0000"/>
              </a:solidFill>
            </a:endParaRPr>
          </a:p>
        </p:txBody>
      </p:sp>
      <p:grpSp>
        <p:nvGrpSpPr>
          <p:cNvPr id="560147" name="Group 19"/>
          <p:cNvGrpSpPr/>
          <p:nvPr/>
        </p:nvGrpSpPr>
        <p:grpSpPr bwMode="auto">
          <a:xfrm>
            <a:off x="1066800" y="2368550"/>
            <a:ext cx="7543800" cy="603250"/>
            <a:chOff x="622" y="1170"/>
            <a:chExt cx="4752" cy="380"/>
          </a:xfrm>
        </p:grpSpPr>
        <p:sp>
          <p:nvSpPr>
            <p:cNvPr id="18525" name="Rectangle 20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22" y="1170"/>
              <a:ext cx="4752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CC"/>
                  </a:solidFill>
                </a:rPr>
                <a:t>方法</a:t>
              </a:r>
              <a:r>
                <a:rPr lang="en-US" altLang="zh-CN" sz="2400">
                  <a:solidFill>
                    <a:srgbClr val="0000CC"/>
                  </a:solidFill>
                </a:rPr>
                <a:t>1</a:t>
              </a:r>
              <a:r>
                <a:rPr lang="zh-CN" altLang="en-US" sz="2400">
                  <a:solidFill>
                    <a:srgbClr val="0000CC"/>
                  </a:solidFill>
                </a:rPr>
                <a:t>：</a:t>
              </a:r>
              <a:r>
                <a:rPr lang="zh-CN" altLang="en-US" sz="2400">
                  <a:solidFill>
                    <a:srgbClr val="FF0000"/>
                  </a:solidFill>
                </a:rPr>
                <a:t>空闲位图</a:t>
              </a:r>
              <a:r>
                <a:rPr lang="en-US" altLang="zh-CN" sz="2400">
                  <a:solidFill>
                    <a:srgbClr val="FF0000"/>
                  </a:solidFill>
                </a:rPr>
                <a:t>(</a:t>
              </a:r>
              <a:r>
                <a:rPr lang="zh-CN" altLang="en-US" sz="2400">
                  <a:solidFill>
                    <a:srgbClr val="FF0000"/>
                  </a:solidFill>
                </a:rPr>
                <a:t>位向量</a:t>
              </a:r>
              <a:r>
                <a:rPr lang="en-US" altLang="zh-CN" sz="2400">
                  <a:solidFill>
                    <a:srgbClr val="FF0000"/>
                  </a:solidFill>
                </a:rPr>
                <a:t>)…</a:t>
              </a:r>
              <a:r>
                <a:rPr lang="en-US" altLang="zh-CN" sz="2400"/>
                <a:t>  </a:t>
              </a:r>
              <a:endParaRPr lang="en-US" altLang="zh-CN" sz="2400"/>
            </a:p>
          </p:txBody>
        </p:sp>
        <p:pic>
          <p:nvPicPr>
            <p:cNvPr id="18526" name="Picture 21" descr="j0115835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7" y="1331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60150" name="Text Box 22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587500" y="2971800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0011110011101001</a:t>
            </a:r>
            <a:endParaRPr lang="en-US" altLang="zh-CN" sz="2400">
              <a:solidFill>
                <a:srgbClr val="FF0000"/>
              </a:solidFill>
            </a:endParaRPr>
          </a:p>
        </p:txBody>
      </p:sp>
      <p:sp>
        <p:nvSpPr>
          <p:cNvPr id="560151" name="Text Box 23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524000" y="3429000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/>
              <a:t>表示磁盘块</a:t>
            </a:r>
            <a:r>
              <a:rPr lang="en-US" altLang="zh-CN" sz="2400"/>
              <a:t>2,3,4,5,8,9,10,12</a:t>
            </a:r>
            <a:r>
              <a:rPr lang="zh-CN" altLang="en-US" sz="2400"/>
              <a:t>空闲</a:t>
            </a:r>
            <a:endParaRPr lang="zh-CN" altLang="en-US" sz="2400"/>
          </a:p>
        </p:txBody>
      </p:sp>
      <p:sp>
        <p:nvSpPr>
          <p:cNvPr id="560152" name="Text Box 24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524000" y="3924300"/>
            <a:ext cx="746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/>
              <a:t>可快速分配连续盘块组，但</a:t>
            </a:r>
            <a:r>
              <a:rPr lang="zh-CN" altLang="en-US" sz="2400" dirty="0">
                <a:solidFill>
                  <a:srgbClr val="FF0000"/>
                </a:solidFill>
              </a:rPr>
              <a:t>位向量很大</a:t>
            </a:r>
            <a:r>
              <a:rPr lang="en-US" altLang="zh-CN" sz="2400"/>
              <a:t>(</a:t>
            </a:r>
            <a:r>
              <a:rPr lang="en-US" altLang="zh-CN" sz="2400" smtClean="0"/>
              <a:t>1G/1k=?)</a:t>
            </a:r>
            <a:endParaRPr lang="en-US" altLang="zh-CN" sz="2400" dirty="0"/>
          </a:p>
        </p:txBody>
      </p:sp>
      <p:grpSp>
        <p:nvGrpSpPr>
          <p:cNvPr id="560153" name="Group 25"/>
          <p:cNvGrpSpPr/>
          <p:nvPr/>
        </p:nvGrpSpPr>
        <p:grpSpPr bwMode="auto">
          <a:xfrm>
            <a:off x="1066800" y="4419600"/>
            <a:ext cx="7543800" cy="647700"/>
            <a:chOff x="622" y="1170"/>
            <a:chExt cx="4752" cy="408"/>
          </a:xfrm>
        </p:grpSpPr>
        <p:sp>
          <p:nvSpPr>
            <p:cNvPr id="18523" name="Rectangle 26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22" y="1170"/>
              <a:ext cx="4752" cy="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CC"/>
                  </a:solidFill>
                </a:rPr>
                <a:t>方法</a:t>
              </a:r>
              <a:r>
                <a:rPr lang="en-US" altLang="zh-CN" sz="2600">
                  <a:solidFill>
                    <a:srgbClr val="0000CC"/>
                  </a:solidFill>
                </a:rPr>
                <a:t>2</a:t>
              </a:r>
              <a:r>
                <a:rPr lang="zh-CN" altLang="en-US" sz="2600">
                  <a:solidFill>
                    <a:srgbClr val="0000CC"/>
                  </a:solidFill>
                </a:rPr>
                <a:t>：</a:t>
              </a:r>
              <a:r>
                <a:rPr lang="zh-CN" altLang="en-US" sz="2400">
                  <a:solidFill>
                    <a:srgbClr val="FF0000"/>
                  </a:solidFill>
                </a:rPr>
                <a:t>空闲链表</a:t>
              </a:r>
              <a:r>
                <a:rPr lang="zh-CN" altLang="en-US" sz="2400"/>
                <a:t>  </a:t>
              </a:r>
              <a:endParaRPr lang="zh-CN" altLang="en-US" sz="2400"/>
            </a:p>
          </p:txBody>
        </p:sp>
        <p:pic>
          <p:nvPicPr>
            <p:cNvPr id="18524" name="Picture 27" descr="j0115835"/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7" y="1331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60156" name="Group 28"/>
          <p:cNvGrpSpPr/>
          <p:nvPr/>
        </p:nvGrpSpPr>
        <p:grpSpPr bwMode="auto">
          <a:xfrm>
            <a:off x="5029200" y="4419600"/>
            <a:ext cx="2819400" cy="2286000"/>
            <a:chOff x="3312" y="2784"/>
            <a:chExt cx="1776" cy="1440"/>
          </a:xfrm>
        </p:grpSpPr>
        <p:sp>
          <p:nvSpPr>
            <p:cNvPr id="18484" name="AutoShape 29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312" y="2784"/>
              <a:ext cx="1776" cy="1440"/>
            </a:xfrm>
            <a:prstGeom prst="can">
              <a:avLst>
                <a:gd name="adj" fmla="val 10574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8485" name="Rectangle 30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312" y="3072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0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486" name="Rectangle 31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727" y="3072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487" name="Rectangle 32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141" y="3072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488" name="Rectangle 33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556" y="3072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3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489" name="Rectangle 34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312" y="3360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4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490" name="Rectangle 35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727" y="3360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5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491" name="Rectangle 36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141" y="3360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6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492" name="Rectangle 37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556" y="3360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7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493" name="Rectangle 38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312" y="3648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8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494" name="Rectangle 39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727" y="3648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9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495" name="Rectangle 40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141" y="3648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10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496" name="Rectangle 41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4556" y="3648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11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497" name="Rectangle 42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312" y="3936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12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498" name="Rectangle 43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727" y="3936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13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499" name="Rectangle 44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4141" y="3936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14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500" name="Rectangle 45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556" y="3936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15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501" name="Rectangle 46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552" y="3072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</a:rPr>
                <a:t>7</a:t>
              </a:r>
              <a:endParaRPr kumimoji="1" lang="en-US" altLang="zh-CN" sz="1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502" name="Rectangle 47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552" y="3360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503" name="Rectangle 48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552" y="3648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504" name="Rectangle 49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3552" y="3936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</a:rPr>
                <a:t>13</a:t>
              </a:r>
              <a:endParaRPr kumimoji="1" lang="en-US" altLang="zh-CN" sz="1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505" name="Rectangle 50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3984" y="3072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506" name="Rectangle 51"/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3984" y="3360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507" name="Rectangle 52"/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3984" y="3648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508" name="Rectangle 53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3984" y="3936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</a:rPr>
                <a:t>-1</a:t>
              </a:r>
              <a:endParaRPr kumimoji="1" lang="en-US" altLang="zh-CN" sz="1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509" name="Rectangle 54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4368" y="3072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510" name="Rectangle 55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4368" y="3360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</a:rPr>
                <a:t>11</a:t>
              </a:r>
              <a:endParaRPr kumimoji="1" lang="en-US" altLang="zh-CN" sz="1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511" name="Rectangle 56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4368" y="3648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512" name="Rectangle 57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4368" y="3936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513" name="Rectangle 58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4800" y="3072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514" name="Rectangle 59"/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4800" y="3360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</a:rPr>
                <a:t>6</a:t>
              </a:r>
              <a:endParaRPr kumimoji="1" lang="en-US" altLang="zh-CN" sz="1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515" name="Rectangle 60"/>
            <p:cNvSpPr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4800" y="3648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</a:rPr>
                <a:t>12</a:t>
              </a:r>
              <a:endParaRPr kumimoji="1" lang="en-US" altLang="zh-CN" sz="1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516" name="Rectangle 61"/>
            <p:cNvSpPr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4800" y="3936"/>
              <a:ext cx="19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8517" name="Freeform 62"/>
            <p:cNvSpPr/>
            <p:nvPr>
              <p:custDataLst>
                <p:tags r:id="rId46"/>
              </p:custDataLst>
            </p:nvPr>
          </p:nvSpPr>
          <p:spPr bwMode="auto">
            <a:xfrm>
              <a:off x="3696" y="3120"/>
              <a:ext cx="1152" cy="240"/>
            </a:xfrm>
            <a:custGeom>
              <a:avLst/>
              <a:gdLst>
                <a:gd name="T0" fmla="*/ 0 w 344"/>
                <a:gd name="T1" fmla="*/ 0 h 480"/>
                <a:gd name="T2" fmla="*/ 10810 w 344"/>
                <a:gd name="T3" fmla="*/ 30 h 480"/>
                <a:gd name="T4" fmla="*/ 12615 w 344"/>
                <a:gd name="T5" fmla="*/ 6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4" h="480">
                  <a:moveTo>
                    <a:pt x="0" y="0"/>
                  </a:moveTo>
                  <a:cubicBezTo>
                    <a:pt x="116" y="80"/>
                    <a:pt x="232" y="160"/>
                    <a:pt x="288" y="240"/>
                  </a:cubicBezTo>
                  <a:cubicBezTo>
                    <a:pt x="344" y="320"/>
                    <a:pt x="340" y="400"/>
                    <a:pt x="336" y="480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8" name="Text Box 63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3312" y="2880"/>
              <a:ext cx="11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空闲块头指针</a:t>
              </a:r>
              <a:endParaRPr kumimoji="1" lang="zh-CN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519" name="Freeform 64"/>
            <p:cNvSpPr/>
            <p:nvPr>
              <p:custDataLst>
                <p:tags r:id="rId48"/>
              </p:custDataLst>
            </p:nvPr>
          </p:nvSpPr>
          <p:spPr bwMode="auto">
            <a:xfrm>
              <a:off x="4464" y="3504"/>
              <a:ext cx="384" cy="48"/>
            </a:xfrm>
            <a:custGeom>
              <a:avLst/>
              <a:gdLst>
                <a:gd name="T0" fmla="*/ 384 w 384"/>
                <a:gd name="T1" fmla="*/ 0 h 48"/>
                <a:gd name="T2" fmla="*/ 144 w 384"/>
                <a:gd name="T3" fmla="*/ 48 h 48"/>
                <a:gd name="T4" fmla="*/ 0 w 384"/>
                <a:gd name="T5" fmla="*/ 0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48">
                  <a:moveTo>
                    <a:pt x="384" y="0"/>
                  </a:moveTo>
                  <a:cubicBezTo>
                    <a:pt x="296" y="24"/>
                    <a:pt x="208" y="48"/>
                    <a:pt x="144" y="48"/>
                  </a:cubicBezTo>
                  <a:cubicBezTo>
                    <a:pt x="80" y="48"/>
                    <a:pt x="40" y="24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0" name="Freeform 65"/>
            <p:cNvSpPr/>
            <p:nvPr>
              <p:custDataLst>
                <p:tags r:id="rId49"/>
              </p:custDataLst>
            </p:nvPr>
          </p:nvSpPr>
          <p:spPr bwMode="auto">
            <a:xfrm>
              <a:off x="4416" y="3504"/>
              <a:ext cx="480" cy="144"/>
            </a:xfrm>
            <a:custGeom>
              <a:avLst/>
              <a:gdLst>
                <a:gd name="T0" fmla="*/ 48 w 480"/>
                <a:gd name="T1" fmla="*/ 0 h 144"/>
                <a:gd name="T2" fmla="*/ 48 w 480"/>
                <a:gd name="T3" fmla="*/ 96 h 144"/>
                <a:gd name="T4" fmla="*/ 336 w 480"/>
                <a:gd name="T5" fmla="*/ 96 h 144"/>
                <a:gd name="T6" fmla="*/ 480 w 480"/>
                <a:gd name="T7" fmla="*/ 144 h 1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0" h="144">
                  <a:moveTo>
                    <a:pt x="48" y="0"/>
                  </a:moveTo>
                  <a:cubicBezTo>
                    <a:pt x="24" y="40"/>
                    <a:pt x="0" y="80"/>
                    <a:pt x="48" y="96"/>
                  </a:cubicBezTo>
                  <a:cubicBezTo>
                    <a:pt x="96" y="112"/>
                    <a:pt x="264" y="88"/>
                    <a:pt x="336" y="96"/>
                  </a:cubicBezTo>
                  <a:cubicBezTo>
                    <a:pt x="408" y="104"/>
                    <a:pt x="444" y="124"/>
                    <a:pt x="480" y="144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1" name="Freeform 66"/>
            <p:cNvSpPr/>
            <p:nvPr>
              <p:custDataLst>
                <p:tags r:id="rId50"/>
              </p:custDataLst>
            </p:nvPr>
          </p:nvSpPr>
          <p:spPr bwMode="auto">
            <a:xfrm>
              <a:off x="3464" y="3792"/>
              <a:ext cx="1496" cy="144"/>
            </a:xfrm>
            <a:custGeom>
              <a:avLst/>
              <a:gdLst>
                <a:gd name="T0" fmla="*/ 1432 w 1496"/>
                <a:gd name="T1" fmla="*/ 0 h 144"/>
                <a:gd name="T2" fmla="*/ 1288 w 1496"/>
                <a:gd name="T3" fmla="*/ 48 h 144"/>
                <a:gd name="T4" fmla="*/ 184 w 1496"/>
                <a:gd name="T5" fmla="*/ 48 h 144"/>
                <a:gd name="T6" fmla="*/ 184 w 1496"/>
                <a:gd name="T7" fmla="*/ 144 h 1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96" h="144">
                  <a:moveTo>
                    <a:pt x="1432" y="0"/>
                  </a:moveTo>
                  <a:cubicBezTo>
                    <a:pt x="1464" y="20"/>
                    <a:pt x="1496" y="40"/>
                    <a:pt x="1288" y="48"/>
                  </a:cubicBezTo>
                  <a:cubicBezTo>
                    <a:pt x="1080" y="56"/>
                    <a:pt x="368" y="32"/>
                    <a:pt x="184" y="48"/>
                  </a:cubicBezTo>
                  <a:cubicBezTo>
                    <a:pt x="0" y="64"/>
                    <a:pt x="92" y="104"/>
                    <a:pt x="184" y="144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2" name="Freeform 67"/>
            <p:cNvSpPr/>
            <p:nvPr>
              <p:custDataLst>
                <p:tags r:id="rId51"/>
              </p:custDataLst>
            </p:nvPr>
          </p:nvSpPr>
          <p:spPr bwMode="auto">
            <a:xfrm>
              <a:off x="3744" y="3888"/>
              <a:ext cx="240" cy="48"/>
            </a:xfrm>
            <a:custGeom>
              <a:avLst/>
              <a:gdLst>
                <a:gd name="T0" fmla="*/ 0 w 240"/>
                <a:gd name="T1" fmla="*/ 48 h 48"/>
                <a:gd name="T2" fmla="*/ 144 w 240"/>
                <a:gd name="T3" fmla="*/ 0 h 48"/>
                <a:gd name="T4" fmla="*/ 240 w 240"/>
                <a:gd name="T5" fmla="*/ 48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0" h="48">
                  <a:moveTo>
                    <a:pt x="0" y="48"/>
                  </a:moveTo>
                  <a:cubicBezTo>
                    <a:pt x="52" y="24"/>
                    <a:pt x="104" y="0"/>
                    <a:pt x="144" y="0"/>
                  </a:cubicBezTo>
                  <a:cubicBezTo>
                    <a:pt x="184" y="0"/>
                    <a:pt x="212" y="24"/>
                    <a:pt x="240" y="48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0196" name="Text Box 68"/>
          <p:cNvSpPr txBox="1"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1676400" y="5105400"/>
            <a:ext cx="3276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/>
              <a:t>分配一个</a:t>
            </a:r>
            <a:r>
              <a:rPr lang="en-US" altLang="zh-CN" sz="2400"/>
              <a:t>(</a:t>
            </a:r>
            <a:r>
              <a:rPr lang="zh-CN" altLang="en-US" sz="2400"/>
              <a:t>或少量的</a:t>
            </a:r>
            <a:r>
              <a:rPr lang="en-US" altLang="zh-CN" sz="2400"/>
              <a:t>)</a:t>
            </a:r>
            <a:r>
              <a:rPr lang="zh-CN" altLang="en-US" sz="2400"/>
              <a:t>空闲盘块是可以高效工作，但分配多个则慢！</a:t>
            </a:r>
            <a:endParaRPr lang="zh-CN" altLang="en-US" sz="2400"/>
          </a:p>
        </p:txBody>
      </p:sp>
      <p:grpSp>
        <p:nvGrpSpPr>
          <p:cNvPr id="560241" name="Group 113"/>
          <p:cNvGrpSpPr/>
          <p:nvPr/>
        </p:nvGrpSpPr>
        <p:grpSpPr bwMode="auto">
          <a:xfrm>
            <a:off x="7010400" y="1905000"/>
            <a:ext cx="1752600" cy="1905000"/>
            <a:chOff x="4416" y="1200"/>
            <a:chExt cx="1104" cy="1200"/>
          </a:xfrm>
        </p:grpSpPr>
        <p:sp>
          <p:nvSpPr>
            <p:cNvPr id="18451" name="AutoShape 70"/>
            <p:cNvSpPr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4416" y="1200"/>
              <a:ext cx="1104" cy="1200"/>
            </a:xfrm>
            <a:prstGeom prst="can">
              <a:avLst>
                <a:gd name="adj" fmla="val 11494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18452" name="Rectangle 71"/>
            <p:cNvSpPr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4416" y="1440"/>
              <a:ext cx="172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</a:rPr>
                <a:t>0</a:t>
              </a:r>
              <a:endParaRPr kumimoji="1"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53" name="Rectangle 72"/>
            <p:cNvSpPr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4674" y="1440"/>
              <a:ext cx="172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</a:rPr>
                <a:t>1</a:t>
              </a:r>
              <a:endParaRPr kumimoji="1"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54" name="Rectangle 73"/>
            <p:cNvSpPr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4931" y="1440"/>
              <a:ext cx="173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</a:rPr>
                <a:t>2</a:t>
              </a:r>
              <a:endParaRPr kumimoji="1"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55" name="Rectangle 74"/>
            <p:cNvSpPr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5189" y="1440"/>
              <a:ext cx="172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</a:rPr>
                <a:t>3</a:t>
              </a:r>
              <a:endParaRPr kumimoji="1"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56" name="Rectangle 75"/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4416" y="1680"/>
              <a:ext cx="172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</a:rPr>
                <a:t>4</a:t>
              </a:r>
              <a:endParaRPr kumimoji="1"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57" name="Rectangle 76"/>
            <p:cNvSpPr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4674" y="1680"/>
              <a:ext cx="172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</a:rPr>
                <a:t>5</a:t>
              </a:r>
              <a:endParaRPr kumimoji="1"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58" name="Rectangle 77"/>
            <p:cNvSpPr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4931" y="1680"/>
              <a:ext cx="173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</a:rPr>
                <a:t>6</a:t>
              </a:r>
              <a:endParaRPr kumimoji="1"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59" name="Rectangle 78"/>
            <p:cNvSpPr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5189" y="1680"/>
              <a:ext cx="172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</a:rPr>
                <a:t>7</a:t>
              </a:r>
              <a:endParaRPr kumimoji="1"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60" name="Rectangle 79"/>
            <p:cNvSpPr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4416" y="1920"/>
              <a:ext cx="172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</a:rPr>
                <a:t>8</a:t>
              </a:r>
              <a:endParaRPr kumimoji="1"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61" name="Rectangle 80"/>
            <p:cNvSpPr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4674" y="1920"/>
              <a:ext cx="172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</a:rPr>
                <a:t>9</a:t>
              </a:r>
              <a:endParaRPr kumimoji="1"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62" name="Rectangle 81"/>
            <p:cNvSpPr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4931" y="1920"/>
              <a:ext cx="173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</a:rPr>
                <a:t>10</a:t>
              </a:r>
              <a:endParaRPr kumimoji="1"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63" name="Rectangle 82"/>
            <p:cNvSpPr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5189" y="1920"/>
              <a:ext cx="172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</a:rPr>
                <a:t>11</a:t>
              </a:r>
              <a:endParaRPr kumimoji="1"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64" name="Rectangle 83"/>
            <p:cNvSpPr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4416" y="2160"/>
              <a:ext cx="172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</a:rPr>
                <a:t>12</a:t>
              </a:r>
              <a:endParaRPr kumimoji="1"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65" name="Rectangle 84"/>
            <p:cNvSpPr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4674" y="2160"/>
              <a:ext cx="172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</a:rPr>
                <a:t>13</a:t>
              </a:r>
              <a:endParaRPr kumimoji="1"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66" name="Rectangle 85"/>
            <p:cNvSpPr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4931" y="2160"/>
              <a:ext cx="173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</a:rPr>
                <a:t>14</a:t>
              </a:r>
              <a:endParaRPr kumimoji="1"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67" name="Rectangle 86"/>
            <p:cNvSpPr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5189" y="2160"/>
              <a:ext cx="172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</a:rPr>
                <a:t>15</a:t>
              </a:r>
              <a:endParaRPr kumimoji="1"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68" name="Rectangle 87"/>
            <p:cNvSpPr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4565" y="1440"/>
              <a:ext cx="120" cy="12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69" name="Rectangle 88"/>
            <p:cNvSpPr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4565" y="1680"/>
              <a:ext cx="120" cy="1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70" name="Rectangle 89"/>
            <p:cNvSpPr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4565" y="1920"/>
              <a:ext cx="120" cy="1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71" name="Rectangle 90"/>
            <p:cNvSpPr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4565" y="2160"/>
              <a:ext cx="120" cy="1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72" name="Rectangle 91"/>
            <p:cNvSpPr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4834" y="1440"/>
              <a:ext cx="119" cy="12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73" name="Rectangle 92"/>
            <p:cNvSpPr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4834" y="1680"/>
              <a:ext cx="119" cy="1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74" name="Rectangle 93"/>
            <p:cNvSpPr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4834" y="1920"/>
              <a:ext cx="119" cy="1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75" name="Rectangle 94"/>
            <p:cNvSpPr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4834" y="2160"/>
              <a:ext cx="119" cy="12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76" name="Rectangle 95"/>
            <p:cNvSpPr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5072" y="1440"/>
              <a:ext cx="120" cy="1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77" name="Rectangle 96"/>
            <p:cNvSpPr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5072" y="1680"/>
              <a:ext cx="120" cy="12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78" name="Rectangle 97"/>
            <p:cNvSpPr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5072" y="1920"/>
              <a:ext cx="120" cy="1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79" name="Rectangle 98"/>
            <p:cNvSpPr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5072" y="2160"/>
              <a:ext cx="120" cy="12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80" name="Rectangle 99"/>
            <p:cNvSpPr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5341" y="1440"/>
              <a:ext cx="119" cy="1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18481" name="Rectangle 100"/>
            <p:cNvSpPr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5341" y="1680"/>
              <a:ext cx="119" cy="12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82" name="Rectangle 101"/>
            <p:cNvSpPr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5341" y="1920"/>
              <a:ext cx="119" cy="12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83" name="Rectangle 102"/>
            <p:cNvSpPr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5328" y="2160"/>
              <a:ext cx="119" cy="1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560237" name="Line 109"/>
          <p:cNvSpPr>
            <a:spLocks noChangeShapeType="1"/>
          </p:cNvSpPr>
          <p:nvPr>
            <p:custDataLst>
              <p:tags r:id="rId86"/>
            </p:custDataLst>
          </p:nvPr>
        </p:nvSpPr>
        <p:spPr bwMode="auto">
          <a:xfrm flipV="1">
            <a:off x="1766888" y="2362200"/>
            <a:ext cx="5562600" cy="8382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oval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0238" name="Line 110"/>
          <p:cNvSpPr>
            <a:spLocks noChangeShapeType="1"/>
          </p:cNvSpPr>
          <p:nvPr>
            <p:custDataLst>
              <p:tags r:id="rId87"/>
            </p:custDataLst>
          </p:nvPr>
        </p:nvSpPr>
        <p:spPr bwMode="auto">
          <a:xfrm flipV="1">
            <a:off x="2619375" y="2743200"/>
            <a:ext cx="5181600" cy="4572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oval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0239" name="Line 111"/>
          <p:cNvSpPr>
            <a:spLocks noChangeShapeType="1"/>
          </p:cNvSpPr>
          <p:nvPr>
            <p:custDataLst>
              <p:tags r:id="rId88"/>
            </p:custDataLst>
          </p:nvPr>
        </p:nvSpPr>
        <p:spPr bwMode="auto">
          <a:xfrm>
            <a:off x="3976688" y="3214688"/>
            <a:ext cx="3810000" cy="3048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oval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0240" name="Line 112"/>
          <p:cNvSpPr>
            <a:spLocks noChangeShapeType="1"/>
          </p:cNvSpPr>
          <p:nvPr>
            <p:custDataLst>
              <p:tags r:id="rId89"/>
            </p:custDataLst>
          </p:nvPr>
        </p:nvSpPr>
        <p:spPr bwMode="auto">
          <a:xfrm>
            <a:off x="4329113" y="3152775"/>
            <a:ext cx="4267200" cy="381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oval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0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6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560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60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60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60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60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0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60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60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60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60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60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60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6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0131" grpId="0" bldLvl="0" animBg="1"/>
      <p:bldP spid="560146" grpId="0" bldLvl="0" animBg="1"/>
      <p:bldP spid="560150" grpId="0" bldLvl="0" animBg="1"/>
      <p:bldP spid="560151" grpId="0" bldLvl="0" animBg="1"/>
      <p:bldP spid="560152" grpId="0" bldLvl="0" animBg="1"/>
      <p:bldP spid="560196" grpId="0" bldLvl="0" animBg="1"/>
      <p:bldP spid="560237" grpId="0" bldLvl="0" animBg="1"/>
      <p:bldP spid="560238" grpId="0" bldLvl="0" animBg="1"/>
      <p:bldP spid="560239" grpId="0" bldLvl="0" animBg="1"/>
      <p:bldP spid="560240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活学活用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630"/>
            <a:ext cx="8229600" cy="4525963"/>
          </a:xfrm>
        </p:spPr>
        <p:txBody>
          <a:bodyPr/>
          <a:p>
            <a:pPr marL="0" indent="0" algn="just" latinLnBrk="0">
              <a:lnSpc>
                <a:spcPts val="3500"/>
              </a:lnSpc>
              <a:spcBef>
                <a:spcPts val="0"/>
              </a:spcBef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设给文件分配外存空间采用的是混合索引分配方式，该文件的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inode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节点中有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个直接块，一级、二级、三级间接块各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个，索引块和数据块的大小均为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4KB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，块地址需要占用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个字节。假设该进程要从文件开始处顺序读入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2M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的数据到进程内存空间，请描述操作过程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活学活用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215" y="1268730"/>
            <a:ext cx="8505190" cy="528574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某文件系统的簇和磁盘扇区大小分别为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1KB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512B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。若一个文件大小为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1026B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，则系统分配给该文件的磁盘空间大小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是（）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1026B     B 1536B     C 1538B      D 2048B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latinLnBrk="0">
              <a:spcBef>
                <a:spcPts val="12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某文件系统的目录项由文件名和索引节点构成。若某个目录项长度为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64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字节，其中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字节放索引节点号，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字节存放文件名。则该文件系统能创建的文件数量上限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为（）：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2</a:t>
            </a:r>
            <a:r>
              <a:rPr lang="en-US" altLang="zh-CN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26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B 2</a:t>
            </a:r>
            <a:r>
              <a:rPr lang="en-US" altLang="zh-CN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32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C 2</a:t>
            </a:r>
            <a:r>
              <a:rPr lang="en-US" altLang="zh-CN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60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D2</a:t>
            </a:r>
            <a:r>
              <a:rPr lang="en-US" altLang="zh-CN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64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latinLnBrk="0">
              <a:spcBef>
                <a:spcPts val="12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文件系统用位图发表示磁盘空间的分配情况，位图存于磁盘的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32~127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号块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中，每个盘块占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1024B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，盘块和块内自己均从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开始编号，假设要释放的盘块号为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409612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，则位图种要修改的位所在的盘块号和块内字节序号分别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为（）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81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   B 82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     C  82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11          D 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83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12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概述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文件组织和访问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文件共享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记录组块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辅存管理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C00000"/>
                </a:solidFill>
              </a:rPr>
              <a:t>MINIX</a:t>
            </a:r>
            <a:r>
              <a:rPr lang="zh-CN" altLang="en-US" sz="2800" b="1" dirty="0">
                <a:solidFill>
                  <a:srgbClr val="C00000"/>
                </a:solidFill>
              </a:rPr>
              <a:t>文件系统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zh-CN" altLang="en-US" sz="28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6231890" cy="676275"/>
          </a:xfrm>
        </p:spPr>
        <p:txBody>
          <a:bodyPr/>
          <a:lstStyle/>
          <a:p>
            <a:pPr eaLnBrk="1" hangingPunct="1"/>
            <a:r>
              <a:rPr lang="en-US" altLang="zh-CN" smtClean="0"/>
              <a:t> MINIX</a:t>
            </a:r>
            <a:r>
              <a:rPr lang="zh-CN" altLang="en-US" smtClean="0"/>
              <a:t>文件系统</a:t>
            </a:r>
            <a:r>
              <a:rPr lang="en-US" altLang="zh-CN" smtClean="0"/>
              <a:t>1.0</a:t>
            </a:r>
            <a:r>
              <a:rPr lang="zh-CN" altLang="en-US" smtClean="0"/>
              <a:t>实现</a:t>
            </a:r>
            <a:endParaRPr lang="zh-CN" altLang="en-US" smtClean="0"/>
          </a:p>
        </p:txBody>
      </p:sp>
      <p:sp>
        <p:nvSpPr>
          <p:cNvPr id="2" name="矩形 1"/>
          <p:cNvSpPr/>
          <p:nvPr/>
        </p:nvSpPr>
        <p:spPr>
          <a:xfrm>
            <a:off x="457200" y="1676400"/>
            <a:ext cx="8229600" cy="4317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8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MINIX</a:t>
            </a:r>
            <a:r>
              <a:rPr lang="zh-CN" altLang="en-US" sz="2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，是一种基于</a:t>
            </a:r>
            <a:r>
              <a:rPr lang="zh-CN" altLang="en-US" sz="2800" b="1" dirty="0">
                <a:solidFill>
                  <a:srgbClr val="136EC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微内核</a:t>
            </a:r>
            <a:r>
              <a:rPr lang="zh-CN" altLang="en-US" sz="2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架构的类</a:t>
            </a:r>
            <a:r>
              <a:rPr lang="en-US" altLang="zh-CN" sz="2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UNIX</a:t>
            </a:r>
            <a:r>
              <a:rPr lang="zh-CN" altLang="en-US" sz="2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计算机操作系统，于</a:t>
            </a:r>
            <a:r>
              <a:rPr lang="en-US" altLang="zh-CN" sz="2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1987</a:t>
            </a:r>
            <a:r>
              <a:rPr lang="zh-CN" altLang="en-US" sz="2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年由</a:t>
            </a:r>
            <a:r>
              <a:rPr lang="en-US" altLang="zh-CN" sz="2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Andrew S. </a:t>
            </a:r>
            <a:r>
              <a:rPr lang="en-US" altLang="zh-CN" sz="28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Tanenbaum</a:t>
            </a:r>
            <a:r>
              <a:rPr lang="zh-CN" altLang="en-US" sz="2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教授发布，它启发了</a:t>
            </a:r>
            <a:r>
              <a:rPr lang="en-US" altLang="zh-CN" sz="2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zh-CN" altLang="en-US" sz="2800" b="1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1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Linus </a:t>
            </a:r>
            <a:r>
              <a:rPr lang="en-US" altLang="zh-CN" sz="2800" b="1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Torvalds</a:t>
            </a:r>
            <a:r>
              <a:rPr lang="zh-CN" altLang="en-US" sz="2800" b="1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深受</a:t>
            </a:r>
            <a:r>
              <a:rPr lang="en-US" altLang="zh-CN" sz="28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Minix</a:t>
            </a:r>
            <a:r>
              <a:rPr lang="zh-CN" altLang="en-US" sz="2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的启发写出了第一版本的</a:t>
            </a:r>
            <a:r>
              <a:rPr lang="en-US" altLang="zh-CN" sz="2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zh-CN" altLang="en-US" sz="2800" b="1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内核。</a:t>
            </a:r>
            <a:endParaRPr lang="en-US" altLang="zh-CN" sz="2800" b="1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800" b="1" dirty="0" err="1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Minix</a:t>
            </a:r>
            <a:r>
              <a:rPr lang="zh-CN" altLang="en-US" sz="2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于</a:t>
            </a:r>
            <a:r>
              <a:rPr lang="en-US" altLang="zh-CN" sz="2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2000</a:t>
            </a:r>
            <a:r>
              <a:rPr lang="zh-CN" altLang="en-US" sz="2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年重新改为</a:t>
            </a:r>
            <a:r>
              <a:rPr lang="en-US" altLang="zh-CN" sz="2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BSD</a:t>
            </a:r>
            <a:r>
              <a:rPr lang="zh-CN" altLang="en-US" sz="2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授权，成为自由和开放源码软件，为全球注册商标</a:t>
            </a:r>
            <a:endParaRPr lang="zh-CN" altLang="en-US" sz="2800" b="1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763000" cy="676275"/>
          </a:xfrm>
        </p:spPr>
        <p:txBody>
          <a:bodyPr/>
          <a:lstStyle/>
          <a:p>
            <a:pPr eaLnBrk="1" hangingPunct="1"/>
            <a:r>
              <a:rPr lang="en-US" altLang="zh-CN" smtClean="0"/>
              <a:t>MINIX</a:t>
            </a:r>
            <a:r>
              <a:rPr lang="zh-CN" altLang="en-US" smtClean="0"/>
              <a:t>文件系统</a:t>
            </a:r>
            <a:r>
              <a:rPr lang="en-US" altLang="zh-CN" smtClean="0"/>
              <a:t>V1.0</a:t>
            </a:r>
            <a:r>
              <a:rPr lang="zh-CN" altLang="en-US" smtClean="0"/>
              <a:t>的实现</a:t>
            </a:r>
            <a:endParaRPr lang="zh-CN" altLang="en-US" smtClean="0"/>
          </a:p>
        </p:txBody>
      </p:sp>
      <p:pic>
        <p:nvPicPr>
          <p:cNvPr id="587779" name="Picture 3" descr="MINIX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6"/>
          <a:stretch>
            <a:fillRect/>
          </a:stretch>
        </p:blipFill>
        <p:spPr bwMode="auto">
          <a:xfrm>
            <a:off x="123825" y="3429000"/>
            <a:ext cx="879157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7780" name="Rectangle 4"/>
          <p:cNvSpPr>
            <a:spLocks noChangeArrowheads="1"/>
          </p:cNvSpPr>
          <p:nvPr/>
        </p:nvSpPr>
        <p:spPr bwMode="auto">
          <a:xfrm>
            <a:off x="2133600" y="6181725"/>
            <a:ext cx="563880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err="1">
                <a:latin typeface="宋体" panose="02010600030101010101" pitchFamily="2" charset="-122"/>
              </a:rPr>
              <a:t>MINIX</a:t>
            </a:r>
            <a:r>
              <a:rPr lang="zh-CN" altLang="en-US" sz="2400" dirty="0">
                <a:latin typeface="宋体" panose="02010600030101010101" pitchFamily="2" charset="-122"/>
              </a:rPr>
              <a:t>文件系统</a:t>
            </a:r>
            <a:r>
              <a:rPr lang="en-US" altLang="zh-CN" sz="2400" dirty="0">
                <a:latin typeface="宋体" panose="02010600030101010101" pitchFamily="2" charset="-122"/>
              </a:rPr>
              <a:t>1.0</a:t>
            </a:r>
            <a:r>
              <a:rPr lang="zh-CN" altLang="en-US" sz="2400" dirty="0">
                <a:latin typeface="宋体" panose="02010600030101010101" pitchFamily="2" charset="-122"/>
              </a:rPr>
              <a:t>逻辑结构布局示意图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pic>
        <p:nvPicPr>
          <p:cNvPr id="29701" name="Picture 8" descr="硬盘设备上的分区及文件系统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1143000"/>
            <a:ext cx="8567737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Rectangle 9"/>
          <p:cNvSpPr>
            <a:spLocks noChangeArrowheads="1"/>
          </p:cNvSpPr>
          <p:nvPr/>
        </p:nvSpPr>
        <p:spPr bwMode="auto">
          <a:xfrm>
            <a:off x="2438400" y="2590800"/>
            <a:ext cx="563880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硬盘设备上的分区及文件系统</a:t>
            </a:r>
            <a:endParaRPr lang="zh-CN" altLang="en-US" sz="2400"/>
          </a:p>
        </p:txBody>
      </p:sp>
      <p:sp>
        <p:nvSpPr>
          <p:cNvPr id="3" name="圆角矩形标注 2"/>
          <p:cNvSpPr/>
          <p:nvPr/>
        </p:nvSpPr>
        <p:spPr bwMode="auto">
          <a:xfrm>
            <a:off x="5943600" y="2886075"/>
            <a:ext cx="1524000" cy="838200"/>
          </a:xfrm>
          <a:prstGeom prst="wedgeRoundRectCallout">
            <a:avLst>
              <a:gd name="adj1" fmla="val -74424"/>
              <a:gd name="adj2" fmla="val 163237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一个盘块两个扇区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7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7780" grpId="0" bldLvl="0" animBg="1"/>
      <p:bldP spid="3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763000" cy="676275"/>
          </a:xfrm>
        </p:spPr>
        <p:txBody>
          <a:bodyPr/>
          <a:lstStyle/>
          <a:p>
            <a:pPr eaLnBrk="1" hangingPunct="1"/>
            <a:r>
              <a:rPr lang="en-US" altLang="zh-CN" smtClean="0"/>
              <a:t>MINIX</a:t>
            </a:r>
            <a:r>
              <a:rPr lang="zh-CN" altLang="en-US" smtClean="0"/>
              <a:t>文件系统</a:t>
            </a:r>
            <a:r>
              <a:rPr lang="en-US" altLang="zh-CN" smtClean="0"/>
              <a:t>V1.0</a:t>
            </a:r>
            <a:r>
              <a:rPr lang="zh-CN" altLang="en-US" smtClean="0"/>
              <a:t>的实现</a:t>
            </a:r>
            <a:endParaRPr lang="zh-CN" altLang="en-US" smtClean="0"/>
          </a:p>
        </p:txBody>
      </p:sp>
      <p:pic>
        <p:nvPicPr>
          <p:cNvPr id="30723" name="Picture 3" descr="MINIX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6"/>
          <a:stretch>
            <a:fillRect/>
          </a:stretch>
        </p:blipFill>
        <p:spPr bwMode="auto">
          <a:xfrm>
            <a:off x="123825" y="1143000"/>
            <a:ext cx="879157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2667000" y="1066800"/>
            <a:ext cx="563880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</a:rPr>
              <a:t>MINIX</a:t>
            </a:r>
            <a:r>
              <a:rPr lang="zh-CN" altLang="en-US" sz="2000">
                <a:latin typeface="宋体" panose="02010600030101010101" pitchFamily="2" charset="-122"/>
              </a:rPr>
              <a:t>文件系统</a:t>
            </a:r>
            <a:r>
              <a:rPr lang="en-US" altLang="zh-CN" sz="2000">
                <a:latin typeface="宋体" panose="02010600030101010101" pitchFamily="2" charset="-122"/>
              </a:rPr>
              <a:t>1.0</a:t>
            </a:r>
            <a:r>
              <a:rPr lang="zh-CN" altLang="en-US" sz="2000">
                <a:latin typeface="宋体" panose="02010600030101010101" pitchFamily="2" charset="-122"/>
              </a:rPr>
              <a:t>逻辑结构布局示意图</a:t>
            </a:r>
            <a:endParaRPr lang="zh-CN" altLang="en-US" sz="2000">
              <a:latin typeface="宋体" panose="02010600030101010101" pitchFamily="2" charset="-122"/>
            </a:endParaRPr>
          </a:p>
        </p:txBody>
      </p:sp>
      <p:grpSp>
        <p:nvGrpSpPr>
          <p:cNvPr id="588805" name="Group 5"/>
          <p:cNvGrpSpPr/>
          <p:nvPr/>
        </p:nvGrpSpPr>
        <p:grpSpPr bwMode="auto">
          <a:xfrm>
            <a:off x="457200" y="2667000"/>
            <a:ext cx="7696200" cy="3505200"/>
            <a:chOff x="288" y="1680"/>
            <a:chExt cx="3984" cy="2208"/>
          </a:xfrm>
        </p:grpSpPr>
        <p:sp>
          <p:nvSpPr>
            <p:cNvPr id="30726" name="Rectangle 6"/>
            <p:cNvSpPr>
              <a:spLocks noChangeArrowheads="1"/>
            </p:cNvSpPr>
            <p:nvPr/>
          </p:nvSpPr>
          <p:spPr bwMode="auto">
            <a:xfrm>
              <a:off x="288" y="2736"/>
              <a:ext cx="3984" cy="115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marL="354330" indent="-35433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CC0000"/>
                </a:buClr>
                <a:buSzPct val="85000"/>
                <a:buFont typeface="Wingdings" panose="05000000000000000000" pitchFamily="2" charset="2"/>
                <a:buChar char="l"/>
              </a:pPr>
              <a:r>
                <a:rPr lang="zh-CN" altLang="en-US" sz="2600"/>
                <a:t>计算机加电启动时，由</a:t>
              </a:r>
              <a:r>
                <a:rPr lang="en-US" altLang="zh-CN" sz="2600"/>
                <a:t>ROM BOIS</a:t>
              </a:r>
              <a:r>
                <a:rPr lang="zh-CN" altLang="en-US" sz="2600"/>
                <a:t>程序自动读入</a:t>
              </a:r>
              <a:r>
                <a:rPr lang="en-US" altLang="zh-CN" sz="2600"/>
                <a:t>MBR</a:t>
              </a:r>
              <a:r>
                <a:rPr lang="zh-CN" altLang="en-US" sz="2600"/>
                <a:t>，</a:t>
              </a:r>
              <a:r>
                <a:rPr lang="en-US" altLang="zh-CN" sz="2600"/>
                <a:t>MBR</a:t>
              </a:r>
              <a:r>
                <a:rPr lang="zh-CN" altLang="en-US" sz="2600"/>
                <a:t>找到引导块并读入引导代码和数据。</a:t>
              </a:r>
              <a:endParaRPr lang="zh-CN" altLang="en-US" sz="2600"/>
            </a:p>
            <a:p>
              <a:pPr eaLnBrk="1" hangingPunct="1">
                <a:spcBef>
                  <a:spcPct val="0"/>
                </a:spcBef>
                <a:buClr>
                  <a:srgbClr val="CC0000"/>
                </a:buClr>
                <a:buSzPct val="85000"/>
                <a:buFont typeface="Wingdings" panose="05000000000000000000" pitchFamily="2" charset="2"/>
                <a:buChar char="l"/>
              </a:pPr>
              <a:r>
                <a:rPr lang="zh-CN" altLang="en-US" sz="2600"/>
                <a:t>对于不是引导分区，该盘块空闲不用。</a:t>
              </a:r>
              <a:endParaRPr lang="zh-CN" altLang="en-US" sz="2600"/>
            </a:p>
          </p:txBody>
        </p:sp>
        <p:sp>
          <p:nvSpPr>
            <p:cNvPr id="30727" name="Line 7"/>
            <p:cNvSpPr>
              <a:spLocks noChangeShapeType="1"/>
            </p:cNvSpPr>
            <p:nvPr/>
          </p:nvSpPr>
          <p:spPr bwMode="auto">
            <a:xfrm flipH="1" flipV="1">
              <a:off x="384" y="1680"/>
              <a:ext cx="624" cy="105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88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763000" cy="676275"/>
          </a:xfrm>
        </p:spPr>
        <p:txBody>
          <a:bodyPr/>
          <a:lstStyle/>
          <a:p>
            <a:pPr eaLnBrk="1" hangingPunct="1"/>
            <a:r>
              <a:rPr lang="en-US" altLang="zh-CN" smtClean="0"/>
              <a:t>MINIX</a:t>
            </a:r>
            <a:r>
              <a:rPr lang="zh-CN" altLang="en-US" smtClean="0"/>
              <a:t>文件系统</a:t>
            </a:r>
            <a:r>
              <a:rPr lang="en-US" altLang="zh-CN" smtClean="0"/>
              <a:t>V1.0</a:t>
            </a:r>
            <a:r>
              <a:rPr lang="zh-CN" altLang="en-US" smtClean="0"/>
              <a:t>的实现</a:t>
            </a:r>
            <a:endParaRPr lang="zh-CN" altLang="en-US" smtClean="0"/>
          </a:p>
        </p:txBody>
      </p:sp>
      <p:pic>
        <p:nvPicPr>
          <p:cNvPr id="31747" name="Picture 3" descr="MINIX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6"/>
          <a:stretch>
            <a:fillRect/>
          </a:stretch>
        </p:blipFill>
        <p:spPr bwMode="auto">
          <a:xfrm>
            <a:off x="123825" y="1143000"/>
            <a:ext cx="879157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2667000" y="1066800"/>
            <a:ext cx="563880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</a:rPr>
              <a:t>MINIX</a:t>
            </a:r>
            <a:r>
              <a:rPr lang="zh-CN" altLang="en-US" sz="2000">
                <a:latin typeface="宋体" panose="02010600030101010101" pitchFamily="2" charset="-122"/>
              </a:rPr>
              <a:t>文件系统</a:t>
            </a:r>
            <a:r>
              <a:rPr lang="en-US" altLang="zh-CN" sz="2000">
                <a:latin typeface="宋体" panose="02010600030101010101" pitchFamily="2" charset="-122"/>
              </a:rPr>
              <a:t>1.0</a:t>
            </a:r>
            <a:r>
              <a:rPr lang="zh-CN" altLang="en-US" sz="2000">
                <a:latin typeface="宋体" panose="02010600030101010101" pitchFamily="2" charset="-122"/>
              </a:rPr>
              <a:t>逻辑结构布局示意图</a:t>
            </a:r>
            <a:endParaRPr lang="zh-CN" altLang="en-US" sz="2000">
              <a:latin typeface="宋体" panose="02010600030101010101" pitchFamily="2" charset="-122"/>
            </a:endParaRPr>
          </a:p>
        </p:txBody>
      </p:sp>
      <p:grpSp>
        <p:nvGrpSpPr>
          <p:cNvPr id="583689" name="Group 9"/>
          <p:cNvGrpSpPr/>
          <p:nvPr/>
        </p:nvGrpSpPr>
        <p:grpSpPr bwMode="auto">
          <a:xfrm>
            <a:off x="457200" y="2438400"/>
            <a:ext cx="7696200" cy="3429000"/>
            <a:chOff x="288" y="1536"/>
            <a:chExt cx="4848" cy="2160"/>
          </a:xfrm>
        </p:grpSpPr>
        <p:sp>
          <p:nvSpPr>
            <p:cNvPr id="31750" name="Rectangle 7"/>
            <p:cNvSpPr>
              <a:spLocks noChangeArrowheads="1"/>
            </p:cNvSpPr>
            <p:nvPr/>
          </p:nvSpPr>
          <p:spPr bwMode="auto">
            <a:xfrm>
              <a:off x="288" y="2644"/>
              <a:ext cx="4848" cy="105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marL="354330" indent="-35433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CC0000"/>
                </a:buClr>
                <a:buSzPct val="85000"/>
                <a:buFont typeface="Wingdings" panose="05000000000000000000" pitchFamily="2" charset="2"/>
                <a:buChar char="l"/>
              </a:pPr>
              <a:r>
                <a:rPr lang="zh-CN" altLang="en-US" sz="2600"/>
                <a:t>保存分区中文件系统的结构信息</a:t>
              </a:r>
              <a:endParaRPr lang="zh-CN" altLang="en-US" sz="2600"/>
            </a:p>
          </p:txBody>
        </p:sp>
        <p:sp>
          <p:nvSpPr>
            <p:cNvPr id="31751" name="Line 8"/>
            <p:cNvSpPr>
              <a:spLocks noChangeShapeType="1"/>
            </p:cNvSpPr>
            <p:nvPr/>
          </p:nvSpPr>
          <p:spPr bwMode="auto">
            <a:xfrm flipH="1" flipV="1">
              <a:off x="576" y="1536"/>
              <a:ext cx="588" cy="11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83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763000" cy="676275"/>
          </a:xfrm>
        </p:spPr>
        <p:txBody>
          <a:bodyPr/>
          <a:lstStyle/>
          <a:p>
            <a:pPr eaLnBrk="1" hangingPunct="1"/>
            <a:r>
              <a:rPr lang="en-US" altLang="zh-CN" smtClean="0"/>
              <a:t>MINIX</a:t>
            </a:r>
            <a:r>
              <a:rPr lang="zh-CN" altLang="en-US" smtClean="0"/>
              <a:t>文件系统</a:t>
            </a:r>
            <a:r>
              <a:rPr lang="en-US" altLang="zh-CN" smtClean="0"/>
              <a:t>V1.0</a:t>
            </a:r>
            <a:r>
              <a:rPr lang="zh-CN" altLang="en-US" smtClean="0"/>
              <a:t>的实现</a:t>
            </a:r>
            <a:endParaRPr lang="zh-CN" altLang="en-US" smtClean="0"/>
          </a:p>
        </p:txBody>
      </p:sp>
      <p:pic>
        <p:nvPicPr>
          <p:cNvPr id="32771" name="Picture 3" descr="MINIX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6"/>
          <a:stretch>
            <a:fillRect/>
          </a:stretch>
        </p:blipFill>
        <p:spPr bwMode="auto">
          <a:xfrm>
            <a:off x="123825" y="1143000"/>
            <a:ext cx="879157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2667000" y="1066800"/>
            <a:ext cx="563880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</a:rPr>
              <a:t>MINIX</a:t>
            </a:r>
            <a:r>
              <a:rPr lang="zh-CN" altLang="en-US" sz="2000">
                <a:latin typeface="宋体" panose="02010600030101010101" pitchFamily="2" charset="-122"/>
              </a:rPr>
              <a:t>文件系统</a:t>
            </a:r>
            <a:r>
              <a:rPr lang="en-US" altLang="zh-CN" sz="2000">
                <a:latin typeface="宋体" panose="02010600030101010101" pitchFamily="2" charset="-122"/>
              </a:rPr>
              <a:t>1.0</a:t>
            </a:r>
            <a:r>
              <a:rPr lang="zh-CN" altLang="en-US" sz="2000">
                <a:latin typeface="宋体" panose="02010600030101010101" pitchFamily="2" charset="-122"/>
              </a:rPr>
              <a:t>逻辑结构布局示意图</a:t>
            </a:r>
            <a:endParaRPr lang="zh-CN" altLang="en-US" sz="2000">
              <a:latin typeface="宋体" panose="02010600030101010101" pitchFamily="2" charset="-122"/>
            </a:endParaRPr>
          </a:p>
        </p:txBody>
      </p:sp>
      <p:grpSp>
        <p:nvGrpSpPr>
          <p:cNvPr id="584716" name="Group 12"/>
          <p:cNvGrpSpPr/>
          <p:nvPr/>
        </p:nvGrpSpPr>
        <p:grpSpPr bwMode="auto">
          <a:xfrm>
            <a:off x="762000" y="2438400"/>
            <a:ext cx="7629525" cy="4267200"/>
            <a:chOff x="480" y="1536"/>
            <a:chExt cx="4806" cy="2688"/>
          </a:xfrm>
        </p:grpSpPr>
        <p:pic>
          <p:nvPicPr>
            <p:cNvPr id="32774" name="Picture 6" descr="MINIX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98" b="51788"/>
            <a:stretch>
              <a:fillRect/>
            </a:stretch>
          </p:blipFill>
          <p:spPr bwMode="auto">
            <a:xfrm>
              <a:off x="480" y="2304"/>
              <a:ext cx="4806" cy="1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75" name="Rectangle 10"/>
            <p:cNvSpPr>
              <a:spLocks noChangeArrowheads="1"/>
            </p:cNvSpPr>
            <p:nvPr/>
          </p:nvSpPr>
          <p:spPr bwMode="auto">
            <a:xfrm>
              <a:off x="2352" y="3984"/>
              <a:ext cx="1488" cy="2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marL="354330" indent="-35433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CC0000"/>
                </a:buClr>
                <a:buSzPct val="85000"/>
                <a:buFont typeface="Wingdings" panose="05000000000000000000" pitchFamily="2" charset="2"/>
                <a:buNone/>
              </a:pPr>
              <a:r>
                <a:rPr lang="zh-CN" altLang="en-US" sz="2000"/>
                <a:t>超级块数据结构</a:t>
              </a:r>
              <a:endParaRPr lang="zh-CN" altLang="en-US" sz="2000"/>
            </a:p>
          </p:txBody>
        </p:sp>
        <p:sp>
          <p:nvSpPr>
            <p:cNvPr id="32776" name="Line 11"/>
            <p:cNvSpPr>
              <a:spLocks noChangeShapeType="1"/>
            </p:cNvSpPr>
            <p:nvPr/>
          </p:nvSpPr>
          <p:spPr bwMode="auto">
            <a:xfrm flipH="1" flipV="1">
              <a:off x="576" y="1536"/>
              <a:ext cx="480" cy="81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3467100" y="3165157"/>
            <a:ext cx="5257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超级块</a:t>
            </a:r>
            <a:r>
              <a:rPr lang="zh-CN" altLang="en-US" dirty="0" smtClean="0">
                <a:solidFill>
                  <a:srgbClr val="FF0000"/>
                </a:solidFill>
              </a:rPr>
              <a:t>表示出每</a:t>
            </a:r>
            <a:r>
              <a:rPr lang="zh-CN" altLang="en-US" dirty="0">
                <a:solidFill>
                  <a:srgbClr val="FF0000"/>
                </a:solidFill>
              </a:rPr>
              <a:t>部分的数量和</a:t>
            </a:r>
            <a:r>
              <a:rPr lang="zh-CN" altLang="en-US" dirty="0" smtClean="0">
                <a:solidFill>
                  <a:srgbClr val="FF0000"/>
                </a:solidFill>
              </a:rPr>
              <a:t>位置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84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763000" cy="676275"/>
          </a:xfrm>
        </p:spPr>
        <p:txBody>
          <a:bodyPr/>
          <a:lstStyle/>
          <a:p>
            <a:pPr eaLnBrk="1" hangingPunct="1"/>
            <a:r>
              <a:rPr lang="en-US" altLang="zh-CN" smtClean="0"/>
              <a:t>MINIX</a:t>
            </a:r>
            <a:r>
              <a:rPr lang="zh-CN" altLang="en-US" smtClean="0"/>
              <a:t>文件系统</a:t>
            </a:r>
            <a:r>
              <a:rPr lang="en-US" altLang="zh-CN" smtClean="0"/>
              <a:t>V1.0</a:t>
            </a:r>
            <a:r>
              <a:rPr lang="zh-CN" altLang="en-US" smtClean="0"/>
              <a:t>的实现</a:t>
            </a:r>
            <a:endParaRPr lang="zh-CN" altLang="en-US" smtClean="0"/>
          </a:p>
        </p:txBody>
      </p:sp>
      <p:pic>
        <p:nvPicPr>
          <p:cNvPr id="33795" name="Picture 25" descr="MINIX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19200"/>
            <a:ext cx="8467725" cy="505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Rectangle 30"/>
          <p:cNvSpPr>
            <a:spLocks noChangeArrowheads="1"/>
          </p:cNvSpPr>
          <p:nvPr/>
        </p:nvSpPr>
        <p:spPr bwMode="auto">
          <a:xfrm>
            <a:off x="2514600" y="6105525"/>
            <a:ext cx="48006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MINIX</a:t>
            </a:r>
            <a:r>
              <a:rPr lang="zh-CN" altLang="en-US" sz="2000"/>
              <a:t>文件系统</a:t>
            </a:r>
            <a:r>
              <a:rPr lang="en-US" altLang="zh-CN" sz="2000"/>
              <a:t>1.0</a:t>
            </a:r>
            <a:r>
              <a:rPr lang="zh-CN" altLang="en-US" sz="2000"/>
              <a:t>超级块数据结构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763000" cy="676275"/>
          </a:xfrm>
        </p:spPr>
        <p:txBody>
          <a:bodyPr/>
          <a:lstStyle/>
          <a:p>
            <a:pPr eaLnBrk="1" hangingPunct="1"/>
            <a:r>
              <a:rPr lang="en-US" altLang="zh-CN" smtClean="0"/>
              <a:t>MINIX</a:t>
            </a:r>
            <a:r>
              <a:rPr lang="zh-CN" altLang="en-US" smtClean="0"/>
              <a:t>文件系统</a:t>
            </a:r>
            <a:r>
              <a:rPr lang="en-US" altLang="zh-CN" smtClean="0"/>
              <a:t>V1.0</a:t>
            </a:r>
            <a:r>
              <a:rPr lang="zh-CN" altLang="en-US" smtClean="0"/>
              <a:t>的实现</a:t>
            </a:r>
            <a:endParaRPr lang="zh-CN" altLang="en-US" smtClean="0"/>
          </a:p>
        </p:txBody>
      </p:sp>
      <p:pic>
        <p:nvPicPr>
          <p:cNvPr id="33795" name="Picture 25" descr="MINIX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19200"/>
            <a:ext cx="8467725" cy="505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Rectangle 30"/>
          <p:cNvSpPr>
            <a:spLocks noChangeArrowheads="1"/>
          </p:cNvSpPr>
          <p:nvPr/>
        </p:nvSpPr>
        <p:spPr bwMode="auto">
          <a:xfrm>
            <a:off x="2514600" y="6105525"/>
            <a:ext cx="48006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MINIX</a:t>
            </a:r>
            <a:r>
              <a:rPr lang="zh-CN" altLang="en-US" sz="2000"/>
              <a:t>文件系统</a:t>
            </a:r>
            <a:r>
              <a:rPr lang="en-US" altLang="zh-CN" sz="2000"/>
              <a:t>1.0</a:t>
            </a:r>
            <a:r>
              <a:rPr lang="zh-CN" altLang="en-US" sz="2000"/>
              <a:t>超级块数据结构</a:t>
            </a:r>
            <a:endParaRPr lang="zh-CN" altLang="en-US" sz="2000"/>
          </a:p>
        </p:txBody>
      </p:sp>
      <p:grpSp>
        <p:nvGrpSpPr>
          <p:cNvPr id="4" name="组合 3"/>
          <p:cNvGrpSpPr/>
          <p:nvPr/>
        </p:nvGrpSpPr>
        <p:grpSpPr>
          <a:xfrm>
            <a:off x="2555240" y="765175"/>
            <a:ext cx="6402070" cy="2522220"/>
            <a:chOff x="4024" y="1205"/>
            <a:chExt cx="10082" cy="3972"/>
          </a:xfrm>
        </p:grpSpPr>
        <p:sp>
          <p:nvSpPr>
            <p:cNvPr id="3" name="矩形标注 2"/>
            <p:cNvSpPr/>
            <p:nvPr/>
          </p:nvSpPr>
          <p:spPr>
            <a:xfrm>
              <a:off x="4024" y="1205"/>
              <a:ext cx="10082" cy="3972"/>
            </a:xfrm>
            <a:prstGeom prst="wedgeRectCallout">
              <a:avLst>
                <a:gd name="adj1" fmla="val -21216"/>
                <a:gd name="adj2" fmla="val 66087"/>
              </a:avLst>
            </a:prstGeom>
            <a:noFill/>
            <a:ln w="28575" cap="flat" cmpd="thickThin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2" name="图片 1" descr="buffer_he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38" y="1431"/>
              <a:ext cx="9865" cy="368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763000" cy="676275"/>
          </a:xfrm>
        </p:spPr>
        <p:txBody>
          <a:bodyPr/>
          <a:lstStyle/>
          <a:p>
            <a:pPr eaLnBrk="1" hangingPunct="1"/>
            <a:r>
              <a:rPr lang="en-US" altLang="zh-CN" smtClean="0"/>
              <a:t>MINIX</a:t>
            </a:r>
            <a:r>
              <a:rPr lang="zh-CN" altLang="en-US" smtClean="0"/>
              <a:t>文件系统</a:t>
            </a:r>
            <a:r>
              <a:rPr lang="en-US" altLang="zh-CN" smtClean="0"/>
              <a:t>V1.0</a:t>
            </a:r>
            <a:r>
              <a:rPr lang="zh-CN" altLang="en-US" smtClean="0"/>
              <a:t>的实现</a:t>
            </a:r>
            <a:endParaRPr lang="zh-CN" altLang="en-US" smtClean="0"/>
          </a:p>
        </p:txBody>
      </p:sp>
      <p:pic>
        <p:nvPicPr>
          <p:cNvPr id="34819" name="Picture 3" descr="MINIX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6"/>
          <a:stretch>
            <a:fillRect/>
          </a:stretch>
        </p:blipFill>
        <p:spPr bwMode="auto">
          <a:xfrm>
            <a:off x="123825" y="1143000"/>
            <a:ext cx="879157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2667000" y="1066800"/>
            <a:ext cx="563880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</a:rPr>
              <a:t>MINIX</a:t>
            </a:r>
            <a:r>
              <a:rPr lang="zh-CN" altLang="en-US" sz="2000">
                <a:latin typeface="宋体" panose="02010600030101010101" pitchFamily="2" charset="-122"/>
              </a:rPr>
              <a:t>文件系统</a:t>
            </a:r>
            <a:r>
              <a:rPr lang="en-US" altLang="zh-CN" sz="2000">
                <a:latin typeface="宋体" panose="02010600030101010101" pitchFamily="2" charset="-122"/>
              </a:rPr>
              <a:t>1.0</a:t>
            </a:r>
            <a:r>
              <a:rPr lang="zh-CN" altLang="en-US" sz="2000">
                <a:latin typeface="宋体" panose="02010600030101010101" pitchFamily="2" charset="-122"/>
              </a:rPr>
              <a:t>逻辑结构布局示意图</a:t>
            </a:r>
            <a:endParaRPr lang="zh-CN" altLang="en-US" sz="2000">
              <a:latin typeface="宋体" panose="02010600030101010101" pitchFamily="2" charset="-122"/>
            </a:endParaRPr>
          </a:p>
        </p:txBody>
      </p:sp>
      <p:grpSp>
        <p:nvGrpSpPr>
          <p:cNvPr id="585736" name="Group 8"/>
          <p:cNvGrpSpPr/>
          <p:nvPr/>
        </p:nvGrpSpPr>
        <p:grpSpPr bwMode="auto">
          <a:xfrm>
            <a:off x="762000" y="2438400"/>
            <a:ext cx="7696200" cy="3429000"/>
            <a:chOff x="288" y="1536"/>
            <a:chExt cx="4848" cy="2160"/>
          </a:xfrm>
        </p:grpSpPr>
        <p:sp>
          <p:nvSpPr>
            <p:cNvPr id="34822" name="Rectangle 9"/>
            <p:cNvSpPr>
              <a:spLocks noChangeArrowheads="1"/>
            </p:cNvSpPr>
            <p:nvPr/>
          </p:nvSpPr>
          <p:spPr bwMode="auto">
            <a:xfrm>
              <a:off x="288" y="2644"/>
              <a:ext cx="4848" cy="105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marL="354330" indent="-35433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CC0000"/>
                </a:buClr>
                <a:buSzPct val="85000"/>
                <a:buFont typeface="Wingdings" panose="05000000000000000000" pitchFamily="2" charset="2"/>
                <a:buChar char="l"/>
              </a:pPr>
              <a:r>
                <a:rPr lang="zh-CN" altLang="en-US" sz="2600" dirty="0"/>
                <a:t>标记</a:t>
              </a:r>
              <a:r>
                <a:rPr lang="en-US" altLang="zh-CN" sz="2600" dirty="0" err="1"/>
                <a:t>i</a:t>
              </a:r>
              <a:r>
                <a:rPr lang="zh-CN" altLang="en-US" sz="2600" dirty="0"/>
                <a:t>节点的使用情况，每</a:t>
              </a:r>
              <a:r>
                <a:rPr lang="en-US" altLang="zh-CN" sz="2600" dirty="0"/>
                <a:t>bit</a:t>
              </a:r>
              <a:r>
                <a:rPr lang="zh-CN" altLang="en-US" sz="2600" dirty="0"/>
                <a:t>位代表</a:t>
              </a:r>
              <a:r>
                <a:rPr lang="en-US" altLang="zh-CN" sz="2600" dirty="0"/>
                <a:t>1</a:t>
              </a:r>
              <a:r>
                <a:rPr lang="zh-CN" altLang="en-US" sz="2600" dirty="0"/>
                <a:t>个</a:t>
              </a:r>
              <a:r>
                <a:rPr lang="en-US" altLang="zh-CN" sz="2600" dirty="0" err="1"/>
                <a:t>i</a:t>
              </a:r>
              <a:r>
                <a:rPr lang="zh-CN" altLang="en-US" sz="2600" dirty="0"/>
                <a:t>节点，即</a:t>
              </a:r>
              <a:r>
                <a:rPr lang="en-US" altLang="zh-CN" sz="2600" dirty="0"/>
                <a:t>1</a:t>
              </a:r>
              <a:r>
                <a:rPr lang="zh-CN" altLang="en-US" sz="2600" dirty="0"/>
                <a:t>个目录文件或普通文件</a:t>
              </a:r>
              <a:endParaRPr lang="zh-CN" altLang="en-US" sz="2600" dirty="0"/>
            </a:p>
            <a:p>
              <a:pPr eaLnBrk="1" hangingPunct="1">
                <a:spcBef>
                  <a:spcPct val="0"/>
                </a:spcBef>
                <a:buClr>
                  <a:srgbClr val="CC0000"/>
                </a:buClr>
                <a:buSzPct val="85000"/>
                <a:buFont typeface="Wingdings" panose="05000000000000000000" pitchFamily="2" charset="2"/>
                <a:buChar char="l"/>
              </a:pPr>
              <a:r>
                <a:rPr lang="zh-CN" altLang="en-US" sz="2600" dirty="0"/>
                <a:t>可以占用多个盘块</a:t>
              </a:r>
              <a:endParaRPr lang="zh-CN" altLang="en-US" sz="2600" dirty="0"/>
            </a:p>
          </p:txBody>
        </p:sp>
        <p:sp>
          <p:nvSpPr>
            <p:cNvPr id="34823" name="Line 10"/>
            <p:cNvSpPr>
              <a:spLocks noChangeShapeType="1"/>
            </p:cNvSpPr>
            <p:nvPr/>
          </p:nvSpPr>
          <p:spPr bwMode="auto">
            <a:xfrm flipH="1" flipV="1">
              <a:off x="576" y="1536"/>
              <a:ext cx="588" cy="11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762000" y="6019800"/>
            <a:ext cx="642675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CC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FF0000"/>
                </a:solidFill>
              </a:rPr>
              <a:t>如果建一个空目录，盘块分配情况如何？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85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763000" cy="676275"/>
          </a:xfrm>
        </p:spPr>
        <p:txBody>
          <a:bodyPr/>
          <a:lstStyle/>
          <a:p>
            <a:pPr eaLnBrk="1" hangingPunct="1"/>
            <a:r>
              <a:rPr lang="en-US" altLang="zh-CN" smtClean="0"/>
              <a:t>MINIX</a:t>
            </a:r>
            <a:r>
              <a:rPr lang="zh-CN" altLang="en-US" smtClean="0"/>
              <a:t>文件系统</a:t>
            </a:r>
            <a:r>
              <a:rPr lang="en-US" altLang="zh-CN" smtClean="0"/>
              <a:t>V1.0</a:t>
            </a:r>
            <a:r>
              <a:rPr lang="zh-CN" altLang="en-US" smtClean="0"/>
              <a:t>的实现</a:t>
            </a:r>
            <a:endParaRPr lang="zh-CN" altLang="en-US" smtClean="0"/>
          </a:p>
        </p:txBody>
      </p:sp>
      <p:pic>
        <p:nvPicPr>
          <p:cNvPr id="35843" name="Picture 3" descr="MINIX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6"/>
          <a:stretch>
            <a:fillRect/>
          </a:stretch>
        </p:blipFill>
        <p:spPr bwMode="auto">
          <a:xfrm>
            <a:off x="123825" y="1143000"/>
            <a:ext cx="879157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2667000" y="1066800"/>
            <a:ext cx="563880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</a:rPr>
              <a:t>MINIX</a:t>
            </a:r>
            <a:r>
              <a:rPr lang="zh-CN" altLang="en-US" sz="2000">
                <a:latin typeface="宋体" panose="02010600030101010101" pitchFamily="2" charset="-122"/>
              </a:rPr>
              <a:t>文件系统</a:t>
            </a:r>
            <a:r>
              <a:rPr lang="en-US" altLang="zh-CN" sz="2000">
                <a:latin typeface="宋体" panose="02010600030101010101" pitchFamily="2" charset="-122"/>
              </a:rPr>
              <a:t>1.0</a:t>
            </a:r>
            <a:r>
              <a:rPr lang="zh-CN" altLang="en-US" sz="2000">
                <a:latin typeface="宋体" panose="02010600030101010101" pitchFamily="2" charset="-122"/>
              </a:rPr>
              <a:t>逻辑结构布局示意图</a:t>
            </a:r>
            <a:endParaRPr lang="zh-CN" altLang="en-US" sz="2000">
              <a:latin typeface="宋体" panose="02010600030101010101" pitchFamily="2" charset="-122"/>
            </a:endParaRPr>
          </a:p>
        </p:txBody>
      </p:sp>
      <p:grpSp>
        <p:nvGrpSpPr>
          <p:cNvPr id="586761" name="Group 9"/>
          <p:cNvGrpSpPr/>
          <p:nvPr/>
        </p:nvGrpSpPr>
        <p:grpSpPr bwMode="auto">
          <a:xfrm>
            <a:off x="762000" y="2438400"/>
            <a:ext cx="7696200" cy="3429000"/>
            <a:chOff x="480" y="1536"/>
            <a:chExt cx="4848" cy="2160"/>
          </a:xfrm>
        </p:grpSpPr>
        <p:sp>
          <p:nvSpPr>
            <p:cNvPr id="35846" name="Rectangle 7"/>
            <p:cNvSpPr>
              <a:spLocks noChangeArrowheads="1"/>
            </p:cNvSpPr>
            <p:nvPr/>
          </p:nvSpPr>
          <p:spPr bwMode="auto">
            <a:xfrm>
              <a:off x="480" y="2644"/>
              <a:ext cx="4848" cy="105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marL="354330" indent="-35433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CC0000"/>
                </a:buClr>
                <a:buSzPct val="85000"/>
                <a:buFont typeface="Wingdings" panose="05000000000000000000" pitchFamily="2" charset="2"/>
                <a:buChar char="l"/>
              </a:pPr>
              <a:r>
                <a:rPr lang="zh-CN" altLang="en-US" sz="2600"/>
                <a:t>标记磁盘分区中每个数据盘块的使用情况，每</a:t>
              </a:r>
              <a:r>
                <a:rPr lang="en-US" altLang="zh-CN" sz="2600"/>
                <a:t>bit</a:t>
              </a:r>
              <a:r>
                <a:rPr lang="zh-CN" altLang="en-US" sz="2600"/>
                <a:t>位代表</a:t>
              </a:r>
              <a:r>
                <a:rPr lang="en-US" altLang="zh-CN" sz="2600"/>
                <a:t>1</a:t>
              </a:r>
              <a:r>
                <a:rPr lang="zh-CN" altLang="en-US" sz="2600"/>
                <a:t>个盘块</a:t>
              </a:r>
              <a:endParaRPr lang="zh-CN" altLang="en-US" sz="2600"/>
            </a:p>
            <a:p>
              <a:pPr eaLnBrk="1" hangingPunct="1">
                <a:spcBef>
                  <a:spcPct val="0"/>
                </a:spcBef>
                <a:buClr>
                  <a:srgbClr val="CC0000"/>
                </a:buClr>
                <a:buSzPct val="85000"/>
                <a:buFont typeface="Wingdings" panose="05000000000000000000" pitchFamily="2" charset="2"/>
                <a:buChar char="l"/>
              </a:pPr>
              <a:r>
                <a:rPr lang="zh-CN" altLang="en-US" sz="2600"/>
                <a:t>只标记</a:t>
              </a:r>
              <a:r>
                <a:rPr lang="zh-CN" altLang="en-US" sz="2600">
                  <a:solidFill>
                    <a:srgbClr val="CC0000"/>
                  </a:solidFill>
                </a:rPr>
                <a:t>数据区</a:t>
              </a:r>
              <a:r>
                <a:rPr lang="zh-CN" altLang="en-US" sz="2600"/>
                <a:t>的盘块</a:t>
              </a:r>
              <a:endParaRPr lang="zh-CN" altLang="en-US" sz="2600"/>
            </a:p>
          </p:txBody>
        </p:sp>
        <p:sp>
          <p:nvSpPr>
            <p:cNvPr id="35847" name="Line 8"/>
            <p:cNvSpPr>
              <a:spLocks noChangeShapeType="1"/>
            </p:cNvSpPr>
            <p:nvPr/>
          </p:nvSpPr>
          <p:spPr bwMode="auto">
            <a:xfrm flipH="1" flipV="1">
              <a:off x="1008" y="1536"/>
              <a:ext cx="348" cy="11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86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763000" cy="676275"/>
          </a:xfrm>
        </p:spPr>
        <p:txBody>
          <a:bodyPr/>
          <a:lstStyle/>
          <a:p>
            <a:pPr eaLnBrk="1" hangingPunct="1"/>
            <a:r>
              <a:rPr lang="en-US" altLang="zh-CN" smtClean="0"/>
              <a:t>MINIX</a:t>
            </a:r>
            <a:r>
              <a:rPr lang="zh-CN" altLang="en-US" smtClean="0"/>
              <a:t>文件系统</a:t>
            </a:r>
            <a:r>
              <a:rPr lang="en-US" altLang="zh-CN" smtClean="0"/>
              <a:t>V1.0</a:t>
            </a:r>
            <a:r>
              <a:rPr lang="zh-CN" altLang="en-US" smtClean="0"/>
              <a:t>的实现</a:t>
            </a:r>
            <a:endParaRPr lang="zh-CN" altLang="en-US" smtClean="0"/>
          </a:p>
        </p:txBody>
      </p:sp>
      <p:pic>
        <p:nvPicPr>
          <p:cNvPr id="36867" name="Picture 3" descr="MINIX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6"/>
          <a:stretch>
            <a:fillRect/>
          </a:stretch>
        </p:blipFill>
        <p:spPr bwMode="auto">
          <a:xfrm>
            <a:off x="123825" y="1143000"/>
            <a:ext cx="879157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2667000" y="1066800"/>
            <a:ext cx="563880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</a:rPr>
              <a:t>MINIX</a:t>
            </a:r>
            <a:r>
              <a:rPr lang="zh-CN" altLang="en-US" sz="2000">
                <a:latin typeface="宋体" panose="02010600030101010101" pitchFamily="2" charset="-122"/>
              </a:rPr>
              <a:t>文件系统</a:t>
            </a:r>
            <a:r>
              <a:rPr lang="en-US" altLang="zh-CN" sz="2000">
                <a:latin typeface="宋体" panose="02010600030101010101" pitchFamily="2" charset="-122"/>
              </a:rPr>
              <a:t>1.0</a:t>
            </a:r>
            <a:r>
              <a:rPr lang="zh-CN" altLang="en-US" sz="2000">
                <a:latin typeface="宋体" panose="02010600030101010101" pitchFamily="2" charset="-122"/>
              </a:rPr>
              <a:t>逻辑结构布局示意图</a:t>
            </a:r>
            <a:endParaRPr lang="zh-CN" altLang="en-US" sz="2000">
              <a:latin typeface="宋体" panose="02010600030101010101" pitchFamily="2" charset="-122"/>
            </a:endParaRPr>
          </a:p>
        </p:txBody>
      </p:sp>
      <p:grpSp>
        <p:nvGrpSpPr>
          <p:cNvPr id="589832" name="Group 8"/>
          <p:cNvGrpSpPr/>
          <p:nvPr/>
        </p:nvGrpSpPr>
        <p:grpSpPr bwMode="auto">
          <a:xfrm>
            <a:off x="685800" y="2438400"/>
            <a:ext cx="7696200" cy="3429000"/>
            <a:chOff x="432" y="1536"/>
            <a:chExt cx="4848" cy="2160"/>
          </a:xfrm>
        </p:grpSpPr>
        <p:sp>
          <p:nvSpPr>
            <p:cNvPr id="36870" name="Rectangle 6"/>
            <p:cNvSpPr>
              <a:spLocks noChangeArrowheads="1"/>
            </p:cNvSpPr>
            <p:nvPr/>
          </p:nvSpPr>
          <p:spPr bwMode="auto">
            <a:xfrm>
              <a:off x="432" y="2644"/>
              <a:ext cx="4848" cy="105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marL="354330" indent="-35433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CC0000"/>
                </a:buClr>
                <a:buSzPct val="85000"/>
                <a:buFont typeface="Wingdings" panose="05000000000000000000" pitchFamily="2" charset="2"/>
                <a:buChar char="l"/>
              </a:pPr>
              <a:r>
                <a:rPr lang="zh-CN" altLang="en-US" sz="2600"/>
                <a:t>存放着文件系统中目录文件或普通文件的</a:t>
              </a:r>
              <a:r>
                <a:rPr lang="en-US" altLang="zh-CN" sz="2600"/>
                <a:t>i</a:t>
              </a:r>
              <a:r>
                <a:rPr lang="zh-CN" altLang="en-US" sz="2600"/>
                <a:t>节点</a:t>
              </a:r>
              <a:endParaRPr lang="zh-CN" altLang="en-US" sz="2600"/>
            </a:p>
            <a:p>
              <a:pPr eaLnBrk="1" hangingPunct="1">
                <a:spcBef>
                  <a:spcPct val="0"/>
                </a:spcBef>
                <a:buClr>
                  <a:srgbClr val="CC0000"/>
                </a:buClr>
                <a:buSzPct val="85000"/>
                <a:buFont typeface="Wingdings" panose="05000000000000000000" pitchFamily="2" charset="2"/>
                <a:buChar char="l"/>
              </a:pPr>
              <a:r>
                <a:rPr lang="zh-CN" altLang="en-US" sz="2600"/>
                <a:t>每个目录文件或普通文件都有</a:t>
              </a:r>
              <a:r>
                <a:rPr lang="en-US" altLang="zh-CN" sz="2600"/>
                <a:t>1</a:t>
              </a:r>
              <a:r>
                <a:rPr lang="zh-CN" altLang="en-US" sz="2600"/>
                <a:t>个</a:t>
              </a:r>
              <a:r>
                <a:rPr lang="en-US" altLang="zh-CN" sz="2600"/>
                <a:t>i</a:t>
              </a:r>
              <a:r>
                <a:rPr lang="zh-CN" altLang="en-US" sz="2600"/>
                <a:t>节点结构</a:t>
              </a:r>
              <a:endParaRPr lang="zh-CN" altLang="en-US" sz="2600"/>
            </a:p>
            <a:p>
              <a:pPr eaLnBrk="1" hangingPunct="1">
                <a:spcBef>
                  <a:spcPct val="0"/>
                </a:spcBef>
                <a:buClr>
                  <a:srgbClr val="CC0000"/>
                </a:buClr>
                <a:buSzPct val="85000"/>
                <a:buFont typeface="Wingdings" panose="05000000000000000000" pitchFamily="2" charset="2"/>
                <a:buChar char="l"/>
              </a:pPr>
              <a:r>
                <a:rPr lang="zh-CN" altLang="en-US" sz="2600"/>
                <a:t>每个</a:t>
              </a:r>
              <a:r>
                <a:rPr lang="en-US" altLang="zh-CN" sz="2600"/>
                <a:t>i</a:t>
              </a:r>
              <a:r>
                <a:rPr lang="zh-CN" altLang="en-US" sz="2600"/>
                <a:t>节点结构中存放着对应文件的相关信息</a:t>
              </a:r>
              <a:endParaRPr lang="zh-CN" altLang="en-US" sz="2600"/>
            </a:p>
            <a:p>
              <a:pPr eaLnBrk="1" hangingPunct="1">
                <a:spcBef>
                  <a:spcPct val="0"/>
                </a:spcBef>
                <a:buClr>
                  <a:srgbClr val="CC0000"/>
                </a:buClr>
                <a:buSzPct val="85000"/>
                <a:buFont typeface="Wingdings" panose="05000000000000000000" pitchFamily="2" charset="2"/>
                <a:buChar char="l"/>
              </a:pPr>
              <a:r>
                <a:rPr lang="zh-CN" altLang="en-US" sz="2600"/>
                <a:t>第</a:t>
              </a:r>
              <a:r>
                <a:rPr lang="en-US" altLang="zh-CN" sz="2600"/>
                <a:t>1</a:t>
              </a:r>
              <a:r>
                <a:rPr lang="zh-CN" altLang="en-US" sz="2600"/>
                <a:t>个</a:t>
              </a:r>
              <a:r>
                <a:rPr lang="en-US" altLang="zh-CN" sz="2600"/>
                <a:t>i</a:t>
              </a:r>
              <a:r>
                <a:rPr lang="zh-CN" altLang="en-US" sz="2600"/>
                <a:t>节点为根目录文件的</a:t>
              </a:r>
              <a:r>
                <a:rPr lang="en-US" altLang="zh-CN" sz="2600"/>
                <a:t>i</a:t>
              </a:r>
              <a:r>
                <a:rPr lang="zh-CN" altLang="en-US" sz="2600"/>
                <a:t>节点结构</a:t>
              </a:r>
              <a:endParaRPr lang="zh-CN" altLang="en-US" sz="2600"/>
            </a:p>
          </p:txBody>
        </p:sp>
        <p:sp>
          <p:nvSpPr>
            <p:cNvPr id="36871" name="Line 7"/>
            <p:cNvSpPr>
              <a:spLocks noChangeShapeType="1"/>
            </p:cNvSpPr>
            <p:nvPr/>
          </p:nvSpPr>
          <p:spPr bwMode="auto">
            <a:xfrm flipH="1" flipV="1">
              <a:off x="1440" y="1536"/>
              <a:ext cx="288" cy="11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89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82000" cy="676275"/>
          </a:xfrm>
        </p:spPr>
        <p:txBody>
          <a:bodyPr/>
          <a:lstStyle/>
          <a:p>
            <a:pPr eaLnBrk="1" hangingPunct="1"/>
            <a:r>
              <a:rPr lang="en-US" altLang="zh-CN" smtClean="0"/>
              <a:t>MINIX</a:t>
            </a:r>
            <a:r>
              <a:rPr lang="zh-CN" altLang="en-US" smtClean="0"/>
              <a:t>文件系统</a:t>
            </a:r>
            <a:r>
              <a:rPr lang="en-US" altLang="zh-CN" smtClean="0"/>
              <a:t>V1.0</a:t>
            </a:r>
            <a:r>
              <a:rPr lang="zh-CN" altLang="en-US" smtClean="0"/>
              <a:t>的实现</a:t>
            </a:r>
            <a:endParaRPr lang="zh-CN" altLang="en-US" smtClean="0"/>
          </a:p>
        </p:txBody>
      </p:sp>
      <p:pic>
        <p:nvPicPr>
          <p:cNvPr id="37891" name="Picture 3" descr="MINIX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6"/>
          <a:stretch>
            <a:fillRect/>
          </a:stretch>
        </p:blipFill>
        <p:spPr bwMode="auto">
          <a:xfrm>
            <a:off x="123825" y="1143000"/>
            <a:ext cx="879157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2667000" y="1066800"/>
            <a:ext cx="563880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</a:rPr>
              <a:t>MINIX</a:t>
            </a:r>
            <a:r>
              <a:rPr lang="zh-CN" altLang="en-US" sz="2000">
                <a:latin typeface="宋体" panose="02010600030101010101" pitchFamily="2" charset="-122"/>
              </a:rPr>
              <a:t>文件系统</a:t>
            </a:r>
            <a:r>
              <a:rPr lang="en-US" altLang="zh-CN" sz="2000">
                <a:latin typeface="宋体" panose="02010600030101010101" pitchFamily="2" charset="-122"/>
              </a:rPr>
              <a:t>1.0</a:t>
            </a:r>
            <a:r>
              <a:rPr lang="zh-CN" altLang="en-US" sz="2000">
                <a:latin typeface="宋体" panose="02010600030101010101" pitchFamily="2" charset="-122"/>
              </a:rPr>
              <a:t>逻辑结构布局示意图</a:t>
            </a: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590855" name="Line 7"/>
          <p:cNvSpPr>
            <a:spLocks noChangeShapeType="1"/>
          </p:cNvSpPr>
          <p:nvPr/>
        </p:nvSpPr>
        <p:spPr bwMode="auto">
          <a:xfrm flipH="1" flipV="1">
            <a:off x="2286000" y="2438400"/>
            <a:ext cx="146050" cy="56261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90856" name="Picture 8" descr="MINIX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0" t="1331" b="45258"/>
          <a:stretch>
            <a:fillRect/>
          </a:stretch>
        </p:blipFill>
        <p:spPr bwMode="auto">
          <a:xfrm>
            <a:off x="1219200" y="2971800"/>
            <a:ext cx="6934200" cy="356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0857" name="Rectangle 9"/>
          <p:cNvSpPr>
            <a:spLocks noChangeArrowheads="1"/>
          </p:cNvSpPr>
          <p:nvPr/>
        </p:nvSpPr>
        <p:spPr bwMode="auto">
          <a:xfrm>
            <a:off x="3200400" y="6540500"/>
            <a:ext cx="37338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i</a:t>
            </a:r>
            <a:r>
              <a:rPr lang="zh-CN" altLang="en-US" sz="2000"/>
              <a:t>节点数据结构（</a:t>
            </a:r>
            <a:r>
              <a:rPr lang="en-US" altLang="zh-CN" sz="2000">
                <a:solidFill>
                  <a:srgbClr val="CC0000"/>
                </a:solidFill>
              </a:rPr>
              <a:t>32bytes</a:t>
            </a:r>
            <a:r>
              <a:rPr lang="zh-CN" altLang="en-US" sz="2000"/>
              <a:t>）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90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90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90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855" grpId="0" bldLvl="0" animBg="1"/>
      <p:bldP spid="590857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82000" cy="676275"/>
          </a:xfrm>
        </p:spPr>
        <p:txBody>
          <a:bodyPr/>
          <a:lstStyle/>
          <a:p>
            <a:pPr eaLnBrk="1" hangingPunct="1"/>
            <a:r>
              <a:rPr lang="en-US" altLang="zh-CN" smtClean="0"/>
              <a:t>MINIX</a:t>
            </a:r>
            <a:r>
              <a:rPr lang="zh-CN" altLang="en-US" smtClean="0"/>
              <a:t>文件系统</a:t>
            </a:r>
            <a:r>
              <a:rPr lang="en-US" altLang="zh-CN" smtClean="0"/>
              <a:t>V1.0</a:t>
            </a:r>
            <a:r>
              <a:rPr lang="zh-CN" altLang="en-US" smtClean="0"/>
              <a:t>的实现</a:t>
            </a:r>
            <a:endParaRPr lang="zh-CN" altLang="en-US" smtClean="0"/>
          </a:p>
        </p:txBody>
      </p:sp>
      <p:pic>
        <p:nvPicPr>
          <p:cNvPr id="37891" name="Picture 3" descr="MINIX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6"/>
          <a:stretch>
            <a:fillRect/>
          </a:stretch>
        </p:blipFill>
        <p:spPr bwMode="auto">
          <a:xfrm>
            <a:off x="123825" y="1143000"/>
            <a:ext cx="879157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2667000" y="1066800"/>
            <a:ext cx="563880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</a:rPr>
              <a:t>MINIX</a:t>
            </a:r>
            <a:r>
              <a:rPr lang="zh-CN" altLang="en-US" sz="2000">
                <a:latin typeface="宋体" panose="02010600030101010101" pitchFamily="2" charset="-122"/>
              </a:rPr>
              <a:t>文件系统</a:t>
            </a:r>
            <a:r>
              <a:rPr lang="en-US" altLang="zh-CN" sz="2000">
                <a:latin typeface="宋体" panose="02010600030101010101" pitchFamily="2" charset="-122"/>
              </a:rPr>
              <a:t>1.0</a:t>
            </a:r>
            <a:r>
              <a:rPr lang="zh-CN" altLang="en-US" sz="2000">
                <a:latin typeface="宋体" panose="02010600030101010101" pitchFamily="2" charset="-122"/>
              </a:rPr>
              <a:t>逻辑结构布局示意图</a:t>
            </a: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590855" name="Line 7"/>
          <p:cNvSpPr>
            <a:spLocks noChangeShapeType="1"/>
          </p:cNvSpPr>
          <p:nvPr/>
        </p:nvSpPr>
        <p:spPr bwMode="auto">
          <a:xfrm flipH="1" flipV="1">
            <a:off x="2286000" y="2438400"/>
            <a:ext cx="457200" cy="17589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/>
          </a:p>
        </p:txBody>
      </p:sp>
      <p:pic>
        <p:nvPicPr>
          <p:cNvPr id="590856" name="Picture 8" descr="MINIX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0" t="1331" b="45258"/>
          <a:stretch>
            <a:fillRect/>
          </a:stretch>
        </p:blipFill>
        <p:spPr bwMode="auto">
          <a:xfrm>
            <a:off x="1219200" y="2971800"/>
            <a:ext cx="6934200" cy="356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0857" name="Rectangle 9"/>
          <p:cNvSpPr>
            <a:spLocks noChangeArrowheads="1"/>
          </p:cNvSpPr>
          <p:nvPr/>
        </p:nvSpPr>
        <p:spPr bwMode="auto">
          <a:xfrm>
            <a:off x="3200400" y="6540500"/>
            <a:ext cx="37338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i</a:t>
            </a:r>
            <a:r>
              <a:rPr lang="zh-CN" altLang="en-US" sz="2000"/>
              <a:t>节点数据结构（</a:t>
            </a:r>
            <a:r>
              <a:rPr lang="en-US" altLang="zh-CN" sz="2000">
                <a:solidFill>
                  <a:srgbClr val="CC0000"/>
                </a:solidFill>
              </a:rPr>
              <a:t>32bytes</a:t>
            </a:r>
            <a:r>
              <a:rPr lang="zh-CN" altLang="en-US" sz="2000"/>
              <a:t>）</a:t>
            </a:r>
            <a:endParaRPr lang="zh-CN" altLang="en-US" sz="2000"/>
          </a:p>
        </p:txBody>
      </p:sp>
      <p:pic>
        <p:nvPicPr>
          <p:cNvPr id="2" name="图片 1" descr="v2-2a17373474c555f99cb0d6e079560d4d_1440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30" y="4034790"/>
            <a:ext cx="6273165" cy="2839085"/>
          </a:xfrm>
          <a:prstGeom prst="rect">
            <a:avLst/>
          </a:prstGeom>
        </p:spPr>
      </p:pic>
      <p:sp>
        <p:nvSpPr>
          <p:cNvPr id="3" name="Line 7"/>
          <p:cNvSpPr>
            <a:spLocks noChangeShapeType="1"/>
          </p:cNvSpPr>
          <p:nvPr/>
        </p:nvSpPr>
        <p:spPr bwMode="auto">
          <a:xfrm flipH="1" flipV="1">
            <a:off x="2286000" y="3501390"/>
            <a:ext cx="584200" cy="82296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763000" cy="676275"/>
          </a:xfrm>
        </p:spPr>
        <p:txBody>
          <a:bodyPr/>
          <a:lstStyle/>
          <a:p>
            <a:pPr eaLnBrk="1" hangingPunct="1"/>
            <a:r>
              <a:rPr lang="en-US" altLang="zh-CN" smtClean="0"/>
              <a:t>MINIX</a:t>
            </a:r>
            <a:r>
              <a:rPr lang="zh-CN" altLang="en-US" smtClean="0"/>
              <a:t>文件系统</a:t>
            </a:r>
            <a:r>
              <a:rPr lang="en-US" altLang="zh-CN" smtClean="0"/>
              <a:t>V1.0</a:t>
            </a:r>
            <a:r>
              <a:rPr lang="zh-CN" altLang="en-US" smtClean="0"/>
              <a:t>的实现</a:t>
            </a:r>
            <a:endParaRPr lang="zh-CN" altLang="en-US" smtClean="0"/>
          </a:p>
        </p:txBody>
      </p:sp>
      <p:pic>
        <p:nvPicPr>
          <p:cNvPr id="38915" name="Picture 27" descr="MINIX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093788"/>
            <a:ext cx="6781800" cy="530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6" name="Rectangle 29"/>
          <p:cNvSpPr>
            <a:spLocks noChangeArrowheads="1"/>
          </p:cNvSpPr>
          <p:nvPr/>
        </p:nvSpPr>
        <p:spPr bwMode="auto">
          <a:xfrm>
            <a:off x="2514600" y="6477000"/>
            <a:ext cx="48006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MINIX</a:t>
            </a:r>
            <a:r>
              <a:rPr lang="zh-CN" altLang="en-US" sz="2000"/>
              <a:t>文件系统</a:t>
            </a:r>
            <a:r>
              <a:rPr lang="en-US" altLang="zh-CN" sz="2000"/>
              <a:t>1.0</a:t>
            </a:r>
            <a:r>
              <a:rPr lang="zh-CN" altLang="en-US" sz="2000"/>
              <a:t>的</a:t>
            </a:r>
            <a:r>
              <a:rPr lang="en-US" altLang="zh-CN" sz="2000"/>
              <a:t>i</a:t>
            </a:r>
            <a:r>
              <a:rPr lang="zh-CN" altLang="en-US" sz="2000"/>
              <a:t>节点数据结构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82000" cy="676275"/>
          </a:xfrm>
        </p:spPr>
        <p:txBody>
          <a:bodyPr/>
          <a:lstStyle/>
          <a:p>
            <a:pPr eaLnBrk="1" hangingPunct="1"/>
            <a:r>
              <a:rPr lang="en-US" altLang="zh-CN" smtClean="0"/>
              <a:t>MINIX</a:t>
            </a:r>
            <a:r>
              <a:rPr lang="zh-CN" altLang="en-US" smtClean="0"/>
              <a:t>文件系统</a:t>
            </a:r>
            <a:r>
              <a:rPr lang="en-US" altLang="zh-CN" smtClean="0"/>
              <a:t>V1.0</a:t>
            </a:r>
            <a:r>
              <a:rPr lang="zh-CN" altLang="en-US" smtClean="0"/>
              <a:t>的实现</a:t>
            </a:r>
            <a:endParaRPr lang="zh-CN" altLang="en-US" smtClean="0"/>
          </a:p>
        </p:txBody>
      </p:sp>
      <p:pic>
        <p:nvPicPr>
          <p:cNvPr id="39939" name="Picture 25" descr="MINIX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43000"/>
            <a:ext cx="7772400" cy="464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Rectangle 28"/>
          <p:cNvSpPr>
            <a:spLocks noChangeArrowheads="1"/>
          </p:cNvSpPr>
          <p:nvPr/>
        </p:nvSpPr>
        <p:spPr bwMode="auto">
          <a:xfrm>
            <a:off x="1752600" y="5867400"/>
            <a:ext cx="65532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宋体" panose="02010600030101010101" pitchFamily="2" charset="-122"/>
              </a:rPr>
              <a:t>i</a:t>
            </a:r>
            <a:r>
              <a:rPr lang="zh-CN" altLang="en-US" sz="2400">
                <a:latin typeface="宋体" panose="02010600030101010101" pitchFamily="2" charset="-122"/>
              </a:rPr>
              <a:t>节点数据结构中逻辑块数组</a:t>
            </a:r>
            <a:r>
              <a:rPr lang="en-US" altLang="zh-CN" sz="2400">
                <a:latin typeface="宋体" panose="02010600030101010101" pitchFamily="2" charset="-122"/>
              </a:rPr>
              <a:t>i_zone</a:t>
            </a:r>
            <a:r>
              <a:rPr lang="zh-CN" altLang="en-US" sz="2400">
                <a:latin typeface="宋体" panose="02010600030101010101" pitchFamily="2" charset="-122"/>
              </a:rPr>
              <a:t>的功能</a:t>
            </a:r>
            <a:endParaRPr lang="zh-CN" altLang="en-US" sz="24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35677"/>
            <a:ext cx="8763000" cy="676275"/>
          </a:xfrm>
        </p:spPr>
        <p:txBody>
          <a:bodyPr/>
          <a:lstStyle/>
          <a:p>
            <a:pPr eaLnBrk="1" hangingPunct="1"/>
            <a:r>
              <a:rPr lang="en-US" altLang="zh-CN" sz="2800" dirty="0" err="1" smtClean="0"/>
              <a:t>MINIX</a:t>
            </a:r>
            <a:r>
              <a:rPr lang="zh-CN" altLang="en-US" sz="2800" dirty="0" smtClean="0"/>
              <a:t>文件系统</a:t>
            </a:r>
            <a:r>
              <a:rPr lang="en-US" altLang="zh-CN" sz="2800" dirty="0" err="1" smtClean="0"/>
              <a:t>V1.0</a:t>
            </a:r>
            <a:r>
              <a:rPr lang="zh-CN" altLang="en-US" sz="2800" dirty="0" smtClean="0"/>
              <a:t>的实现</a:t>
            </a:r>
            <a:endParaRPr lang="zh-CN" altLang="en-US" sz="2800" dirty="0" smtClean="0"/>
          </a:p>
        </p:txBody>
      </p:sp>
      <p:pic>
        <p:nvPicPr>
          <p:cNvPr id="40963" name="Picture 4" descr="MINIX1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2"/>
          <a:stretch>
            <a:fillRect/>
          </a:stretch>
        </p:blipFill>
        <p:spPr bwMode="auto">
          <a:xfrm>
            <a:off x="101600" y="2156281"/>
            <a:ext cx="9067800" cy="418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Rectangle 5"/>
          <p:cNvSpPr>
            <a:spLocks noChangeArrowheads="1"/>
          </p:cNvSpPr>
          <p:nvPr/>
        </p:nvSpPr>
        <p:spPr bwMode="auto">
          <a:xfrm>
            <a:off x="-18143" y="5730351"/>
            <a:ext cx="2438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宋体" panose="02010600030101010101" pitchFamily="2" charset="-122"/>
              </a:rPr>
              <a:t>根据文件名访问文件内容的过程示意图</a:t>
            </a:r>
            <a:endParaRPr lang="zh-CN" altLang="en-US" sz="1800" dirty="0"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757" y="1284517"/>
            <a:ext cx="24881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CC0000"/>
                </a:solidFill>
                <a:latin typeface="宋体" panose="02010600030101010101" pitchFamily="2" charset="-122"/>
              </a:rPr>
              <a:t>/</a:t>
            </a:r>
            <a:r>
              <a:rPr lang="en-US" altLang="zh-CN" sz="2400" dirty="0" err="1" smtClean="0">
                <a:solidFill>
                  <a:srgbClr val="0000CC"/>
                </a:solidFill>
                <a:latin typeface="宋体" panose="02010600030101010101" pitchFamily="2" charset="-122"/>
              </a:rPr>
              <a:t>usr</a:t>
            </a:r>
            <a:r>
              <a:rPr lang="en-US" altLang="zh-CN" sz="2400" dirty="0" smtClean="0">
                <a:solidFill>
                  <a:srgbClr val="CC0000"/>
                </a:solidFill>
                <a:latin typeface="宋体" panose="02010600030101010101" pitchFamily="2" charset="-122"/>
              </a:rPr>
              <a:t>/</a:t>
            </a:r>
            <a:r>
              <a:rPr lang="en-US" altLang="zh-CN" sz="2400" dirty="0" smtClean="0">
                <a:solidFill>
                  <a:srgbClr val="0000CC"/>
                </a:solidFill>
                <a:latin typeface="宋体" panose="02010600030101010101" pitchFamily="2" charset="-122"/>
              </a:rPr>
              <a:t>bin</a:t>
            </a:r>
            <a:r>
              <a:rPr lang="en-US" altLang="zh-CN" sz="2400" dirty="0" smtClean="0">
                <a:solidFill>
                  <a:srgbClr val="CC000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000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文件名</a:t>
            </a:r>
            <a:r>
              <a:rPr lang="en-US" altLang="zh-CN" sz="20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3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304800" y="2590800"/>
            <a:ext cx="1066800" cy="3048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3900" y="1295039"/>
            <a:ext cx="800100" cy="46090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5" name="直接箭头连接符 4"/>
          <p:cNvCxnSpPr>
            <a:stCxn id="9" idx="2"/>
          </p:cNvCxnSpPr>
          <p:nvPr/>
        </p:nvCxnSpPr>
        <p:spPr bwMode="auto">
          <a:xfrm flipH="1">
            <a:off x="885372" y="1755941"/>
            <a:ext cx="238578" cy="7704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2" name="Picture 3" descr="MINIX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6"/>
          <a:stretch>
            <a:fillRect/>
          </a:stretch>
        </p:blipFill>
        <p:spPr bwMode="auto">
          <a:xfrm>
            <a:off x="2971800" y="381000"/>
            <a:ext cx="5942725" cy="169976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ldLvl="0" animBg="1"/>
      <p:bldP spid="9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763000" cy="676275"/>
          </a:xfrm>
        </p:spPr>
        <p:txBody>
          <a:bodyPr/>
          <a:lstStyle/>
          <a:p>
            <a:pPr eaLnBrk="1" hangingPunct="1"/>
            <a:r>
              <a:rPr lang="en-US" altLang="zh-CN" smtClean="0"/>
              <a:t>MINIX</a:t>
            </a:r>
            <a:r>
              <a:rPr lang="zh-CN" altLang="en-US" smtClean="0"/>
              <a:t>文件系统</a:t>
            </a:r>
            <a:r>
              <a:rPr lang="en-US" altLang="zh-CN" smtClean="0"/>
              <a:t>V1.0</a:t>
            </a:r>
            <a:r>
              <a:rPr lang="zh-CN" altLang="en-US" smtClean="0"/>
              <a:t>的实现</a:t>
            </a:r>
            <a:endParaRPr lang="zh-CN" altLang="en-US" smtClean="0"/>
          </a:p>
        </p:txBody>
      </p:sp>
      <p:sp>
        <p:nvSpPr>
          <p:cNvPr id="41987" name="Rectangle 4"/>
          <p:cNvSpPr>
            <a:spLocks noChangeArrowheads="1"/>
          </p:cNvSpPr>
          <p:nvPr/>
        </p:nvSpPr>
        <p:spPr bwMode="auto">
          <a:xfrm>
            <a:off x="533400" y="1066800"/>
            <a:ext cx="762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CC0000"/>
                </a:solidFill>
                <a:latin typeface="宋体" panose="02010600030101010101" pitchFamily="2" charset="-122"/>
              </a:rPr>
              <a:t>如何访问文件</a:t>
            </a:r>
            <a:r>
              <a:rPr lang="en-US" altLang="zh-CN" dirty="0">
                <a:solidFill>
                  <a:srgbClr val="CC0000"/>
                </a:solidFill>
                <a:latin typeface="宋体" panose="02010600030101010101" pitchFamily="2" charset="-122"/>
              </a:rPr>
              <a:t>/</a:t>
            </a:r>
            <a:r>
              <a:rPr lang="en-US" altLang="zh-CN" dirty="0" err="1" smtClean="0">
                <a:solidFill>
                  <a:srgbClr val="0000CC"/>
                </a:solidFill>
                <a:latin typeface="宋体" panose="02010600030101010101" pitchFamily="2" charset="-122"/>
              </a:rPr>
              <a:t>usr</a:t>
            </a:r>
            <a:r>
              <a:rPr lang="en-US" altLang="zh-CN" dirty="0" smtClean="0">
                <a:solidFill>
                  <a:srgbClr val="CC0000"/>
                </a:solidFill>
                <a:latin typeface="宋体" panose="02010600030101010101" pitchFamily="2" charset="-122"/>
              </a:rPr>
              <a:t>/</a:t>
            </a:r>
            <a:r>
              <a:rPr lang="en-US" altLang="zh-CN" dirty="0" smtClean="0">
                <a:solidFill>
                  <a:srgbClr val="0000CC"/>
                </a:solidFill>
                <a:latin typeface="宋体" panose="02010600030101010101" pitchFamily="2" charset="-122"/>
              </a:rPr>
              <a:t>bin</a:t>
            </a:r>
            <a:r>
              <a:rPr lang="en-US" altLang="zh-CN" dirty="0" smtClean="0">
                <a:solidFill>
                  <a:srgbClr val="CC000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400" dirty="0" smtClean="0">
                <a:solidFill>
                  <a:srgbClr val="CC0000"/>
                </a:solidFill>
                <a:latin typeface="宋体" panose="02010600030101010101" pitchFamily="2" charset="-122"/>
              </a:rPr>
              <a:t>文件名</a:t>
            </a:r>
            <a:r>
              <a:rPr lang="en-US" altLang="zh-CN" sz="2400" dirty="0">
                <a:solidFill>
                  <a:srgbClr val="CC00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dirty="0" smtClean="0">
                <a:solidFill>
                  <a:srgbClr val="CC0000"/>
                </a:solidFill>
                <a:latin typeface="宋体" panose="02010600030101010101" pitchFamily="2" charset="-122"/>
              </a:rPr>
              <a:t>（</a:t>
            </a:r>
            <a:r>
              <a:rPr lang="zh-CN" altLang="en-US" dirty="0">
                <a:solidFill>
                  <a:srgbClr val="CC0000"/>
                </a:solidFill>
                <a:latin typeface="宋体" panose="02010600030101010101" pitchFamily="2" charset="-122"/>
              </a:rPr>
              <a:t>编辑工具）？</a:t>
            </a:r>
            <a:endParaRPr lang="zh-CN" altLang="en-US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591878" name="Rectangle 6"/>
          <p:cNvSpPr>
            <a:spLocks noChangeArrowheads="1"/>
          </p:cNvSpPr>
          <p:nvPr/>
        </p:nvSpPr>
        <p:spPr bwMode="auto">
          <a:xfrm>
            <a:off x="609600" y="1676400"/>
            <a:ext cx="8001000" cy="4800600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354330" indent="-35433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76300" indent="-34290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zh-CN" altLang="en-US" sz="2000" dirty="0"/>
              <a:t>根目录文件的</a:t>
            </a:r>
            <a:r>
              <a:rPr lang="en-US" altLang="zh-CN" sz="2000" dirty="0" err="1"/>
              <a:t>i</a:t>
            </a:r>
            <a:r>
              <a:rPr lang="zh-CN" altLang="en-US" sz="2000" dirty="0"/>
              <a:t>节点位置是固定的，即第</a:t>
            </a:r>
            <a:r>
              <a:rPr lang="en-US" altLang="zh-CN" sz="2000" dirty="0"/>
              <a:t>1</a:t>
            </a:r>
            <a:r>
              <a:rPr lang="zh-CN" altLang="en-US" sz="2000" dirty="0"/>
              <a:t>号</a:t>
            </a:r>
            <a:r>
              <a:rPr lang="en-US" altLang="zh-CN" sz="2000" dirty="0" err="1"/>
              <a:t>i</a:t>
            </a:r>
            <a:r>
              <a:rPr lang="zh-CN" altLang="en-US" sz="2000" dirty="0"/>
              <a:t>节点</a:t>
            </a:r>
            <a:endParaRPr lang="zh-CN" altLang="en-US" sz="20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en-US" altLang="zh-CN" sz="2000" dirty="0"/>
              <a:t>1</a:t>
            </a:r>
            <a:r>
              <a:rPr lang="zh-CN" altLang="en-US" sz="2000" dirty="0"/>
              <a:t>号</a:t>
            </a:r>
            <a:r>
              <a:rPr lang="en-US" altLang="zh-CN" sz="2000" dirty="0" err="1"/>
              <a:t>i</a:t>
            </a:r>
            <a:r>
              <a:rPr lang="zh-CN" altLang="en-US" sz="2000" dirty="0"/>
              <a:t>节点的数据块内容为根目录下的目录项列表</a:t>
            </a:r>
            <a:endParaRPr lang="zh-CN" altLang="en-US" sz="20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zh-CN" altLang="en-US" sz="2000" dirty="0"/>
              <a:t>通过该目录项列表匹配目录名“</a:t>
            </a:r>
            <a:r>
              <a:rPr lang="en-US" altLang="zh-CN" sz="2000" dirty="0" err="1"/>
              <a:t>usr</a:t>
            </a:r>
            <a:r>
              <a:rPr lang="en-US" altLang="zh-CN" sz="2000" dirty="0"/>
              <a:t>”</a:t>
            </a:r>
            <a:endParaRPr lang="en-US" altLang="zh-CN" sz="20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zh-CN" altLang="en-US" sz="2000" dirty="0"/>
              <a:t>若找到，则可得到文件“</a:t>
            </a:r>
            <a:r>
              <a:rPr lang="en-US" altLang="zh-CN" sz="2000" dirty="0"/>
              <a:t>/</a:t>
            </a:r>
            <a:r>
              <a:rPr lang="en-US" altLang="zh-CN" sz="2000" dirty="0" err="1"/>
              <a:t>usr</a:t>
            </a:r>
            <a:r>
              <a:rPr lang="en-US" altLang="zh-CN" sz="2000" dirty="0"/>
              <a:t>”</a:t>
            </a:r>
            <a:r>
              <a:rPr lang="zh-CN" altLang="en-US" sz="2000" dirty="0"/>
              <a:t>的</a:t>
            </a:r>
            <a:r>
              <a:rPr lang="en-US" altLang="zh-CN" sz="2000" dirty="0" err="1"/>
              <a:t>i</a:t>
            </a:r>
            <a:r>
              <a:rPr lang="zh-CN" altLang="en-US" sz="2000" dirty="0"/>
              <a:t>节点号</a:t>
            </a:r>
            <a:r>
              <a:rPr lang="en-US" altLang="zh-CN" sz="2000" dirty="0" err="1"/>
              <a:t>i1</a:t>
            </a:r>
            <a:endParaRPr lang="en-US" altLang="zh-CN" sz="20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zh-CN" altLang="en-US" sz="2000" dirty="0"/>
              <a:t>根据</a:t>
            </a:r>
            <a:r>
              <a:rPr lang="en-US" altLang="zh-CN" sz="2000" dirty="0" err="1"/>
              <a:t>i1</a:t>
            </a:r>
            <a:r>
              <a:rPr lang="zh-CN" altLang="en-US" sz="2000" dirty="0"/>
              <a:t>号</a:t>
            </a:r>
            <a:r>
              <a:rPr lang="en-US" altLang="zh-CN" sz="2000" dirty="0" err="1"/>
              <a:t>i</a:t>
            </a:r>
            <a:r>
              <a:rPr lang="zh-CN" altLang="en-US" sz="2000" dirty="0"/>
              <a:t>节点的数据块，可以取得目录文件“</a:t>
            </a:r>
            <a:r>
              <a:rPr lang="en-US" altLang="zh-CN" sz="2000" dirty="0"/>
              <a:t>/</a:t>
            </a:r>
            <a:r>
              <a:rPr lang="en-US" altLang="zh-CN" sz="2000" dirty="0" err="1"/>
              <a:t>usr</a:t>
            </a:r>
            <a:r>
              <a:rPr lang="en-US" altLang="zh-CN" sz="2000" dirty="0"/>
              <a:t>”</a:t>
            </a:r>
            <a:r>
              <a:rPr lang="zh-CN" altLang="en-US" sz="2000" dirty="0"/>
              <a:t>的内容，即子目录</a:t>
            </a:r>
            <a:r>
              <a:rPr lang="en-US" altLang="zh-CN" sz="2000" dirty="0" err="1"/>
              <a:t>usr</a:t>
            </a:r>
            <a:r>
              <a:rPr lang="zh-CN" altLang="en-US" sz="2000" dirty="0"/>
              <a:t>的文件目录项列表</a:t>
            </a:r>
            <a:endParaRPr lang="zh-CN" altLang="en-US" sz="20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zh-CN" altLang="en-US" sz="2000" dirty="0"/>
              <a:t>通过该目录项列表匹配目录名“</a:t>
            </a:r>
            <a:r>
              <a:rPr lang="en-US" altLang="zh-CN" sz="2000" dirty="0"/>
              <a:t>bin”</a:t>
            </a:r>
            <a:endParaRPr lang="en-US" altLang="zh-CN" sz="20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zh-CN" altLang="en-US" sz="2000" dirty="0"/>
              <a:t>若找到，则可得到文件“</a:t>
            </a:r>
            <a:r>
              <a:rPr lang="en-US" altLang="zh-CN" sz="2000" dirty="0"/>
              <a:t>/</a:t>
            </a:r>
            <a:r>
              <a:rPr lang="en-US" altLang="zh-CN" sz="2000" dirty="0" err="1"/>
              <a:t>usr</a:t>
            </a:r>
            <a:r>
              <a:rPr lang="en-US" altLang="zh-CN" sz="2000" dirty="0"/>
              <a:t>/bin”</a:t>
            </a:r>
            <a:r>
              <a:rPr lang="zh-CN" altLang="en-US" sz="2000" dirty="0"/>
              <a:t>的</a:t>
            </a:r>
            <a:r>
              <a:rPr lang="en-US" altLang="zh-CN" sz="2000" dirty="0" err="1"/>
              <a:t>i</a:t>
            </a:r>
            <a:r>
              <a:rPr lang="zh-CN" altLang="en-US" sz="2000" dirty="0"/>
              <a:t>节点号</a:t>
            </a:r>
            <a:r>
              <a:rPr lang="en-US" altLang="zh-CN" sz="2000" dirty="0" err="1"/>
              <a:t>i2</a:t>
            </a:r>
            <a:endParaRPr lang="en-US" altLang="zh-CN" sz="20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zh-CN" altLang="en-US" sz="2000" dirty="0"/>
              <a:t>根据</a:t>
            </a:r>
            <a:r>
              <a:rPr lang="en-US" altLang="zh-CN" sz="2000" dirty="0" err="1"/>
              <a:t>i2</a:t>
            </a:r>
            <a:r>
              <a:rPr lang="zh-CN" altLang="en-US" sz="2000" dirty="0"/>
              <a:t>号</a:t>
            </a:r>
            <a:r>
              <a:rPr lang="en-US" altLang="zh-CN" sz="2000" dirty="0" err="1"/>
              <a:t>i</a:t>
            </a:r>
            <a:r>
              <a:rPr lang="zh-CN" altLang="en-US" sz="2000" dirty="0"/>
              <a:t>节点的数据块，可以取得目录文件“</a:t>
            </a:r>
            <a:r>
              <a:rPr lang="en-US" altLang="zh-CN" sz="2000" dirty="0"/>
              <a:t>/</a:t>
            </a:r>
            <a:r>
              <a:rPr lang="en-US" altLang="zh-CN" sz="2000" dirty="0" err="1"/>
              <a:t>usr</a:t>
            </a:r>
            <a:r>
              <a:rPr lang="en-US" altLang="zh-CN" sz="2000" dirty="0"/>
              <a:t>/bin”</a:t>
            </a:r>
            <a:r>
              <a:rPr lang="zh-CN" altLang="en-US" sz="2000" dirty="0"/>
              <a:t>的内容，即子目录</a:t>
            </a:r>
            <a:r>
              <a:rPr lang="en-US" altLang="zh-CN" sz="2000" dirty="0"/>
              <a:t>bin</a:t>
            </a:r>
            <a:r>
              <a:rPr lang="zh-CN" altLang="en-US" sz="2000" dirty="0"/>
              <a:t>的文件目录项列表</a:t>
            </a:r>
            <a:endParaRPr lang="zh-CN" altLang="en-US" sz="20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zh-CN" altLang="en-US" sz="2000" dirty="0"/>
              <a:t>通过该目录项列表匹配文件名</a:t>
            </a:r>
            <a:r>
              <a:rPr lang="zh-CN" altLang="en-US" sz="2000" dirty="0" smtClean="0"/>
              <a:t>“文件名</a:t>
            </a:r>
            <a:r>
              <a:rPr lang="en-US" altLang="zh-CN" sz="2000" dirty="0"/>
              <a:t>3</a:t>
            </a:r>
            <a:r>
              <a:rPr lang="en-US" altLang="zh-CN" sz="2000" dirty="0" smtClean="0"/>
              <a:t>”</a:t>
            </a:r>
            <a:endParaRPr lang="en-US" altLang="zh-CN" sz="20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zh-CN" altLang="en-US" sz="2000" dirty="0"/>
              <a:t>若找到，则可得到文件“</a:t>
            </a:r>
            <a:r>
              <a:rPr lang="en-US" altLang="zh-CN" sz="2000" dirty="0"/>
              <a:t>/</a:t>
            </a:r>
            <a:r>
              <a:rPr lang="en-US" altLang="zh-CN" sz="2000" dirty="0" err="1"/>
              <a:t>usr</a:t>
            </a:r>
            <a:r>
              <a:rPr lang="en-US" altLang="zh-CN" sz="2000" dirty="0"/>
              <a:t>/bin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文件名</a:t>
            </a:r>
            <a:r>
              <a:rPr lang="en-US" altLang="zh-CN" sz="2000" dirty="0"/>
              <a:t>3</a:t>
            </a:r>
            <a:r>
              <a:rPr lang="en-US" altLang="zh-CN" sz="2000" dirty="0" smtClean="0"/>
              <a:t>”</a:t>
            </a:r>
            <a:r>
              <a:rPr lang="zh-CN" altLang="en-US" sz="2000" dirty="0"/>
              <a:t>的</a:t>
            </a:r>
            <a:r>
              <a:rPr lang="en-US" altLang="zh-CN" sz="2000" dirty="0" err="1"/>
              <a:t>i</a:t>
            </a:r>
            <a:r>
              <a:rPr lang="zh-CN" altLang="en-US" sz="2000" dirty="0"/>
              <a:t>节点号</a:t>
            </a:r>
            <a:r>
              <a:rPr lang="en-US" altLang="zh-CN" sz="2000" dirty="0" err="1"/>
              <a:t>i3</a:t>
            </a:r>
            <a:endParaRPr lang="en-US" altLang="zh-CN" sz="20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zh-CN" altLang="en-US" sz="2000" dirty="0"/>
              <a:t>根据</a:t>
            </a:r>
            <a:r>
              <a:rPr lang="en-US" altLang="zh-CN" sz="2000" dirty="0" err="1"/>
              <a:t>i3</a:t>
            </a:r>
            <a:r>
              <a:rPr lang="zh-CN" altLang="en-US" sz="2000" dirty="0"/>
              <a:t>号</a:t>
            </a:r>
            <a:r>
              <a:rPr lang="en-US" altLang="zh-CN" sz="2000" dirty="0" err="1"/>
              <a:t>i</a:t>
            </a:r>
            <a:r>
              <a:rPr lang="zh-CN" altLang="en-US" sz="2000" dirty="0"/>
              <a:t>节点的数据块，可以取得文件</a:t>
            </a:r>
            <a:r>
              <a:rPr lang="zh-CN" altLang="en-US" sz="2000" dirty="0" smtClean="0"/>
              <a:t>“文件名</a:t>
            </a:r>
            <a:r>
              <a:rPr lang="en-US" altLang="zh-CN" sz="2000" dirty="0"/>
              <a:t>3</a:t>
            </a:r>
            <a:r>
              <a:rPr lang="en-US" altLang="zh-CN" sz="2000" dirty="0" smtClean="0"/>
              <a:t>”</a:t>
            </a:r>
            <a:r>
              <a:rPr lang="zh-CN" altLang="en-US" sz="2000" dirty="0"/>
              <a:t>的内容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187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1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1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1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1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18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918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918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918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918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918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918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1878" grpId="0" animBg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763000" cy="676275"/>
          </a:xfrm>
        </p:spPr>
        <p:txBody>
          <a:bodyPr/>
          <a:lstStyle/>
          <a:p>
            <a:pPr eaLnBrk="1" hangingPunct="1"/>
            <a:r>
              <a:rPr lang="en-US" altLang="zh-CN" smtClean="0"/>
              <a:t>MINIX</a:t>
            </a:r>
            <a:r>
              <a:rPr lang="zh-CN" altLang="en-US" smtClean="0"/>
              <a:t>文件系统</a:t>
            </a:r>
            <a:r>
              <a:rPr lang="en-US" altLang="zh-CN" smtClean="0"/>
              <a:t>V1.0</a:t>
            </a:r>
            <a:r>
              <a:rPr lang="zh-CN" altLang="en-US" smtClean="0"/>
              <a:t>的实现</a:t>
            </a:r>
            <a:endParaRPr lang="zh-CN" altLang="en-US" smtClean="0"/>
          </a:p>
        </p:txBody>
      </p:sp>
      <p:sp>
        <p:nvSpPr>
          <p:cNvPr id="41987" name="Rectangle 4"/>
          <p:cNvSpPr>
            <a:spLocks noChangeArrowheads="1"/>
          </p:cNvSpPr>
          <p:nvPr/>
        </p:nvSpPr>
        <p:spPr bwMode="auto">
          <a:xfrm>
            <a:off x="533400" y="914400"/>
            <a:ext cx="762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 smtClean="0">
                <a:solidFill>
                  <a:srgbClr val="CC0000"/>
                </a:solidFill>
                <a:latin typeface="宋体" panose="02010600030101010101" pitchFamily="2" charset="-122"/>
              </a:rPr>
              <a:t>如何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删除</a:t>
            </a:r>
            <a:r>
              <a:rPr lang="zh-CN" altLang="en-US" sz="2400" dirty="0" smtClean="0">
                <a:solidFill>
                  <a:srgbClr val="CC0000"/>
                </a:solidFill>
                <a:latin typeface="宋体" panose="02010600030101010101" pitchFamily="2" charset="-122"/>
              </a:rPr>
              <a:t>文件</a:t>
            </a:r>
            <a:r>
              <a:rPr lang="en-US" altLang="zh-CN" sz="2400" dirty="0">
                <a:solidFill>
                  <a:srgbClr val="CC0000"/>
                </a:solidFill>
                <a:latin typeface="宋体" panose="02010600030101010101" pitchFamily="2" charset="-122"/>
              </a:rPr>
              <a:t>/</a:t>
            </a:r>
            <a:r>
              <a:rPr lang="en-US" altLang="zh-CN" sz="2400" dirty="0" err="1" smtClean="0">
                <a:solidFill>
                  <a:srgbClr val="0000CC"/>
                </a:solidFill>
                <a:latin typeface="宋体" panose="02010600030101010101" pitchFamily="2" charset="-122"/>
              </a:rPr>
              <a:t>usr</a:t>
            </a:r>
            <a:r>
              <a:rPr lang="en-US" altLang="zh-CN" sz="2400" dirty="0" smtClean="0">
                <a:solidFill>
                  <a:srgbClr val="CC0000"/>
                </a:solidFill>
                <a:latin typeface="宋体" panose="02010600030101010101" pitchFamily="2" charset="-122"/>
              </a:rPr>
              <a:t>/</a:t>
            </a:r>
            <a:r>
              <a:rPr lang="en-US" altLang="zh-CN" sz="2400" dirty="0" smtClean="0">
                <a:solidFill>
                  <a:srgbClr val="0000CC"/>
                </a:solidFill>
                <a:latin typeface="宋体" panose="02010600030101010101" pitchFamily="2" charset="-122"/>
              </a:rPr>
              <a:t>bin</a:t>
            </a:r>
            <a:r>
              <a:rPr lang="en-US" altLang="zh-CN" sz="2400" dirty="0" smtClean="0">
                <a:solidFill>
                  <a:srgbClr val="CC0000"/>
                </a:solidFill>
                <a:latin typeface="宋体" panose="02010600030101010101" pitchFamily="2" charset="-122"/>
              </a:rPr>
              <a:t>/vi</a:t>
            </a:r>
            <a:r>
              <a:rPr lang="zh-CN" altLang="en-US" sz="2400" dirty="0" smtClean="0">
                <a:solidFill>
                  <a:srgbClr val="CC0000"/>
                </a:solidFill>
                <a:latin typeface="宋体" panose="02010600030101010101" pitchFamily="2" charset="-122"/>
              </a:rPr>
              <a:t>？</a:t>
            </a:r>
            <a:endParaRPr lang="zh-CN" altLang="en-US" sz="2400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591878" name="Rectangle 6"/>
          <p:cNvSpPr>
            <a:spLocks noChangeArrowheads="1"/>
          </p:cNvSpPr>
          <p:nvPr/>
        </p:nvSpPr>
        <p:spPr bwMode="auto">
          <a:xfrm>
            <a:off x="457200" y="1524000"/>
            <a:ext cx="8001000" cy="3657600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354330" indent="-35433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76300" indent="-34290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根目录文件的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节点位置是固定的，即第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号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节点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号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节点的数据块内容为根目录下的目录项列表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通过该目录项列表匹配目录名“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usr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”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若找到，则可得到文件“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usr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”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的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节点号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i1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根据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i1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号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节点的数据块，可以取得目录文件“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usr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”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的内容，即子目录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usr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的文件目录项列表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通过该目录项列表匹配目录名“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bin”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若找到，则可得到文件“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usr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/bin”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的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节点号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i2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根据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i2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号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节点的数据块，可以取得目录文件“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usr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/bin”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的内容，即子目录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bin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的文件目录项列表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通过该目录项列表匹配文件名“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vi”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CC0000"/>
              </a:buClr>
              <a:buSzPct val="85000"/>
              <a:buFont typeface="Wingdings" panose="05000000000000000000" pitchFamily="2" charset="2"/>
              <a:buAutoNum type="arabicPeriod"/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若找到，则可得到文件“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usr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/bin/vi”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的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节点号</a:t>
            </a:r>
            <a:r>
              <a:rPr lang="en-US" altLang="zh-CN" sz="1600" dirty="0" err="1" smtClean="0">
                <a:solidFill>
                  <a:schemeClr val="bg1">
                    <a:lumMod val="50000"/>
                  </a:schemeClr>
                </a:solidFill>
              </a:rPr>
              <a:t>i3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Picture 3" descr="MINIX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6"/>
          <a:stretch>
            <a:fillRect/>
          </a:stretch>
        </p:blipFill>
        <p:spPr bwMode="auto">
          <a:xfrm>
            <a:off x="4648200" y="76200"/>
            <a:ext cx="4419600" cy="1264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602343" y="5401575"/>
            <a:ext cx="7924800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</a:rPr>
              <a:t>11.</a:t>
            </a:r>
            <a:r>
              <a:rPr lang="zh-CN" altLang="en-US" sz="2000" dirty="0"/>
              <a:t>找到</a:t>
            </a:r>
            <a:r>
              <a:rPr lang="en-US" altLang="zh-CN" sz="2000" dirty="0" err="1"/>
              <a:t>i</a:t>
            </a:r>
            <a:r>
              <a:rPr lang="zh-CN" altLang="en-US" sz="2000" dirty="0"/>
              <a:t>节点</a:t>
            </a:r>
            <a:r>
              <a:rPr lang="zh-CN" altLang="en-US" sz="2000" dirty="0"/>
              <a:t>后，根据文件长度从</a:t>
            </a:r>
            <a:r>
              <a:rPr lang="en-US" altLang="zh-CN" sz="2000" dirty="0" err="1"/>
              <a:t>i</a:t>
            </a:r>
            <a:r>
              <a:rPr lang="zh-CN" altLang="en-US" sz="2000" dirty="0"/>
              <a:t>节点中找到每个盘块的索引号，将</a:t>
            </a:r>
            <a:r>
              <a:rPr lang="en-US" altLang="zh-CN" sz="2000" dirty="0" err="1"/>
              <a:t>i</a:t>
            </a:r>
            <a:r>
              <a:rPr lang="zh-CN" altLang="en-US" sz="2000" dirty="0"/>
              <a:t>节点位图和逻辑块位图中相应位置</a:t>
            </a:r>
            <a:r>
              <a:rPr lang="en-US" altLang="zh-CN" sz="2000" dirty="0" smtClean="0"/>
              <a:t>0</a:t>
            </a:r>
            <a:r>
              <a:rPr lang="zh-CN" altLang="en-US" sz="2000" dirty="0" smtClean="0"/>
              <a:t>（释放）。</a:t>
            </a:r>
            <a:endParaRPr lang="zh-CN" altLang="en-US" sz="2000" dirty="0" smtClean="0"/>
          </a:p>
          <a:p>
            <a:r>
              <a:rPr lang="en-US" altLang="zh-CN" sz="2000" dirty="0">
                <a:solidFill>
                  <a:srgbClr val="C00000"/>
                </a:solidFill>
              </a:rPr>
              <a:t>12.</a:t>
            </a:r>
            <a:r>
              <a:rPr lang="zh-CN" altLang="en-US" sz="2000" dirty="0">
                <a:solidFill>
                  <a:schemeClr val="tx1"/>
                </a:solidFill>
              </a:rPr>
              <a:t>删除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“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/</a:t>
            </a:r>
            <a:r>
              <a:rPr lang="en-US" altLang="zh-CN" sz="2000" dirty="0" err="1">
                <a:solidFill>
                  <a:schemeClr val="tx1"/>
                </a:solidFill>
                <a:sym typeface="+mn-ea"/>
              </a:rPr>
              <a:t>usr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/bin”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中对应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vi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的目录项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9187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91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91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91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91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918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918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918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918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918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918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1878" grpId="0" animBg="1" build="p"/>
      <p:bldP spid="2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TABLE_ENDDRAG_ORIGIN_RECT" val="165*178"/>
  <p:tag name="TABLE_ENDDRAG_RECT" val="552*190*165*178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PP_MARK_KEY" val="5825ba92-c481-4c68-9cac-59e3dc06af8c"/>
  <p:tag name="COMMONDATA" val="eyJoZGlkIjoiNWYyODU0MTJjOGFhNmFjNmM3OTgzOTg1Zjk0OGNkZWMifQ=="/>
  <p:tag name="RESOURCE_RECORD_KEY" val="{&quot;13&quot;:[4532414]}"/>
</p:tagLst>
</file>

<file path=ppt/theme/theme1.xml><?xml version="1.0" encoding="utf-8"?>
<a:theme xmlns:a="http://schemas.openxmlformats.org/drawingml/2006/main" name="1_Radial">
  <a:themeElements>
    <a:clrScheme name="1_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1_Radi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adial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Radi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0</TotalTime>
  <Words>5377</Words>
  <Application>WPS 演示</Application>
  <PresentationFormat>全屏显示(4:3)</PresentationFormat>
  <Paragraphs>809</Paragraphs>
  <Slides>49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4" baseType="lpstr">
      <vt:lpstr>Arial</vt:lpstr>
      <vt:lpstr>宋体</vt:lpstr>
      <vt:lpstr>Wingdings</vt:lpstr>
      <vt:lpstr>Times New Roman</vt:lpstr>
      <vt:lpstr>Arial Black</vt:lpstr>
      <vt:lpstr>Arial Narrow</vt:lpstr>
      <vt:lpstr>Wingdings</vt:lpstr>
      <vt:lpstr>微软雅黑</vt:lpstr>
      <vt:lpstr>Arial Unicode MS</vt:lpstr>
      <vt:lpstr>黑体</vt:lpstr>
      <vt:lpstr>Webdings</vt:lpstr>
      <vt:lpstr>1_Radial</vt:lpstr>
      <vt:lpstr>Radial</vt:lpstr>
      <vt:lpstr>默认设计模板</vt:lpstr>
      <vt:lpstr>Paint.Picture</vt:lpstr>
      <vt:lpstr>文件管理  File Management</vt:lpstr>
      <vt:lpstr>PowerPoint 演示文稿</vt:lpstr>
      <vt:lpstr>内容</vt:lpstr>
      <vt:lpstr>概述</vt:lpstr>
      <vt:lpstr>概述</vt:lpstr>
      <vt:lpstr>概述</vt:lpstr>
      <vt:lpstr>概述</vt:lpstr>
      <vt:lpstr>概述</vt:lpstr>
      <vt:lpstr>内容</vt:lpstr>
      <vt:lpstr>文件组织和访问</vt:lpstr>
      <vt:lpstr>文件组织和访问</vt:lpstr>
      <vt:lpstr>文件组织和访问</vt:lpstr>
      <vt:lpstr>文件组织和访问</vt:lpstr>
      <vt:lpstr>文件组织和访问</vt:lpstr>
      <vt:lpstr>内容</vt:lpstr>
      <vt:lpstr>文件共享</vt:lpstr>
      <vt:lpstr>文件组织和访问</vt:lpstr>
      <vt:lpstr>内容</vt:lpstr>
      <vt:lpstr>逻辑组块</vt:lpstr>
      <vt:lpstr>内容</vt:lpstr>
      <vt:lpstr>文件组织和访问</vt:lpstr>
      <vt:lpstr>文件组织和访问</vt:lpstr>
      <vt:lpstr>辅存管理</vt:lpstr>
      <vt:lpstr>辅存管理</vt:lpstr>
      <vt:lpstr>辅存管理</vt:lpstr>
      <vt:lpstr>辅存管理</vt:lpstr>
      <vt:lpstr>辅存管理</vt:lpstr>
      <vt:lpstr>辅存管理</vt:lpstr>
      <vt:lpstr>辅存管理</vt:lpstr>
      <vt:lpstr>活学活用</vt:lpstr>
      <vt:lpstr>活学活用</vt:lpstr>
      <vt:lpstr>内容</vt:lpstr>
      <vt:lpstr> MINIX文件系统1.0实现</vt:lpstr>
      <vt:lpstr>MINIX文件系统V1.0的实现</vt:lpstr>
      <vt:lpstr>MINIX文件系统V1.0的实现</vt:lpstr>
      <vt:lpstr>MINIX文件系统V1.0的实现</vt:lpstr>
      <vt:lpstr>MINIX文件系统V1.0的实现</vt:lpstr>
      <vt:lpstr>MINIX文件系统V1.0的实现</vt:lpstr>
      <vt:lpstr>MINIX文件系统V1.0的实现</vt:lpstr>
      <vt:lpstr>MINIX文件系统V1.0的实现</vt:lpstr>
      <vt:lpstr>MINIX文件系统V1.0的实现</vt:lpstr>
      <vt:lpstr>MINIX文件系统V1.0的实现</vt:lpstr>
      <vt:lpstr>MINIX文件系统V1.0的实现</vt:lpstr>
      <vt:lpstr>MINIX文件系统V1.0的实现</vt:lpstr>
      <vt:lpstr>MINIX文件系统V1.0的实现</vt:lpstr>
      <vt:lpstr>MINIX文件系统V1.0的实现</vt:lpstr>
      <vt:lpstr>MINIX文件系统V1.0的实现</vt:lpstr>
      <vt:lpstr>MINIX文件系统V1.0的实现</vt:lpstr>
      <vt:lpstr>MINIX文件系统V1.0的实现</vt:lpstr>
    </vt:vector>
  </TitlesOfParts>
  <Company>雨薇在线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语音信号处理</dc:title>
  <dc:creator>雨薇</dc:creator>
  <cp:lastModifiedBy>郑铁然</cp:lastModifiedBy>
  <cp:revision>276</cp:revision>
  <cp:lastPrinted>2019-07-15T08:06:00Z</cp:lastPrinted>
  <dcterms:created xsi:type="dcterms:W3CDTF">2004-08-18T11:10:00Z</dcterms:created>
  <dcterms:modified xsi:type="dcterms:W3CDTF">2025-12-16T02:30:56Z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A6AD8C050D324A22B570242629D47472_13</vt:lpwstr>
  </property>
  <property fmtid="{D5CDD505-2E9C-101B-9397-08002B2CF9AE}" pid="3" name="KSOProductBuildVer">
    <vt:lpwstr>2052-12.1.0.24034</vt:lpwstr>
  </property>
</Properties>
</file>